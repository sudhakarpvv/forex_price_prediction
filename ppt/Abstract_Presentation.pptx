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70" r:id="rId2"/>
    <p:sldId id="271" r:id="rId3"/>
    <p:sldId id="273" r:id="rId4"/>
    <p:sldId id="256" r:id="rId5"/>
    <p:sldId id="272" r:id="rId6"/>
    <p:sldId id="278" r:id="rId7"/>
    <p:sldId id="279" r:id="rId8"/>
    <p:sldId id="277" r:id="rId9"/>
  </p:sldIdLst>
  <p:sldSz cx="12192000" cy="6858000"/>
  <p:notesSz cx="6858000" cy="9144000"/>
  <p:embeddedFontLst>
    <p:embeddedFont>
      <p:font typeface="Inter" panose="02000503000000020004" pitchFamily="2" charset="0"/>
      <p:regular r:id="rId11"/>
      <p:bold r:id="rId12"/>
      <p:italic r:id="rId13"/>
      <p:boldItalic r:id="rId14"/>
    </p:embeddedFont>
    <p:embeddedFont>
      <p:font typeface="Trebuchet MS" panose="020B0703020202090204" pitchFamily="34" charset="0"/>
      <p:regular r:id="rId15"/>
      <p:bold r:id="rId16"/>
      <p:italic r:id="rId17"/>
    </p:embeddedFont>
    <p:embeddedFont>
      <p:font typeface="Urbanist" panose="020B0A04040200000203" pitchFamily="34" charset="77"/>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3AE9"/>
    <a:srgbClr val="5E50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09"/>
    <p:restoredTop sz="94571"/>
  </p:normalViewPr>
  <p:slideViewPr>
    <p:cSldViewPr snapToGrid="0">
      <p:cViewPr varScale="1">
        <p:scale>
          <a:sx n="115" d="100"/>
          <a:sy n="115" d="100"/>
        </p:scale>
        <p:origin x="544"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9880A-42C2-435F-8AFE-9F69D604F17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78AFCB8-58F6-4AB2-8EDF-44FC34C16AAA}">
      <dgm:prSet custT="1"/>
      <dgm:spPr/>
      <dgm:t>
        <a:bodyPr/>
        <a:lstStyle/>
        <a:p>
          <a:pPr>
            <a:lnSpc>
              <a:spcPct val="100000"/>
            </a:lnSpc>
          </a:pPr>
          <a:r>
            <a:rPr lang="en-SG" sz="1400" dirty="0">
              <a:solidFill>
                <a:srgbClr val="7030A0"/>
              </a:solidFill>
              <a:latin typeface="Calibri" panose="020F0502020204030204" pitchFamily="34" charset="0"/>
              <a:ea typeface="Apple Symbols" panose="02000000000000000000" pitchFamily="2" charset="-79"/>
              <a:cs typeface="Calibri" panose="020F0502020204030204" pitchFamily="34" charset="0"/>
            </a:rPr>
            <a:t>Multi-Model Feature Fusion: </a:t>
          </a:r>
          <a:r>
            <a:rPr lang="en-SG" sz="1400" dirty="0">
              <a:latin typeface="Calibri" panose="020F0502020204030204" pitchFamily="34" charset="0"/>
              <a:ea typeface="Apple Symbols" panose="02000000000000000000" pitchFamily="2" charset="-79"/>
              <a:cs typeface="Calibri" panose="020F0502020204030204" pitchFamily="34" charset="0"/>
            </a:rPr>
            <a:t>Combines technical price indicators, macroeconomic context, and text sentiment scores into a single unified temporal vector.</a:t>
          </a:r>
          <a:endParaRPr lang="en-US" sz="1400" dirty="0">
            <a:latin typeface="Calibri" panose="020F0502020204030204" pitchFamily="34" charset="0"/>
            <a:ea typeface="Apple Symbols" panose="02000000000000000000" pitchFamily="2" charset="-79"/>
            <a:cs typeface="Calibri" panose="020F0502020204030204" pitchFamily="34" charset="0"/>
          </a:endParaRPr>
        </a:p>
      </dgm:t>
    </dgm:pt>
    <dgm:pt modelId="{4DCE67DC-2D72-42AF-AC5B-A18BA765405B}" type="parTrans" cxnId="{8A3F3384-8958-4D0B-9CC3-25069A990551}">
      <dgm:prSet/>
      <dgm:spPr/>
      <dgm:t>
        <a:bodyPr/>
        <a:lstStyle/>
        <a:p>
          <a:endParaRPr lang="en-US"/>
        </a:p>
      </dgm:t>
    </dgm:pt>
    <dgm:pt modelId="{42B851BC-B6C1-41B0-8188-65099B1FB861}" type="sibTrans" cxnId="{8A3F3384-8958-4D0B-9CC3-25069A990551}">
      <dgm:prSet/>
      <dgm:spPr/>
      <dgm:t>
        <a:bodyPr/>
        <a:lstStyle/>
        <a:p>
          <a:pPr>
            <a:lnSpc>
              <a:spcPct val="100000"/>
            </a:lnSpc>
          </a:pPr>
          <a:endParaRPr lang="en-US"/>
        </a:p>
      </dgm:t>
    </dgm:pt>
    <dgm:pt modelId="{09917CCF-8755-4DAB-8338-A792A35315C8}">
      <dgm:prSet custT="1"/>
      <dgm:spPr/>
      <dgm:t>
        <a:bodyPr/>
        <a:lstStyle/>
        <a:p>
          <a:pPr>
            <a:lnSpc>
              <a:spcPct val="100000"/>
            </a:lnSpc>
          </a:pPr>
          <a:r>
            <a:rPr lang="en-SG" sz="16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CNN Layer: </a:t>
          </a:r>
          <a:r>
            <a:rPr lang="en-SG" sz="16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Captures high-frequency spatial patterns and sudden local volatility shifts across the fused inputs</a:t>
          </a:r>
          <a:r>
            <a:rPr lang="en-SG" sz="1500" kern="1200" dirty="0">
              <a:latin typeface="Calibri" panose="020F0502020204030204" pitchFamily="34" charset="0"/>
              <a:cs typeface="Calibri" panose="020F0502020204030204" pitchFamily="34" charset="0"/>
            </a:rPr>
            <a:t>.</a:t>
          </a:r>
          <a:endParaRPr lang="en-US" sz="1500" kern="1200" dirty="0">
            <a:latin typeface="Calibri" panose="020F0502020204030204" pitchFamily="34" charset="0"/>
            <a:cs typeface="Calibri" panose="020F0502020204030204" pitchFamily="34" charset="0"/>
          </a:endParaRPr>
        </a:p>
      </dgm:t>
    </dgm:pt>
    <dgm:pt modelId="{F299F447-AC31-49A6-B71A-CF7E14ECF097}" type="parTrans" cxnId="{19B0BCBF-453D-41E4-9658-EF236A903630}">
      <dgm:prSet/>
      <dgm:spPr/>
      <dgm:t>
        <a:bodyPr/>
        <a:lstStyle/>
        <a:p>
          <a:endParaRPr lang="en-US"/>
        </a:p>
      </dgm:t>
    </dgm:pt>
    <dgm:pt modelId="{54902E2B-5B6B-4D00-84A8-5A58EEEE2398}" type="sibTrans" cxnId="{19B0BCBF-453D-41E4-9658-EF236A903630}">
      <dgm:prSet/>
      <dgm:spPr/>
      <dgm:t>
        <a:bodyPr/>
        <a:lstStyle/>
        <a:p>
          <a:pPr>
            <a:lnSpc>
              <a:spcPct val="100000"/>
            </a:lnSpc>
          </a:pPr>
          <a:endParaRPr lang="en-US"/>
        </a:p>
      </dgm:t>
    </dgm:pt>
    <dgm:pt modelId="{EEC32F93-6E27-476A-AACD-61E9FA387F7A}">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LSTM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Mitigates temporal sequence tracking challenges, keeping a persistent memory across changing step states.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gm:t>
    </dgm:pt>
    <dgm:pt modelId="{96F08C8E-20CB-4169-A5F4-12D2DD15CFFE}" type="parTrans" cxnId="{6400B3B0-F548-49F8-8984-9E71DF8518FD}">
      <dgm:prSet/>
      <dgm:spPr/>
      <dgm:t>
        <a:bodyPr/>
        <a:lstStyle/>
        <a:p>
          <a:endParaRPr lang="en-US"/>
        </a:p>
      </dgm:t>
    </dgm:pt>
    <dgm:pt modelId="{D267C452-8C9B-453F-AFB6-F78E4FC493BB}" type="sibTrans" cxnId="{6400B3B0-F548-49F8-8984-9E71DF8518FD}">
      <dgm:prSet/>
      <dgm:spPr/>
      <dgm:t>
        <a:bodyPr/>
        <a:lstStyle/>
        <a:p>
          <a:pPr>
            <a:lnSpc>
              <a:spcPct val="100000"/>
            </a:lnSpc>
          </a:pPr>
          <a:endParaRPr lang="en-US"/>
        </a:p>
      </dgm:t>
    </dgm:pt>
    <dgm:pt modelId="{506F747C-3263-496A-A109-8F2B9981206D}">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Transformer Block: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Applies self-attention mechanisms to understand long-range global market context, significantly cutting down on multi-step error propagation</a:t>
          </a:r>
          <a:r>
            <a:rPr lang="en-SG" sz="1400" kern="1200" dirty="0">
              <a:latin typeface="Calibri" panose="020F0502020204030204" pitchFamily="34" charset="0"/>
              <a:cs typeface="Calibri" panose="020F0502020204030204" pitchFamily="34" charset="0"/>
            </a:rPr>
            <a:t>.</a:t>
          </a:r>
          <a:endParaRPr lang="en-US" sz="1400" kern="1200" dirty="0">
            <a:latin typeface="Calibri" panose="020F0502020204030204" pitchFamily="34" charset="0"/>
            <a:cs typeface="Calibri" panose="020F0502020204030204" pitchFamily="34" charset="0"/>
          </a:endParaRPr>
        </a:p>
      </dgm:t>
    </dgm:pt>
    <dgm:pt modelId="{673F8554-3013-4CEA-91AE-EC5A986A0696}" type="parTrans" cxnId="{A7E3F541-DFBA-484C-A82A-D0B3463738AB}">
      <dgm:prSet/>
      <dgm:spPr/>
      <dgm:t>
        <a:bodyPr/>
        <a:lstStyle/>
        <a:p>
          <a:endParaRPr lang="en-US"/>
        </a:p>
      </dgm:t>
    </dgm:pt>
    <dgm:pt modelId="{5EAECC3D-BD02-47F4-A45F-FC2C89F9D56F}" type="sibTrans" cxnId="{A7E3F541-DFBA-484C-A82A-D0B3463738AB}">
      <dgm:prSet/>
      <dgm:spPr/>
      <dgm:t>
        <a:bodyPr/>
        <a:lstStyle/>
        <a:p>
          <a:pPr>
            <a:lnSpc>
              <a:spcPct val="100000"/>
            </a:lnSpc>
          </a:pPr>
          <a:endParaRPr lang="en-US"/>
        </a:p>
      </dgm:t>
    </dgm:pt>
    <dgm:pt modelId="{AB9E3F0C-8760-4671-979D-70530C789565}">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Regime-Aware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Stabilizes accuracy margins during black-swan or sudden macro-reversal events.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gm:t>
    </dgm:pt>
    <dgm:pt modelId="{0C16B3B6-3E7D-4000-B785-ECFFF74ABDE6}" type="parTrans" cxnId="{59BAFE2C-C94B-4514-8E52-18B47E091A68}">
      <dgm:prSet/>
      <dgm:spPr/>
      <dgm:t>
        <a:bodyPr/>
        <a:lstStyle/>
        <a:p>
          <a:endParaRPr lang="en-US"/>
        </a:p>
      </dgm:t>
    </dgm:pt>
    <dgm:pt modelId="{037D6BE3-FB3B-4931-A9CD-6D1C590474C9}" type="sibTrans" cxnId="{59BAFE2C-C94B-4514-8E52-18B47E091A68}">
      <dgm:prSet/>
      <dgm:spPr/>
      <dgm:t>
        <a:bodyPr/>
        <a:lstStyle/>
        <a:p>
          <a:endParaRPr lang="en-US"/>
        </a:p>
      </dgm:t>
    </dgm:pt>
    <dgm:pt modelId="{BD4B9DD0-FC1B-4F9A-955F-DBC0F2EDF886}" type="pres">
      <dgm:prSet presAssocID="{B9B9880A-42C2-435F-8AFE-9F69D604F170}" presName="root" presStyleCnt="0">
        <dgm:presLayoutVars>
          <dgm:dir/>
          <dgm:resizeHandles val="exact"/>
        </dgm:presLayoutVars>
      </dgm:prSet>
      <dgm:spPr/>
    </dgm:pt>
    <dgm:pt modelId="{6CE71091-97ED-4A26-8080-8266A4A696A1}" type="pres">
      <dgm:prSet presAssocID="{A78AFCB8-58F6-4AB2-8EDF-44FC34C16AAA}" presName="compNode" presStyleCnt="0"/>
      <dgm:spPr/>
    </dgm:pt>
    <dgm:pt modelId="{C1820A1D-22A4-4EA6-8C6D-2FA6308E9EA2}" type="pres">
      <dgm:prSet presAssocID="{A78AFCB8-58F6-4AB2-8EDF-44FC34C16AAA}" presName="bgRect" presStyleLbl="bgShp" presStyleIdx="0" presStyleCnt="5"/>
      <dgm:spPr/>
    </dgm:pt>
    <dgm:pt modelId="{BF1735FF-0383-4E87-A404-9FF1C2594905}" type="pres">
      <dgm:prSet presAssocID="{A78AFCB8-58F6-4AB2-8EDF-44FC34C16AA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Network Diagram"/>
        </a:ext>
      </dgm:extLst>
    </dgm:pt>
    <dgm:pt modelId="{4FEFFDE2-68B6-4CE0-BABD-5B26B916F474}" type="pres">
      <dgm:prSet presAssocID="{A78AFCB8-58F6-4AB2-8EDF-44FC34C16AAA}" presName="spaceRect" presStyleCnt="0"/>
      <dgm:spPr/>
    </dgm:pt>
    <dgm:pt modelId="{6909B22A-A95D-4D8C-A02E-0E79841FD410}" type="pres">
      <dgm:prSet presAssocID="{A78AFCB8-58F6-4AB2-8EDF-44FC34C16AAA}" presName="parTx" presStyleLbl="revTx" presStyleIdx="0" presStyleCnt="5">
        <dgm:presLayoutVars>
          <dgm:chMax val="0"/>
          <dgm:chPref val="0"/>
        </dgm:presLayoutVars>
      </dgm:prSet>
      <dgm:spPr/>
    </dgm:pt>
    <dgm:pt modelId="{187A4665-25FD-4742-8770-F05F3FE0FEC6}" type="pres">
      <dgm:prSet presAssocID="{42B851BC-B6C1-41B0-8188-65099B1FB861}" presName="sibTrans" presStyleCnt="0"/>
      <dgm:spPr/>
    </dgm:pt>
    <dgm:pt modelId="{C2DABDCC-B6D5-4373-B23E-9EDBD3726556}" type="pres">
      <dgm:prSet presAssocID="{09917CCF-8755-4DAB-8338-A792A35315C8}" presName="compNode" presStyleCnt="0"/>
      <dgm:spPr/>
    </dgm:pt>
    <dgm:pt modelId="{4F151E52-0B38-4A38-AF10-FB0A2D914E2B}" type="pres">
      <dgm:prSet presAssocID="{09917CCF-8755-4DAB-8338-A792A35315C8}" presName="bgRect" presStyleLbl="bgShp" presStyleIdx="1" presStyleCnt="5"/>
      <dgm:spPr/>
    </dgm:pt>
    <dgm:pt modelId="{89EDF4BA-90F7-4F9B-B8E0-DD622F96AB52}" type="pres">
      <dgm:prSet presAssocID="{09917CCF-8755-4DAB-8338-A792A35315C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a:ext>
      </dgm:extLst>
    </dgm:pt>
    <dgm:pt modelId="{0A2493FB-DF2D-44B1-A62E-3F3E10D234E1}" type="pres">
      <dgm:prSet presAssocID="{09917CCF-8755-4DAB-8338-A792A35315C8}" presName="spaceRect" presStyleCnt="0"/>
      <dgm:spPr/>
    </dgm:pt>
    <dgm:pt modelId="{68179FB2-9EBE-43DA-A5AE-E438796137D1}" type="pres">
      <dgm:prSet presAssocID="{09917CCF-8755-4DAB-8338-A792A35315C8}" presName="parTx" presStyleLbl="revTx" presStyleIdx="1" presStyleCnt="5">
        <dgm:presLayoutVars>
          <dgm:chMax val="0"/>
          <dgm:chPref val="0"/>
        </dgm:presLayoutVars>
      </dgm:prSet>
      <dgm:spPr/>
    </dgm:pt>
    <dgm:pt modelId="{B110901F-2D97-482A-8CCD-AF63A85233AA}" type="pres">
      <dgm:prSet presAssocID="{54902E2B-5B6B-4D00-84A8-5A58EEEE2398}" presName="sibTrans" presStyleCnt="0"/>
      <dgm:spPr/>
    </dgm:pt>
    <dgm:pt modelId="{4C25305A-8DC1-43B9-ABCE-894CAAA49F0F}" type="pres">
      <dgm:prSet presAssocID="{EEC32F93-6E27-476A-AACD-61E9FA387F7A}" presName="compNode" presStyleCnt="0"/>
      <dgm:spPr/>
    </dgm:pt>
    <dgm:pt modelId="{AC1D9F85-AF4F-47B9-8757-0FA06007A324}" type="pres">
      <dgm:prSet presAssocID="{EEC32F93-6E27-476A-AACD-61E9FA387F7A}" presName="bgRect" presStyleLbl="bgShp" presStyleIdx="2" presStyleCnt="5"/>
      <dgm:spPr/>
    </dgm:pt>
    <dgm:pt modelId="{CBFF576B-8F0C-4B9E-BEDA-067486871E47}" type="pres">
      <dgm:prSet presAssocID="{EEC32F93-6E27-476A-AACD-61E9FA387F7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isconnected"/>
        </a:ext>
      </dgm:extLst>
    </dgm:pt>
    <dgm:pt modelId="{7D71F74C-EE89-4490-8B7A-058CDDE0EDD8}" type="pres">
      <dgm:prSet presAssocID="{EEC32F93-6E27-476A-AACD-61E9FA387F7A}" presName="spaceRect" presStyleCnt="0"/>
      <dgm:spPr/>
    </dgm:pt>
    <dgm:pt modelId="{83B36830-1C38-48DC-99DB-2EFF03CF5EC6}" type="pres">
      <dgm:prSet presAssocID="{EEC32F93-6E27-476A-AACD-61E9FA387F7A}" presName="parTx" presStyleLbl="revTx" presStyleIdx="2" presStyleCnt="5">
        <dgm:presLayoutVars>
          <dgm:chMax val="0"/>
          <dgm:chPref val="0"/>
        </dgm:presLayoutVars>
      </dgm:prSet>
      <dgm:spPr/>
    </dgm:pt>
    <dgm:pt modelId="{CA597482-CF9B-4A2A-9041-0551CA8B5EF5}" type="pres">
      <dgm:prSet presAssocID="{D267C452-8C9B-453F-AFB6-F78E4FC493BB}" presName="sibTrans" presStyleCnt="0"/>
      <dgm:spPr/>
    </dgm:pt>
    <dgm:pt modelId="{F100CE2E-EBFE-483E-92BB-BB56CA866056}" type="pres">
      <dgm:prSet presAssocID="{506F747C-3263-496A-A109-8F2B9981206D}" presName="compNode" presStyleCnt="0"/>
      <dgm:spPr/>
    </dgm:pt>
    <dgm:pt modelId="{A3566696-41CC-487A-BAD1-AF5599FAD316}" type="pres">
      <dgm:prSet presAssocID="{506F747C-3263-496A-A109-8F2B9981206D}" presName="bgRect" presStyleLbl="bgShp" presStyleIdx="3" presStyleCnt="5"/>
      <dgm:spPr/>
    </dgm:pt>
    <dgm:pt modelId="{453C4D26-A036-4BA6-81CA-8B4E9AB11D5F}" type="pres">
      <dgm:prSet presAssocID="{506F747C-3263-496A-A109-8F2B9981206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ocket knife"/>
        </a:ext>
      </dgm:extLst>
    </dgm:pt>
    <dgm:pt modelId="{9B3F6CD6-46D5-4DB8-9EE9-C2582B96B1BC}" type="pres">
      <dgm:prSet presAssocID="{506F747C-3263-496A-A109-8F2B9981206D}" presName="spaceRect" presStyleCnt="0"/>
      <dgm:spPr/>
    </dgm:pt>
    <dgm:pt modelId="{D0DE2F49-2B4A-429F-9F6A-0D171E2023B1}" type="pres">
      <dgm:prSet presAssocID="{506F747C-3263-496A-A109-8F2B9981206D}" presName="parTx" presStyleLbl="revTx" presStyleIdx="3" presStyleCnt="5">
        <dgm:presLayoutVars>
          <dgm:chMax val="0"/>
          <dgm:chPref val="0"/>
        </dgm:presLayoutVars>
      </dgm:prSet>
      <dgm:spPr/>
    </dgm:pt>
    <dgm:pt modelId="{852C7A25-1857-4E0D-9309-F23C0F5EE4A9}" type="pres">
      <dgm:prSet presAssocID="{5EAECC3D-BD02-47F4-A45F-FC2C89F9D56F}" presName="sibTrans" presStyleCnt="0"/>
      <dgm:spPr/>
    </dgm:pt>
    <dgm:pt modelId="{E86AF042-F935-4AFC-9007-FB9EFF93E787}" type="pres">
      <dgm:prSet presAssocID="{AB9E3F0C-8760-4671-979D-70530C789565}" presName="compNode" presStyleCnt="0"/>
      <dgm:spPr/>
    </dgm:pt>
    <dgm:pt modelId="{5B503393-C86A-4FD1-A0D6-BFABE703ED79}" type="pres">
      <dgm:prSet presAssocID="{AB9E3F0C-8760-4671-979D-70530C789565}" presName="bgRect" presStyleLbl="bgShp" presStyleIdx="4" presStyleCnt="5"/>
      <dgm:spPr/>
    </dgm:pt>
    <dgm:pt modelId="{4B8DDBEB-48E0-4A1B-B915-CF43C6F79F25}" type="pres">
      <dgm:prSet presAssocID="{AB9E3F0C-8760-4671-979D-70530C78956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peed Bump"/>
        </a:ext>
      </dgm:extLst>
    </dgm:pt>
    <dgm:pt modelId="{B48B06E0-7E21-40CA-A233-99B4BA102EF9}" type="pres">
      <dgm:prSet presAssocID="{AB9E3F0C-8760-4671-979D-70530C789565}" presName="spaceRect" presStyleCnt="0"/>
      <dgm:spPr/>
    </dgm:pt>
    <dgm:pt modelId="{66DCD460-C19B-4473-AA55-E8D84B4B5B2E}" type="pres">
      <dgm:prSet presAssocID="{AB9E3F0C-8760-4671-979D-70530C789565}" presName="parTx" presStyleLbl="revTx" presStyleIdx="4" presStyleCnt="5">
        <dgm:presLayoutVars>
          <dgm:chMax val="0"/>
          <dgm:chPref val="0"/>
        </dgm:presLayoutVars>
      </dgm:prSet>
      <dgm:spPr/>
    </dgm:pt>
  </dgm:ptLst>
  <dgm:cxnLst>
    <dgm:cxn modelId="{59BAFE2C-C94B-4514-8E52-18B47E091A68}" srcId="{B9B9880A-42C2-435F-8AFE-9F69D604F170}" destId="{AB9E3F0C-8760-4671-979D-70530C789565}" srcOrd="4" destOrd="0" parTransId="{0C16B3B6-3E7D-4000-B785-ECFFF74ABDE6}" sibTransId="{037D6BE3-FB3B-4931-A9CD-6D1C590474C9}"/>
    <dgm:cxn modelId="{D3DBA33F-260E-1640-99BD-6E7A5EF1C25E}" type="presOf" srcId="{AB9E3F0C-8760-4671-979D-70530C789565}" destId="{66DCD460-C19B-4473-AA55-E8D84B4B5B2E}" srcOrd="0" destOrd="0" presId="urn:microsoft.com/office/officeart/2018/2/layout/IconVerticalSolidList"/>
    <dgm:cxn modelId="{A7E3F541-DFBA-484C-A82A-D0B3463738AB}" srcId="{B9B9880A-42C2-435F-8AFE-9F69D604F170}" destId="{506F747C-3263-496A-A109-8F2B9981206D}" srcOrd="3" destOrd="0" parTransId="{673F8554-3013-4CEA-91AE-EC5A986A0696}" sibTransId="{5EAECC3D-BD02-47F4-A45F-FC2C89F9D56F}"/>
    <dgm:cxn modelId="{08DCB581-516B-7743-BFC6-08EE1B88E03F}" type="presOf" srcId="{506F747C-3263-496A-A109-8F2B9981206D}" destId="{D0DE2F49-2B4A-429F-9F6A-0D171E2023B1}" srcOrd="0" destOrd="0" presId="urn:microsoft.com/office/officeart/2018/2/layout/IconVerticalSolidList"/>
    <dgm:cxn modelId="{8A3F3384-8958-4D0B-9CC3-25069A990551}" srcId="{B9B9880A-42C2-435F-8AFE-9F69D604F170}" destId="{A78AFCB8-58F6-4AB2-8EDF-44FC34C16AAA}" srcOrd="0" destOrd="0" parTransId="{4DCE67DC-2D72-42AF-AC5B-A18BA765405B}" sibTransId="{42B851BC-B6C1-41B0-8188-65099B1FB861}"/>
    <dgm:cxn modelId="{6400B3B0-F548-49F8-8984-9E71DF8518FD}" srcId="{B9B9880A-42C2-435F-8AFE-9F69D604F170}" destId="{EEC32F93-6E27-476A-AACD-61E9FA387F7A}" srcOrd="2" destOrd="0" parTransId="{96F08C8E-20CB-4169-A5F4-12D2DD15CFFE}" sibTransId="{D267C452-8C9B-453F-AFB6-F78E4FC493BB}"/>
    <dgm:cxn modelId="{9F0EDCB8-87CB-064A-A223-0B5546A2F6A8}" type="presOf" srcId="{A78AFCB8-58F6-4AB2-8EDF-44FC34C16AAA}" destId="{6909B22A-A95D-4D8C-A02E-0E79841FD410}" srcOrd="0" destOrd="0" presId="urn:microsoft.com/office/officeart/2018/2/layout/IconVerticalSolidList"/>
    <dgm:cxn modelId="{19B0BCBF-453D-41E4-9658-EF236A903630}" srcId="{B9B9880A-42C2-435F-8AFE-9F69D604F170}" destId="{09917CCF-8755-4DAB-8338-A792A35315C8}" srcOrd="1" destOrd="0" parTransId="{F299F447-AC31-49A6-B71A-CF7E14ECF097}" sibTransId="{54902E2B-5B6B-4D00-84A8-5A58EEEE2398}"/>
    <dgm:cxn modelId="{B7EFC1C8-1656-5A4A-960C-A21DBEADA69F}" type="presOf" srcId="{B9B9880A-42C2-435F-8AFE-9F69D604F170}" destId="{BD4B9DD0-FC1B-4F9A-955F-DBC0F2EDF886}" srcOrd="0" destOrd="0" presId="urn:microsoft.com/office/officeart/2018/2/layout/IconVerticalSolidList"/>
    <dgm:cxn modelId="{EB2A5CCB-8098-8248-9A97-6FA526D7EDD4}" type="presOf" srcId="{09917CCF-8755-4DAB-8338-A792A35315C8}" destId="{68179FB2-9EBE-43DA-A5AE-E438796137D1}" srcOrd="0" destOrd="0" presId="urn:microsoft.com/office/officeart/2018/2/layout/IconVerticalSolidList"/>
    <dgm:cxn modelId="{AFB97DD5-830F-2842-8AE5-F295A6914789}" type="presOf" srcId="{EEC32F93-6E27-476A-AACD-61E9FA387F7A}" destId="{83B36830-1C38-48DC-99DB-2EFF03CF5EC6}" srcOrd="0" destOrd="0" presId="urn:microsoft.com/office/officeart/2018/2/layout/IconVerticalSolidList"/>
    <dgm:cxn modelId="{28799B09-3E13-7949-97BF-A4991BD8BA44}" type="presParOf" srcId="{BD4B9DD0-FC1B-4F9A-955F-DBC0F2EDF886}" destId="{6CE71091-97ED-4A26-8080-8266A4A696A1}" srcOrd="0" destOrd="0" presId="urn:microsoft.com/office/officeart/2018/2/layout/IconVerticalSolidList"/>
    <dgm:cxn modelId="{5E0A0D22-AB94-8248-925C-1E7A37DC95FC}" type="presParOf" srcId="{6CE71091-97ED-4A26-8080-8266A4A696A1}" destId="{C1820A1D-22A4-4EA6-8C6D-2FA6308E9EA2}" srcOrd="0" destOrd="0" presId="urn:microsoft.com/office/officeart/2018/2/layout/IconVerticalSolidList"/>
    <dgm:cxn modelId="{332C76EB-A9AB-EE47-A256-3372263AAB3D}" type="presParOf" srcId="{6CE71091-97ED-4A26-8080-8266A4A696A1}" destId="{BF1735FF-0383-4E87-A404-9FF1C2594905}" srcOrd="1" destOrd="0" presId="urn:microsoft.com/office/officeart/2018/2/layout/IconVerticalSolidList"/>
    <dgm:cxn modelId="{25DBC16F-D2E1-E940-AE29-64C52CD35F4B}" type="presParOf" srcId="{6CE71091-97ED-4A26-8080-8266A4A696A1}" destId="{4FEFFDE2-68B6-4CE0-BABD-5B26B916F474}" srcOrd="2" destOrd="0" presId="urn:microsoft.com/office/officeart/2018/2/layout/IconVerticalSolidList"/>
    <dgm:cxn modelId="{2991988D-9147-B944-8E7B-26757255D2E1}" type="presParOf" srcId="{6CE71091-97ED-4A26-8080-8266A4A696A1}" destId="{6909B22A-A95D-4D8C-A02E-0E79841FD410}" srcOrd="3" destOrd="0" presId="urn:microsoft.com/office/officeart/2018/2/layout/IconVerticalSolidList"/>
    <dgm:cxn modelId="{C35B9C20-2F41-BE4B-8AAC-FDB381F5CE11}" type="presParOf" srcId="{BD4B9DD0-FC1B-4F9A-955F-DBC0F2EDF886}" destId="{187A4665-25FD-4742-8770-F05F3FE0FEC6}" srcOrd="1" destOrd="0" presId="urn:microsoft.com/office/officeart/2018/2/layout/IconVerticalSolidList"/>
    <dgm:cxn modelId="{508CBB33-9CB2-5640-9CE8-CFE7454069DA}" type="presParOf" srcId="{BD4B9DD0-FC1B-4F9A-955F-DBC0F2EDF886}" destId="{C2DABDCC-B6D5-4373-B23E-9EDBD3726556}" srcOrd="2" destOrd="0" presId="urn:microsoft.com/office/officeart/2018/2/layout/IconVerticalSolidList"/>
    <dgm:cxn modelId="{37A74CD0-BB11-9942-BFE1-4242FF6432B7}" type="presParOf" srcId="{C2DABDCC-B6D5-4373-B23E-9EDBD3726556}" destId="{4F151E52-0B38-4A38-AF10-FB0A2D914E2B}" srcOrd="0" destOrd="0" presId="urn:microsoft.com/office/officeart/2018/2/layout/IconVerticalSolidList"/>
    <dgm:cxn modelId="{4C7DF19C-44C4-BC4A-A2E0-6072F0E9B99D}" type="presParOf" srcId="{C2DABDCC-B6D5-4373-B23E-9EDBD3726556}" destId="{89EDF4BA-90F7-4F9B-B8E0-DD622F96AB52}" srcOrd="1" destOrd="0" presId="urn:microsoft.com/office/officeart/2018/2/layout/IconVerticalSolidList"/>
    <dgm:cxn modelId="{96A76C84-BEBB-5F4D-B7DC-CBE4B963A85F}" type="presParOf" srcId="{C2DABDCC-B6D5-4373-B23E-9EDBD3726556}" destId="{0A2493FB-DF2D-44B1-A62E-3F3E10D234E1}" srcOrd="2" destOrd="0" presId="urn:microsoft.com/office/officeart/2018/2/layout/IconVerticalSolidList"/>
    <dgm:cxn modelId="{7224ABED-87F9-F943-8542-862ED6FE435B}" type="presParOf" srcId="{C2DABDCC-B6D5-4373-B23E-9EDBD3726556}" destId="{68179FB2-9EBE-43DA-A5AE-E438796137D1}" srcOrd="3" destOrd="0" presId="urn:microsoft.com/office/officeart/2018/2/layout/IconVerticalSolidList"/>
    <dgm:cxn modelId="{50C179B5-C65F-6741-9805-06F7890E69C8}" type="presParOf" srcId="{BD4B9DD0-FC1B-4F9A-955F-DBC0F2EDF886}" destId="{B110901F-2D97-482A-8CCD-AF63A85233AA}" srcOrd="3" destOrd="0" presId="urn:microsoft.com/office/officeart/2018/2/layout/IconVerticalSolidList"/>
    <dgm:cxn modelId="{043B4C73-0A16-1043-B1BB-709388DFEC2D}" type="presParOf" srcId="{BD4B9DD0-FC1B-4F9A-955F-DBC0F2EDF886}" destId="{4C25305A-8DC1-43B9-ABCE-894CAAA49F0F}" srcOrd="4" destOrd="0" presId="urn:microsoft.com/office/officeart/2018/2/layout/IconVerticalSolidList"/>
    <dgm:cxn modelId="{F0978871-A954-444E-BC66-9DDB821FA7E6}" type="presParOf" srcId="{4C25305A-8DC1-43B9-ABCE-894CAAA49F0F}" destId="{AC1D9F85-AF4F-47B9-8757-0FA06007A324}" srcOrd="0" destOrd="0" presId="urn:microsoft.com/office/officeart/2018/2/layout/IconVerticalSolidList"/>
    <dgm:cxn modelId="{14DF01D8-32F2-1744-9336-4F731F888CF5}" type="presParOf" srcId="{4C25305A-8DC1-43B9-ABCE-894CAAA49F0F}" destId="{CBFF576B-8F0C-4B9E-BEDA-067486871E47}" srcOrd="1" destOrd="0" presId="urn:microsoft.com/office/officeart/2018/2/layout/IconVerticalSolidList"/>
    <dgm:cxn modelId="{DF669F5B-230F-7349-8958-8427BE5B7668}" type="presParOf" srcId="{4C25305A-8DC1-43B9-ABCE-894CAAA49F0F}" destId="{7D71F74C-EE89-4490-8B7A-058CDDE0EDD8}" srcOrd="2" destOrd="0" presId="urn:microsoft.com/office/officeart/2018/2/layout/IconVerticalSolidList"/>
    <dgm:cxn modelId="{8DEFA412-7F29-A148-BF8E-5BBA64088A94}" type="presParOf" srcId="{4C25305A-8DC1-43B9-ABCE-894CAAA49F0F}" destId="{83B36830-1C38-48DC-99DB-2EFF03CF5EC6}" srcOrd="3" destOrd="0" presId="urn:microsoft.com/office/officeart/2018/2/layout/IconVerticalSolidList"/>
    <dgm:cxn modelId="{102E0F30-60A6-804E-8A5B-815E8F324065}" type="presParOf" srcId="{BD4B9DD0-FC1B-4F9A-955F-DBC0F2EDF886}" destId="{CA597482-CF9B-4A2A-9041-0551CA8B5EF5}" srcOrd="5" destOrd="0" presId="urn:microsoft.com/office/officeart/2018/2/layout/IconVerticalSolidList"/>
    <dgm:cxn modelId="{593C4B10-8C1D-FF4D-BB4E-FC48A2FA89CC}" type="presParOf" srcId="{BD4B9DD0-FC1B-4F9A-955F-DBC0F2EDF886}" destId="{F100CE2E-EBFE-483E-92BB-BB56CA866056}" srcOrd="6" destOrd="0" presId="urn:microsoft.com/office/officeart/2018/2/layout/IconVerticalSolidList"/>
    <dgm:cxn modelId="{EAA30D1B-CBAF-B843-8B60-F53FA1D6F43A}" type="presParOf" srcId="{F100CE2E-EBFE-483E-92BB-BB56CA866056}" destId="{A3566696-41CC-487A-BAD1-AF5599FAD316}" srcOrd="0" destOrd="0" presId="urn:microsoft.com/office/officeart/2018/2/layout/IconVerticalSolidList"/>
    <dgm:cxn modelId="{5843E6C2-2296-DA44-B47F-A0C73448423C}" type="presParOf" srcId="{F100CE2E-EBFE-483E-92BB-BB56CA866056}" destId="{453C4D26-A036-4BA6-81CA-8B4E9AB11D5F}" srcOrd="1" destOrd="0" presId="urn:microsoft.com/office/officeart/2018/2/layout/IconVerticalSolidList"/>
    <dgm:cxn modelId="{60ADC194-1D83-744C-9444-42F7917D07EE}" type="presParOf" srcId="{F100CE2E-EBFE-483E-92BB-BB56CA866056}" destId="{9B3F6CD6-46D5-4DB8-9EE9-C2582B96B1BC}" srcOrd="2" destOrd="0" presId="urn:microsoft.com/office/officeart/2018/2/layout/IconVerticalSolidList"/>
    <dgm:cxn modelId="{934DA457-12AC-694C-8AF3-0FBBF3ADEB46}" type="presParOf" srcId="{F100CE2E-EBFE-483E-92BB-BB56CA866056}" destId="{D0DE2F49-2B4A-429F-9F6A-0D171E2023B1}" srcOrd="3" destOrd="0" presId="urn:microsoft.com/office/officeart/2018/2/layout/IconVerticalSolidList"/>
    <dgm:cxn modelId="{C878A561-1A98-C646-9478-9D1ACFFBC5CF}" type="presParOf" srcId="{BD4B9DD0-FC1B-4F9A-955F-DBC0F2EDF886}" destId="{852C7A25-1857-4E0D-9309-F23C0F5EE4A9}" srcOrd="7" destOrd="0" presId="urn:microsoft.com/office/officeart/2018/2/layout/IconVerticalSolidList"/>
    <dgm:cxn modelId="{E4D0F370-B64D-F441-8C24-3266A3CB67BE}" type="presParOf" srcId="{BD4B9DD0-FC1B-4F9A-955F-DBC0F2EDF886}" destId="{E86AF042-F935-4AFC-9007-FB9EFF93E787}" srcOrd="8" destOrd="0" presId="urn:microsoft.com/office/officeart/2018/2/layout/IconVerticalSolidList"/>
    <dgm:cxn modelId="{E1FA25E0-9DE9-B249-AE3C-706D909469F4}" type="presParOf" srcId="{E86AF042-F935-4AFC-9007-FB9EFF93E787}" destId="{5B503393-C86A-4FD1-A0D6-BFABE703ED79}" srcOrd="0" destOrd="0" presId="urn:microsoft.com/office/officeart/2018/2/layout/IconVerticalSolidList"/>
    <dgm:cxn modelId="{1D433D30-B460-9F45-A01B-960DCFD67D61}" type="presParOf" srcId="{E86AF042-F935-4AFC-9007-FB9EFF93E787}" destId="{4B8DDBEB-48E0-4A1B-B915-CF43C6F79F25}" srcOrd="1" destOrd="0" presId="urn:microsoft.com/office/officeart/2018/2/layout/IconVerticalSolidList"/>
    <dgm:cxn modelId="{34E77490-8401-6747-A0A7-9ACA58ECC6C1}" type="presParOf" srcId="{E86AF042-F935-4AFC-9007-FB9EFF93E787}" destId="{B48B06E0-7E21-40CA-A233-99B4BA102EF9}" srcOrd="2" destOrd="0" presId="urn:microsoft.com/office/officeart/2018/2/layout/IconVerticalSolidList"/>
    <dgm:cxn modelId="{E30468D9-47C7-DE41-8F1B-497774FEC519}" type="presParOf" srcId="{E86AF042-F935-4AFC-9007-FB9EFF93E787}" destId="{66DCD460-C19B-4473-AA55-E8D84B4B5B2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20A1D-22A4-4EA6-8C6D-2FA6308E9EA2}">
      <dsp:nvSpPr>
        <dsp:cNvPr id="0" name=""/>
        <dsp:cNvSpPr/>
      </dsp:nvSpPr>
      <dsp:spPr>
        <a:xfrm>
          <a:off x="0" y="4102"/>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1735FF-0383-4E87-A404-9FF1C2594905}">
      <dsp:nvSpPr>
        <dsp:cNvPr id="0" name=""/>
        <dsp:cNvSpPr/>
      </dsp:nvSpPr>
      <dsp:spPr>
        <a:xfrm>
          <a:off x="264325" y="200708"/>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09B22A-A95D-4D8C-A02E-0E79841FD410}">
      <dsp:nvSpPr>
        <dsp:cNvPr id="0" name=""/>
        <dsp:cNvSpPr/>
      </dsp:nvSpPr>
      <dsp:spPr>
        <a:xfrm>
          <a:off x="1009242" y="4102"/>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Multi-Model Feature Fusion: </a:t>
          </a:r>
          <a:r>
            <a:rPr lang="en-SG" sz="1400" kern="1200" dirty="0">
              <a:latin typeface="Calibri" panose="020F0502020204030204" pitchFamily="34" charset="0"/>
              <a:ea typeface="Apple Symbols" panose="02000000000000000000" pitchFamily="2" charset="-79"/>
              <a:cs typeface="Calibri" panose="020F0502020204030204" pitchFamily="34" charset="0"/>
            </a:rPr>
            <a:t>Combines technical price indicators, macroeconomic context, and text sentiment scores into a single unified temporal vector.</a:t>
          </a:r>
          <a:endParaRPr lang="en-US" sz="1400" kern="1200" dirty="0">
            <a:latin typeface="Calibri" panose="020F0502020204030204" pitchFamily="34" charset="0"/>
            <a:ea typeface="Apple Symbols" panose="02000000000000000000" pitchFamily="2" charset="-79"/>
            <a:cs typeface="Calibri" panose="020F0502020204030204" pitchFamily="34" charset="0"/>
          </a:endParaRPr>
        </a:p>
      </dsp:txBody>
      <dsp:txXfrm>
        <a:off x="1009242" y="4102"/>
        <a:ext cx="5277477" cy="873802"/>
      </dsp:txXfrm>
    </dsp:sp>
    <dsp:sp modelId="{4F151E52-0B38-4A38-AF10-FB0A2D914E2B}">
      <dsp:nvSpPr>
        <dsp:cNvPr id="0" name=""/>
        <dsp:cNvSpPr/>
      </dsp:nvSpPr>
      <dsp:spPr>
        <a:xfrm>
          <a:off x="0" y="1096355"/>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EDF4BA-90F7-4F9B-B8E0-DD622F96AB52}">
      <dsp:nvSpPr>
        <dsp:cNvPr id="0" name=""/>
        <dsp:cNvSpPr/>
      </dsp:nvSpPr>
      <dsp:spPr>
        <a:xfrm>
          <a:off x="264325" y="1292961"/>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179FB2-9EBE-43DA-A5AE-E438796137D1}">
      <dsp:nvSpPr>
        <dsp:cNvPr id="0" name=""/>
        <dsp:cNvSpPr/>
      </dsp:nvSpPr>
      <dsp:spPr>
        <a:xfrm>
          <a:off x="1009242" y="1096355"/>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711200">
            <a:lnSpc>
              <a:spcPct val="100000"/>
            </a:lnSpc>
            <a:spcBef>
              <a:spcPct val="0"/>
            </a:spcBef>
            <a:spcAft>
              <a:spcPct val="35000"/>
            </a:spcAft>
            <a:buNone/>
          </a:pPr>
          <a:r>
            <a:rPr lang="en-SG" sz="16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CNN Layer: </a:t>
          </a:r>
          <a:r>
            <a:rPr lang="en-SG" sz="16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Captures high-frequency spatial patterns and sudden local volatility shifts across the fused inputs</a:t>
          </a:r>
          <a:r>
            <a:rPr lang="en-SG" sz="1500" kern="1200" dirty="0">
              <a:latin typeface="Calibri" panose="020F0502020204030204" pitchFamily="34" charset="0"/>
              <a:cs typeface="Calibri" panose="020F0502020204030204" pitchFamily="34" charset="0"/>
            </a:rPr>
            <a:t>.</a:t>
          </a:r>
          <a:endParaRPr lang="en-US" sz="1500" kern="1200" dirty="0">
            <a:latin typeface="Calibri" panose="020F0502020204030204" pitchFamily="34" charset="0"/>
            <a:cs typeface="Calibri" panose="020F0502020204030204" pitchFamily="34" charset="0"/>
          </a:endParaRPr>
        </a:p>
      </dsp:txBody>
      <dsp:txXfrm>
        <a:off x="1009242" y="1096355"/>
        <a:ext cx="5277477" cy="873802"/>
      </dsp:txXfrm>
    </dsp:sp>
    <dsp:sp modelId="{AC1D9F85-AF4F-47B9-8757-0FA06007A324}">
      <dsp:nvSpPr>
        <dsp:cNvPr id="0" name=""/>
        <dsp:cNvSpPr/>
      </dsp:nvSpPr>
      <dsp:spPr>
        <a:xfrm>
          <a:off x="0" y="2188609"/>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F576B-8F0C-4B9E-BEDA-067486871E47}">
      <dsp:nvSpPr>
        <dsp:cNvPr id="0" name=""/>
        <dsp:cNvSpPr/>
      </dsp:nvSpPr>
      <dsp:spPr>
        <a:xfrm>
          <a:off x="264325" y="2385215"/>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B36830-1C38-48DC-99DB-2EFF03CF5EC6}">
      <dsp:nvSpPr>
        <dsp:cNvPr id="0" name=""/>
        <dsp:cNvSpPr/>
      </dsp:nvSpPr>
      <dsp:spPr>
        <a:xfrm>
          <a:off x="1009242" y="2188609"/>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LSTM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Mitigates temporal sequence tracking challenges, keeping a persistent memory across changing step states.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sp:txBody>
      <dsp:txXfrm>
        <a:off x="1009242" y="2188609"/>
        <a:ext cx="5277477" cy="873802"/>
      </dsp:txXfrm>
    </dsp:sp>
    <dsp:sp modelId="{A3566696-41CC-487A-BAD1-AF5599FAD316}">
      <dsp:nvSpPr>
        <dsp:cNvPr id="0" name=""/>
        <dsp:cNvSpPr/>
      </dsp:nvSpPr>
      <dsp:spPr>
        <a:xfrm>
          <a:off x="0" y="3280863"/>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C4D26-A036-4BA6-81CA-8B4E9AB11D5F}">
      <dsp:nvSpPr>
        <dsp:cNvPr id="0" name=""/>
        <dsp:cNvSpPr/>
      </dsp:nvSpPr>
      <dsp:spPr>
        <a:xfrm>
          <a:off x="264325" y="3477468"/>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DE2F49-2B4A-429F-9F6A-0D171E2023B1}">
      <dsp:nvSpPr>
        <dsp:cNvPr id="0" name=""/>
        <dsp:cNvSpPr/>
      </dsp:nvSpPr>
      <dsp:spPr>
        <a:xfrm>
          <a:off x="1009242" y="3280863"/>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Transformer Block: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Applies self-attention mechanisms to understand long-range global market context, significantly cutting down on multi-step error propagation</a:t>
          </a:r>
          <a:r>
            <a:rPr lang="en-SG" sz="1400" kern="1200" dirty="0">
              <a:latin typeface="Calibri" panose="020F0502020204030204" pitchFamily="34" charset="0"/>
              <a:cs typeface="Calibri" panose="020F0502020204030204" pitchFamily="34" charset="0"/>
            </a:rPr>
            <a:t>.</a:t>
          </a:r>
          <a:endParaRPr lang="en-US" sz="1400" kern="1200" dirty="0">
            <a:latin typeface="Calibri" panose="020F0502020204030204" pitchFamily="34" charset="0"/>
            <a:cs typeface="Calibri" panose="020F0502020204030204" pitchFamily="34" charset="0"/>
          </a:endParaRPr>
        </a:p>
      </dsp:txBody>
      <dsp:txXfrm>
        <a:off x="1009242" y="3280863"/>
        <a:ext cx="5277477" cy="873802"/>
      </dsp:txXfrm>
    </dsp:sp>
    <dsp:sp modelId="{5B503393-C86A-4FD1-A0D6-BFABE703ED79}">
      <dsp:nvSpPr>
        <dsp:cNvPr id="0" name=""/>
        <dsp:cNvSpPr/>
      </dsp:nvSpPr>
      <dsp:spPr>
        <a:xfrm>
          <a:off x="0" y="4373116"/>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8DDBEB-48E0-4A1B-B915-CF43C6F79F25}">
      <dsp:nvSpPr>
        <dsp:cNvPr id="0" name=""/>
        <dsp:cNvSpPr/>
      </dsp:nvSpPr>
      <dsp:spPr>
        <a:xfrm>
          <a:off x="264325" y="4569722"/>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DCD460-C19B-4473-AA55-E8D84B4B5B2E}">
      <dsp:nvSpPr>
        <dsp:cNvPr id="0" name=""/>
        <dsp:cNvSpPr/>
      </dsp:nvSpPr>
      <dsp:spPr>
        <a:xfrm>
          <a:off x="1009242" y="4373116"/>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Regime-Aware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Stabilizes accuracy margins during black-swan or sudden macro-reversal events.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sp:txBody>
      <dsp:txXfrm>
        <a:off x="1009242" y="4373116"/>
        <a:ext cx="5277477" cy="8738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bg1">
                <a:lumMod val="81604"/>
                <a:alpha val="31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0027F390-A853-AD11-AEFF-22B534AC6C89}"/>
              </a:ext>
            </a:extLst>
          </p:cNvPr>
          <p:cNvPicPr>
            <a:picLocks noChangeAspect="1"/>
          </p:cNvPicPr>
          <p:nvPr/>
        </p:nvPicPr>
        <p:blipFill>
          <a:blip r:embed="rId2"/>
          <a:srcRect b="15429"/>
          <a:stretch>
            <a:fillRect/>
          </a:stretch>
        </p:blipFill>
        <p:spPr>
          <a:xfrm>
            <a:off x="20" y="1282"/>
            <a:ext cx="12191980" cy="6856718"/>
          </a:xfrm>
          <a:prstGeom prst="rect">
            <a:avLst/>
          </a:prstGeom>
        </p:spPr>
      </p:pic>
      <p:sp>
        <p:nvSpPr>
          <p:cNvPr id="6" name="Title 1">
            <a:extLst>
              <a:ext uri="{FF2B5EF4-FFF2-40B4-BE49-F238E27FC236}">
                <a16:creationId xmlns:a16="http://schemas.microsoft.com/office/drawing/2014/main" id="{BB7FDEFC-D714-A474-5843-39CCA6BB5C0E}"/>
              </a:ext>
            </a:extLst>
          </p:cNvPr>
          <p:cNvSpPr>
            <a:spLocks noGrp="1"/>
          </p:cNvSpPr>
          <p:nvPr>
            <p:ph type="ctrTitle"/>
          </p:nvPr>
        </p:nvSpPr>
        <p:spPr>
          <a:xfrm>
            <a:off x="409157" y="2186580"/>
            <a:ext cx="5059826" cy="781379"/>
          </a:xfrm>
        </p:spPr>
        <p:txBody>
          <a:bodyPr>
            <a:normAutofit/>
          </a:bodyPr>
          <a:lstStyle/>
          <a:p>
            <a:r>
              <a:rPr lang="en-US" sz="3000" b="1" dirty="0">
                <a:solidFill>
                  <a:schemeClr val="tx2">
                    <a:lumMod val="25000"/>
                  </a:schemeClr>
                </a:solidFill>
                <a:latin typeface="Calibri" panose="020F0502020204030204" pitchFamily="34" charset="0"/>
                <a:cs typeface="Calibri" panose="020F0502020204030204" pitchFamily="34" charset="0"/>
              </a:rPr>
              <a:t>Decoding Currency Dynamics</a:t>
            </a:r>
          </a:p>
        </p:txBody>
      </p:sp>
      <p:sp>
        <p:nvSpPr>
          <p:cNvPr id="7" name="Subtitle 2">
            <a:extLst>
              <a:ext uri="{FF2B5EF4-FFF2-40B4-BE49-F238E27FC236}">
                <a16:creationId xmlns:a16="http://schemas.microsoft.com/office/drawing/2014/main" id="{A7D56B73-8C1A-2947-75D3-CC776C74E57A}"/>
              </a:ext>
            </a:extLst>
          </p:cNvPr>
          <p:cNvSpPr>
            <a:spLocks noGrp="1"/>
          </p:cNvSpPr>
          <p:nvPr>
            <p:ph type="subTitle" idx="1"/>
          </p:nvPr>
        </p:nvSpPr>
        <p:spPr>
          <a:xfrm>
            <a:off x="627695" y="3079209"/>
            <a:ext cx="4431162" cy="699582"/>
          </a:xfrm>
        </p:spPr>
        <p:txBody>
          <a:bodyPr>
            <a:normAutofit lnSpcReduction="10000"/>
          </a:bodyPr>
          <a:lstStyle/>
          <a:p>
            <a:pPr marL="0" lvl="0" indent="0">
              <a:lnSpc>
                <a:spcPct val="90000"/>
              </a:lnSpc>
              <a:spcBef>
                <a:spcPts val="0"/>
              </a:spcBef>
              <a:spcAft>
                <a:spcPts val="600"/>
              </a:spcAft>
            </a:pPr>
            <a:r>
              <a:rPr lang="en-US" sz="2000" dirty="0">
                <a:solidFill>
                  <a:schemeClr val="bg2">
                    <a:lumMod val="75000"/>
                  </a:schemeClr>
                </a:solidFill>
                <a:latin typeface="Calibri" panose="020F0502020204030204" pitchFamily="34" charset="0"/>
                <a:ea typeface="Inter Light"/>
                <a:cs typeface="Calibri" panose="020F0502020204030204" pitchFamily="34" charset="0"/>
                <a:sym typeface="Inter Light"/>
              </a:rPr>
              <a:t>AI-Driven Multi-Step Forecasting of Foreign Exchange Rates</a:t>
            </a:r>
            <a:endParaRPr lang="en-US" sz="2000" dirty="0">
              <a:solidFill>
                <a:schemeClr val="bg2">
                  <a:lumMod val="75000"/>
                </a:schemeClr>
              </a:solidFill>
              <a:latin typeface="Calibri" panose="020F0502020204030204" pitchFamily="34" charset="0"/>
              <a:cs typeface="Calibri" panose="020F0502020204030204" pitchFamily="34" charset="0"/>
            </a:endParaRPr>
          </a:p>
        </p:txBody>
      </p:sp>
      <p:sp>
        <p:nvSpPr>
          <p:cNvPr id="8" name="Subtitle 2">
            <a:extLst>
              <a:ext uri="{FF2B5EF4-FFF2-40B4-BE49-F238E27FC236}">
                <a16:creationId xmlns:a16="http://schemas.microsoft.com/office/drawing/2014/main" id="{83776408-F440-2EA1-CC97-F519A744C084}"/>
              </a:ext>
            </a:extLst>
          </p:cNvPr>
          <p:cNvSpPr txBox="1">
            <a:spLocks/>
          </p:cNvSpPr>
          <p:nvPr/>
        </p:nvSpPr>
        <p:spPr>
          <a:xfrm>
            <a:off x="296091" y="5357245"/>
            <a:ext cx="3126377" cy="60812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gn="l">
              <a:lnSpc>
                <a:spcPct val="90000"/>
              </a:lnSpc>
              <a:spcBef>
                <a:spcPts val="0"/>
              </a:spcBef>
              <a:spcAft>
                <a:spcPts val="600"/>
              </a:spcAft>
            </a:pPr>
            <a:r>
              <a:rPr lang="en-US" sz="1200" dirty="0">
                <a:solidFill>
                  <a:schemeClr val="bg2">
                    <a:lumMod val="75000"/>
                  </a:schemeClr>
                </a:solidFill>
                <a:latin typeface="Calibri" panose="020F0502020204030204" pitchFamily="34" charset="0"/>
                <a:ea typeface="Inter Light"/>
                <a:cs typeface="Calibri" panose="020F0502020204030204" pitchFamily="34" charset="0"/>
                <a:sym typeface="Inter Light"/>
              </a:rPr>
              <a:t>Student Name: PUPPALA V V SUDHAKAR</a:t>
            </a:r>
          </a:p>
          <a:p>
            <a:pPr marL="0" indent="0" algn="l">
              <a:lnSpc>
                <a:spcPct val="90000"/>
              </a:lnSpc>
              <a:spcBef>
                <a:spcPts val="0"/>
              </a:spcBef>
              <a:spcAft>
                <a:spcPts val="600"/>
              </a:spcAft>
            </a:pPr>
            <a:r>
              <a:rPr lang="en-US" sz="1200" dirty="0">
                <a:solidFill>
                  <a:schemeClr val="bg2">
                    <a:lumMod val="75000"/>
                  </a:schemeClr>
                </a:solidFill>
                <a:latin typeface="Calibri" panose="020F0502020204030204" pitchFamily="34" charset="0"/>
                <a:ea typeface="Inter Light"/>
                <a:cs typeface="Calibri" panose="020F0502020204030204" pitchFamily="34" charset="0"/>
                <a:sym typeface="Inter Light"/>
              </a:rPr>
              <a:t>BITS ID: 2024AA05488</a:t>
            </a:r>
            <a:endParaRPr lang="en-US" sz="1200" dirty="0">
              <a:solidFill>
                <a:schemeClr val="bg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3648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n abstract financial digital analysis">
            <a:extLst>
              <a:ext uri="{FF2B5EF4-FFF2-40B4-BE49-F238E27FC236}">
                <a16:creationId xmlns:a16="http://schemas.microsoft.com/office/drawing/2014/main" id="{FEDC2F3E-03ED-486D-C68B-7030FEB4D970}"/>
              </a:ext>
            </a:extLst>
          </p:cNvPr>
          <p:cNvPicPr>
            <a:picLocks noChangeAspect="1"/>
          </p:cNvPicPr>
          <p:nvPr/>
        </p:nvPicPr>
        <p:blipFill>
          <a:blip r:embed="rId2"/>
          <a:srcRect l="44033" r="22006"/>
          <a:stretch>
            <a:fillRect/>
          </a:stretch>
        </p:blipFill>
        <p:spPr>
          <a:xfrm>
            <a:off x="1" y="10"/>
            <a:ext cx="4196496" cy="6857990"/>
          </a:xfrm>
          <a:prstGeom prst="rect">
            <a:avLst/>
          </a:prstGeom>
          <a:effectLst/>
        </p:spPr>
      </p:pic>
      <p:sp>
        <p:nvSpPr>
          <p:cNvPr id="6" name="TextBox 5">
            <a:extLst>
              <a:ext uri="{FF2B5EF4-FFF2-40B4-BE49-F238E27FC236}">
                <a16:creationId xmlns:a16="http://schemas.microsoft.com/office/drawing/2014/main" id="{AB4653C2-19D9-3FFB-4EAC-C92F721A4147}"/>
              </a:ext>
            </a:extLst>
          </p:cNvPr>
          <p:cNvSpPr txBox="1"/>
          <p:nvPr/>
        </p:nvSpPr>
        <p:spPr>
          <a:xfrm>
            <a:off x="4488872" y="1786982"/>
            <a:ext cx="7056583" cy="4903753"/>
          </a:xfrm>
          <a:prstGeom prst="rect">
            <a:avLst/>
          </a:prstGeom>
        </p:spPr>
        <p:txBody>
          <a:bodyPr vert="horz" lIns="91440" tIns="45720" rIns="91440" bIns="45720" rtlCol="0">
            <a:normAutofit/>
          </a:bodyPr>
          <a:lstStyle/>
          <a:p>
            <a:pPr>
              <a:lnSpc>
                <a:spcPct val="90000"/>
              </a:lnSpc>
              <a:spcAft>
                <a:spcPts val="600"/>
              </a:spcAft>
            </a:pP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Foreign exchange markets are among the most liquid and volatile financial markets, influenced by macroeconomic indicators, geopolitical events, and market sentiment. Traditional forecasting approaches such as Autoregressive Integrated Moving Average (ARIMA) and Generalized Autoregressive Conditional Heteroskedasticity (GARCH) models often fail to capture non-linear patterns, and long-term dependencies present in FX data. Recent advancements in artificial intelligence, particularly deep learning models like Convolutional Neural Network (CNN), Long Short-Term Memory (LSTM), Gated Recurrent Units (GRU), and Transformer architectures, have shown promising capabilities in modelling sequential and temporal data. These methods provide an opportunity to improve forecasting accuracy, especially for multi-step ahead predictions, which are inherently more challenging due to error propagation.</a:t>
            </a:r>
          </a:p>
          <a:p>
            <a:pPr>
              <a:lnSpc>
                <a:spcPct val="90000"/>
              </a:lnSpc>
              <a:spcAft>
                <a:spcPts val="600"/>
              </a:spcAft>
            </a:pPr>
            <a:endParaRPr lang="en-US"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endParaRPr>
          </a:p>
          <a:p>
            <a:pPr>
              <a:lnSpc>
                <a:spcPct val="90000"/>
              </a:lnSpc>
              <a:spcAft>
                <a:spcPts val="600"/>
              </a:spcAft>
            </a:pP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This dissertation integrates concepts from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Financial Time Series Analysis</a:t>
            </a:r>
            <a:r>
              <a:rPr lang="en-US" sz="1700"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Artificial Intelligence</a:t>
            </a:r>
            <a:r>
              <a:rPr lang="en-US" sz="1700"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 </a:t>
            </a: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and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Computational Finance</a:t>
            </a: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a:t>
            </a:r>
          </a:p>
        </p:txBody>
      </p:sp>
      <p:sp>
        <p:nvSpPr>
          <p:cNvPr id="11" name="Title 1">
            <a:extLst>
              <a:ext uri="{FF2B5EF4-FFF2-40B4-BE49-F238E27FC236}">
                <a16:creationId xmlns:a16="http://schemas.microsoft.com/office/drawing/2014/main" id="{48ACC5F2-B9CE-AFCE-7189-B5855E0EEAD3}"/>
              </a:ext>
            </a:extLst>
          </p:cNvPr>
          <p:cNvSpPr txBox="1">
            <a:spLocks/>
          </p:cNvSpPr>
          <p:nvPr/>
        </p:nvSpPr>
        <p:spPr>
          <a:xfrm>
            <a:off x="4488872" y="854865"/>
            <a:ext cx="3749964"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Abstract</a:t>
            </a:r>
            <a:r>
              <a:rPr lang="en-US" sz="2400" dirty="0">
                <a:solidFill>
                  <a:schemeClr val="bg2">
                    <a:lumMod val="75000"/>
                  </a:schemeClr>
                </a:solidFill>
                <a:latin typeface="Calibri" panose="020F0502020204030204" pitchFamily="34" charset="0"/>
                <a:cs typeface="Calibri" panose="020F0502020204030204" pitchFamily="34" charset="0"/>
              </a:rPr>
              <a:t> </a:t>
            </a:r>
            <a:r>
              <a:rPr lang="en-US" sz="3200" dirty="0">
                <a:solidFill>
                  <a:schemeClr val="bg2">
                    <a:lumMod val="75000"/>
                  </a:schemeClr>
                </a:solidFill>
                <a:latin typeface="Calibri" panose="020F0502020204030204" pitchFamily="34" charset="0"/>
                <a:cs typeface="Calibri" panose="020F0502020204030204" pitchFamily="34" charset="0"/>
              </a:rPr>
              <a:t>Background</a:t>
            </a:r>
          </a:p>
        </p:txBody>
      </p:sp>
    </p:spTree>
    <p:extLst>
      <p:ext uri="{BB962C8B-B14F-4D97-AF65-F5344CB8AC3E}">
        <p14:creationId xmlns:p14="http://schemas.microsoft.com/office/powerpoint/2010/main" val="124433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6F2F-06C1-7182-B54B-EEB612B69DC3}"/>
            </a:ext>
          </a:extLst>
        </p:cNvPr>
        <p:cNvGrpSpPr/>
        <p:nvPr/>
      </p:nvGrpSpPr>
      <p:grpSpPr>
        <a:xfrm>
          <a:off x="0" y="0"/>
          <a:ext cx="0" cy="0"/>
          <a:chOff x="0" y="0"/>
          <a:chExt cx="0" cy="0"/>
        </a:xfrm>
      </p:grpSpPr>
      <p:pic>
        <p:nvPicPr>
          <p:cNvPr id="11" name="Picture 10" descr="Cubes connected with a red line">
            <a:extLst>
              <a:ext uri="{FF2B5EF4-FFF2-40B4-BE49-F238E27FC236}">
                <a16:creationId xmlns:a16="http://schemas.microsoft.com/office/drawing/2014/main" id="{29FF805D-68A1-2549-7527-E93A9F41AC77}"/>
              </a:ext>
            </a:extLst>
          </p:cNvPr>
          <p:cNvPicPr>
            <a:picLocks noChangeAspect="1"/>
          </p:cNvPicPr>
          <p:nvPr/>
        </p:nvPicPr>
        <p:blipFill>
          <a:blip r:embed="rId2"/>
          <a:srcRect l="26797" r="15367" b="-1"/>
          <a:stretch>
            <a:fillRect/>
          </a:stretch>
        </p:blipFill>
        <p:spPr>
          <a:xfrm>
            <a:off x="0" y="10"/>
            <a:ext cx="5006110" cy="6857990"/>
          </a:xfrm>
          <a:prstGeom prst="rect">
            <a:avLst/>
          </a:prstGeom>
        </p:spPr>
      </p:pic>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5974B699-E04B-F5B5-C36F-46B1F9C64675}"/>
              </a:ext>
            </a:extLst>
          </p:cNvPr>
          <p:cNvSpPr>
            <a:spLocks noGrp="1"/>
          </p:cNvSpPr>
          <p:nvPr>
            <p:ph type="ctrTitle"/>
          </p:nvPr>
        </p:nvSpPr>
        <p:spPr>
          <a:xfrm>
            <a:off x="5905502" y="871146"/>
            <a:ext cx="2863273" cy="781379"/>
          </a:xfrm>
        </p:spPr>
        <p:txBody>
          <a:bodyPr>
            <a:normAutofit/>
          </a:bodyPr>
          <a:lstStyle/>
          <a:p>
            <a:pPr algn="l"/>
            <a:r>
              <a:rPr lang="en-US" sz="2400" dirty="0">
                <a:solidFill>
                  <a:schemeClr val="bg2">
                    <a:lumMod val="75000"/>
                  </a:schemeClr>
                </a:solidFill>
                <a:latin typeface="Calibri" panose="020F0502020204030204" pitchFamily="34" charset="0"/>
                <a:cs typeface="Calibri" panose="020F0502020204030204" pitchFamily="34" charset="0"/>
              </a:rPr>
              <a:t>Objectives</a:t>
            </a:r>
          </a:p>
        </p:txBody>
      </p:sp>
      <p:sp>
        <p:nvSpPr>
          <p:cNvPr id="7" name="TextBox 6">
            <a:extLst>
              <a:ext uri="{FF2B5EF4-FFF2-40B4-BE49-F238E27FC236}">
                <a16:creationId xmlns:a16="http://schemas.microsoft.com/office/drawing/2014/main" id="{873DA35F-DEF7-C255-AA6E-1B98654D60B2}"/>
              </a:ext>
            </a:extLst>
          </p:cNvPr>
          <p:cNvSpPr txBox="1"/>
          <p:nvPr/>
        </p:nvSpPr>
        <p:spPr>
          <a:xfrm>
            <a:off x="6096000" y="1520288"/>
            <a:ext cx="4788667" cy="4903753"/>
          </a:xfrm>
          <a:prstGeom prst="rect">
            <a:avLst/>
          </a:prstGeom>
        </p:spPr>
        <p:txBody>
          <a:bodyPr vert="horz" lIns="91440" tIns="45720" rIns="91440" bIns="45720" rtlCol="0">
            <a:normAutofit/>
          </a:bodyPr>
          <a:lstStyle/>
          <a:p>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The objective of this dissertation project is to,</a:t>
            </a:r>
            <a:r>
              <a:rPr lang="en-SG" sz="1800" dirty="0">
                <a:latin typeface="Calibri" panose="020F0502020204030204" pitchFamily="34" charset="0"/>
                <a:cs typeface="Calibri" panose="020F0502020204030204" pitchFamily="34" charset="0"/>
              </a:rPr>
              <a:t>  </a:t>
            </a:r>
            <a:endPar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endParaRP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Design and implement a Hybrid CNN-LSTM-Transformer architecture for multi-step FX rate forecasting.</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Develop a multi-model feature fusion pipeline integrating technical, macroeconomic, and NLP-based sentiment features.</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Conduct systematic ablation studies to quantify the marginal contribution of each architectural component.</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Evaluate model performance across multiple currency pairs, forecasting horizons, and market volatility baselines.</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Compare the proposed model against ARIMA, Prophet, vanilla LSTM, and Temporal Fusion Transformer baselines.</a:t>
            </a:r>
          </a:p>
          <a:p>
            <a:pPr>
              <a:lnSpc>
                <a:spcPct val="90000"/>
              </a:lnSpc>
              <a:spcAft>
                <a:spcPts val="600"/>
              </a:spcAft>
            </a:pPr>
            <a:endPar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endParaRPr>
          </a:p>
        </p:txBody>
      </p:sp>
    </p:spTree>
    <p:extLst>
      <p:ext uri="{BB962C8B-B14F-4D97-AF65-F5344CB8AC3E}">
        <p14:creationId xmlns:p14="http://schemas.microsoft.com/office/powerpoint/2010/main" val="483014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571500" y="1552575"/>
            <a:ext cx="2583656" cy="3667125"/>
          </a:xfrm>
          <a:prstGeom prst="rect">
            <a:avLst/>
          </a:prstGeom>
          <a:solidFill>
            <a:schemeClr val="bg1">
              <a:lumMod val="85000"/>
            </a:schemeClr>
          </a:solidFill>
          <a:ln>
            <a:noFill/>
          </a:ln>
        </p:spPr>
      </p:pic>
      <p:pic>
        <p:nvPicPr>
          <p:cNvPr id="86" name="Google Shape;86;p13" descr="image.png"/>
          <p:cNvPicPr preferRelativeResize="0"/>
          <p:nvPr/>
        </p:nvPicPr>
        <p:blipFill rotWithShape="1">
          <a:blip r:embed="rId4">
            <a:alphaModFix/>
          </a:blip>
          <a:srcRect/>
          <a:stretch/>
        </p:blipFill>
        <p:spPr>
          <a:xfrm>
            <a:off x="3393281" y="1552575"/>
            <a:ext cx="2583656" cy="3667125"/>
          </a:xfrm>
          <a:prstGeom prst="rect">
            <a:avLst/>
          </a:prstGeom>
          <a:solidFill>
            <a:schemeClr val="bg1">
              <a:lumMod val="85000"/>
            </a:schemeClr>
          </a:solidFill>
          <a:ln>
            <a:noFill/>
          </a:ln>
        </p:spPr>
      </p:pic>
      <p:pic>
        <p:nvPicPr>
          <p:cNvPr id="87" name="Google Shape;87;p13" descr="image.png"/>
          <p:cNvPicPr preferRelativeResize="0"/>
          <p:nvPr/>
        </p:nvPicPr>
        <p:blipFill rotWithShape="1">
          <a:blip r:embed="rId5">
            <a:alphaModFix/>
          </a:blip>
          <a:srcRect/>
          <a:stretch/>
        </p:blipFill>
        <p:spPr>
          <a:xfrm>
            <a:off x="6215062" y="1552575"/>
            <a:ext cx="2583656" cy="3667125"/>
          </a:xfrm>
          <a:prstGeom prst="rect">
            <a:avLst/>
          </a:prstGeom>
          <a:solidFill>
            <a:schemeClr val="bg1">
              <a:lumMod val="85000"/>
            </a:schemeClr>
          </a:solidFill>
          <a:ln>
            <a:noFill/>
          </a:ln>
        </p:spPr>
      </p:pic>
      <p:pic>
        <p:nvPicPr>
          <p:cNvPr id="88" name="Google Shape;88;p13" descr="image.png"/>
          <p:cNvPicPr preferRelativeResize="0"/>
          <p:nvPr/>
        </p:nvPicPr>
        <p:blipFill rotWithShape="1">
          <a:blip r:embed="rId5">
            <a:alphaModFix/>
          </a:blip>
          <a:srcRect/>
          <a:stretch/>
        </p:blipFill>
        <p:spPr>
          <a:xfrm>
            <a:off x="9036843" y="1552575"/>
            <a:ext cx="2583656" cy="3667125"/>
          </a:xfrm>
          <a:prstGeom prst="rect">
            <a:avLst/>
          </a:prstGeom>
          <a:solidFill>
            <a:schemeClr val="bg1">
              <a:lumMod val="85000"/>
            </a:schemeClr>
          </a:solidFill>
          <a:ln>
            <a:noFill/>
          </a:ln>
        </p:spPr>
      </p:pic>
      <p:sp>
        <p:nvSpPr>
          <p:cNvPr id="90" name="Google Shape;90;p13"/>
          <p:cNvSpPr/>
          <p:nvPr/>
        </p:nvSpPr>
        <p:spPr>
          <a:xfrm>
            <a:off x="571500" y="571500"/>
            <a:ext cx="57150" cy="50482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0" name="Google Shape;100;p13" descr="image.png"/>
          <p:cNvPicPr preferRelativeResize="0"/>
          <p:nvPr/>
        </p:nvPicPr>
        <p:blipFill rotWithShape="1">
          <a:blip r:embed="rId6">
            <a:alphaModFix/>
          </a:blip>
          <a:srcRect/>
          <a:stretch/>
        </p:blipFill>
        <p:spPr>
          <a:xfrm>
            <a:off x="1482328" y="1943100"/>
            <a:ext cx="762000" cy="762000"/>
          </a:xfrm>
          <a:prstGeom prst="rect">
            <a:avLst/>
          </a:prstGeom>
          <a:noFill/>
          <a:ln>
            <a:noFill/>
          </a:ln>
        </p:spPr>
      </p:pic>
      <p:sp>
        <p:nvSpPr>
          <p:cNvPr id="101" name="Google Shape;101;p13"/>
          <p:cNvSpPr txBox="1"/>
          <p:nvPr/>
        </p:nvSpPr>
        <p:spPr>
          <a:xfrm>
            <a:off x="816947" y="2943225"/>
            <a:ext cx="2092761" cy="7715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dirty="0">
                <a:solidFill>
                  <a:srgbClr val="2DD4BF"/>
                </a:solidFill>
                <a:latin typeface="Urbanist"/>
                <a:ea typeface="Urbanist"/>
                <a:cs typeface="Urbanist"/>
                <a:sym typeface="Urbanist"/>
              </a:rPr>
              <a:t>NATURAL LANGUAGE PROCESSING</a:t>
            </a:r>
            <a:endParaRPr dirty="0"/>
          </a:p>
        </p:txBody>
      </p:sp>
      <p:sp>
        <p:nvSpPr>
          <p:cNvPr id="102" name="Google Shape;102;p13"/>
          <p:cNvSpPr txBox="1"/>
          <p:nvPr/>
        </p:nvSpPr>
        <p:spPr>
          <a:xfrm>
            <a:off x="866775" y="3857625"/>
            <a:ext cx="1993106"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Advanced sentiment extraction from market headlines and financial news sources.</a:t>
            </a:r>
            <a:endParaRPr dirty="0"/>
          </a:p>
        </p:txBody>
      </p:sp>
      <p:pic>
        <p:nvPicPr>
          <p:cNvPr id="104" name="Google Shape;104;p13" descr="image.png"/>
          <p:cNvPicPr preferRelativeResize="0"/>
          <p:nvPr/>
        </p:nvPicPr>
        <p:blipFill rotWithShape="1">
          <a:blip r:embed="rId7">
            <a:alphaModFix/>
          </a:blip>
          <a:srcRect/>
          <a:stretch/>
        </p:blipFill>
        <p:spPr>
          <a:xfrm>
            <a:off x="4304109" y="1943100"/>
            <a:ext cx="762000" cy="762000"/>
          </a:xfrm>
          <a:prstGeom prst="rect">
            <a:avLst/>
          </a:prstGeom>
          <a:noFill/>
          <a:ln>
            <a:noFill/>
          </a:ln>
        </p:spPr>
      </p:pic>
      <p:sp>
        <p:nvSpPr>
          <p:cNvPr id="105" name="Google Shape;105;p13"/>
          <p:cNvSpPr txBox="1"/>
          <p:nvPr/>
        </p:nvSpPr>
        <p:spPr>
          <a:xfrm>
            <a:off x="3638728" y="2943225"/>
            <a:ext cx="2092761" cy="514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KNOWLEDGE REPRESENTATION</a:t>
            </a:r>
            <a:endParaRPr/>
          </a:p>
        </p:txBody>
      </p:sp>
      <p:sp>
        <p:nvSpPr>
          <p:cNvPr id="106" name="Google Shape;106;p13"/>
          <p:cNvSpPr txBox="1"/>
          <p:nvPr/>
        </p:nvSpPr>
        <p:spPr>
          <a:xfrm>
            <a:off x="3688556" y="3600450"/>
            <a:ext cx="1993106" cy="1177245"/>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Integration of technical indicators (RSI, MACD, Volume) into the knowledge base.</a:t>
            </a:r>
            <a:endParaRPr dirty="0"/>
          </a:p>
        </p:txBody>
      </p:sp>
      <p:pic>
        <p:nvPicPr>
          <p:cNvPr id="108" name="Google Shape;108;p13" descr="image.png"/>
          <p:cNvPicPr preferRelativeResize="0"/>
          <p:nvPr/>
        </p:nvPicPr>
        <p:blipFill rotWithShape="1">
          <a:blip r:embed="rId8">
            <a:alphaModFix/>
          </a:blip>
          <a:srcRect/>
          <a:stretch/>
        </p:blipFill>
        <p:spPr>
          <a:xfrm>
            <a:off x="7125890" y="1943100"/>
            <a:ext cx="762000" cy="762000"/>
          </a:xfrm>
          <a:prstGeom prst="rect">
            <a:avLst/>
          </a:prstGeom>
          <a:noFill/>
          <a:ln>
            <a:noFill/>
          </a:ln>
        </p:spPr>
      </p:pic>
      <p:sp>
        <p:nvSpPr>
          <p:cNvPr id="109" name="Google Shape;109;p13"/>
          <p:cNvSpPr txBox="1"/>
          <p:nvPr/>
        </p:nvSpPr>
        <p:spPr>
          <a:xfrm>
            <a:off x="6631781" y="2943225"/>
            <a:ext cx="175021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DATA MODELING</a:t>
            </a:r>
            <a:endParaRPr/>
          </a:p>
        </p:txBody>
      </p:sp>
      <p:sp>
        <p:nvSpPr>
          <p:cNvPr id="110" name="Google Shape;110;p13"/>
          <p:cNvSpPr txBox="1"/>
          <p:nvPr/>
        </p:nvSpPr>
        <p:spPr>
          <a:xfrm>
            <a:off x="6510337" y="3343275"/>
            <a:ext cx="1993106"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Automated pipeline for feature engineering, cleaning, and normalization.</a:t>
            </a:r>
            <a:endParaRPr dirty="0"/>
          </a:p>
        </p:txBody>
      </p:sp>
      <p:pic>
        <p:nvPicPr>
          <p:cNvPr id="111" name="Google Shape;111;p13" descr="image.png"/>
          <p:cNvPicPr preferRelativeResize="0"/>
          <p:nvPr/>
        </p:nvPicPr>
        <p:blipFill rotWithShape="1">
          <a:blip r:embed="rId9">
            <a:alphaModFix/>
          </a:blip>
          <a:srcRect/>
          <a:stretch/>
        </p:blipFill>
        <p:spPr>
          <a:xfrm>
            <a:off x="9947671" y="1943100"/>
            <a:ext cx="762000" cy="762000"/>
          </a:xfrm>
          <a:prstGeom prst="rect">
            <a:avLst/>
          </a:prstGeom>
          <a:noFill/>
          <a:ln>
            <a:noFill/>
          </a:ln>
        </p:spPr>
      </p:pic>
      <p:sp>
        <p:nvSpPr>
          <p:cNvPr id="112" name="Google Shape;112;p13"/>
          <p:cNvSpPr txBox="1"/>
          <p:nvPr/>
        </p:nvSpPr>
        <p:spPr>
          <a:xfrm>
            <a:off x="9518570" y="2943225"/>
            <a:ext cx="162020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DEEP LEARNING</a:t>
            </a:r>
            <a:endParaRPr/>
          </a:p>
        </p:txBody>
      </p:sp>
      <p:sp>
        <p:nvSpPr>
          <p:cNvPr id="113" name="Google Shape;113;p13"/>
          <p:cNvSpPr txBox="1"/>
          <p:nvPr/>
        </p:nvSpPr>
        <p:spPr>
          <a:xfrm>
            <a:off x="9332118" y="3343275"/>
            <a:ext cx="1993106" cy="728662"/>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Implementation of Hybrid CNN-LSTM-Transformer architecture.</a:t>
            </a:r>
            <a:endParaRPr dirty="0"/>
          </a:p>
        </p:txBody>
      </p:sp>
      <p:pic>
        <p:nvPicPr>
          <p:cNvPr id="114" name="Google Shape;114;p13" descr="image.png"/>
          <p:cNvPicPr preferRelativeResize="0"/>
          <p:nvPr/>
        </p:nvPicPr>
        <p:blipFill rotWithShape="1">
          <a:blip r:embed="rId10">
            <a:alphaModFix/>
          </a:blip>
          <a:srcRect/>
          <a:stretch/>
        </p:blipFill>
        <p:spPr>
          <a:xfrm>
            <a:off x="1710928" y="2171700"/>
            <a:ext cx="304800" cy="304800"/>
          </a:xfrm>
          <a:prstGeom prst="rect">
            <a:avLst/>
          </a:prstGeom>
          <a:noFill/>
          <a:ln>
            <a:noFill/>
          </a:ln>
        </p:spPr>
      </p:pic>
      <p:pic>
        <p:nvPicPr>
          <p:cNvPr id="115" name="Google Shape;115;p13" descr="image.png"/>
          <p:cNvPicPr preferRelativeResize="0"/>
          <p:nvPr/>
        </p:nvPicPr>
        <p:blipFill rotWithShape="1">
          <a:blip r:embed="rId11">
            <a:alphaModFix/>
          </a:blip>
          <a:srcRect/>
          <a:stretch/>
        </p:blipFill>
        <p:spPr>
          <a:xfrm>
            <a:off x="4532709" y="2171700"/>
            <a:ext cx="304800" cy="304800"/>
          </a:xfrm>
          <a:prstGeom prst="rect">
            <a:avLst/>
          </a:prstGeom>
          <a:noFill/>
          <a:ln>
            <a:noFill/>
          </a:ln>
        </p:spPr>
      </p:pic>
      <p:pic>
        <p:nvPicPr>
          <p:cNvPr id="116" name="Google Shape;116;p13" descr="image.png"/>
          <p:cNvPicPr preferRelativeResize="0"/>
          <p:nvPr/>
        </p:nvPicPr>
        <p:blipFill rotWithShape="1">
          <a:blip r:embed="rId12">
            <a:alphaModFix/>
          </a:blip>
          <a:srcRect/>
          <a:stretch/>
        </p:blipFill>
        <p:spPr>
          <a:xfrm>
            <a:off x="7373540" y="2171700"/>
            <a:ext cx="266700" cy="304800"/>
          </a:xfrm>
          <a:prstGeom prst="rect">
            <a:avLst/>
          </a:prstGeom>
          <a:noFill/>
          <a:ln>
            <a:noFill/>
          </a:ln>
        </p:spPr>
      </p:pic>
      <p:pic>
        <p:nvPicPr>
          <p:cNvPr id="117" name="Google Shape;117;p13" descr="image.png"/>
          <p:cNvPicPr preferRelativeResize="0"/>
          <p:nvPr/>
        </p:nvPicPr>
        <p:blipFill rotWithShape="1">
          <a:blip r:embed="rId13">
            <a:alphaModFix/>
          </a:blip>
          <a:srcRect/>
          <a:stretch/>
        </p:blipFill>
        <p:spPr>
          <a:xfrm>
            <a:off x="10176271" y="2171700"/>
            <a:ext cx="304800" cy="304800"/>
          </a:xfrm>
          <a:prstGeom prst="rect">
            <a:avLst/>
          </a:prstGeom>
          <a:noFill/>
          <a:ln>
            <a:noFill/>
          </a:ln>
        </p:spPr>
      </p:pic>
      <p:sp>
        <p:nvSpPr>
          <p:cNvPr id="2" name="Title 1">
            <a:extLst>
              <a:ext uri="{FF2B5EF4-FFF2-40B4-BE49-F238E27FC236}">
                <a16:creationId xmlns:a16="http://schemas.microsoft.com/office/drawing/2014/main" id="{4B0508FB-52F0-3759-75D5-F543D45C086F}"/>
              </a:ext>
            </a:extLst>
          </p:cNvPr>
          <p:cNvSpPr txBox="1">
            <a:spLocks/>
          </p:cNvSpPr>
          <p:nvPr/>
        </p:nvSpPr>
        <p:spPr>
          <a:xfrm>
            <a:off x="816947" y="391858"/>
            <a:ext cx="3749964"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Scope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43EB-EC0F-A660-4814-BF86B0141665}"/>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3D2E9521-ED34-0638-4BE4-58C34CC45889}"/>
              </a:ext>
            </a:extLst>
          </p:cNvPr>
          <p:cNvPicPr>
            <a:picLocks noChangeAspect="1"/>
          </p:cNvPicPr>
          <p:nvPr/>
        </p:nvPicPr>
        <p:blipFill>
          <a:blip r:embed="rId2"/>
          <a:stretch>
            <a:fillRect/>
          </a:stretch>
        </p:blipFill>
        <p:spPr>
          <a:xfrm>
            <a:off x="7492861" y="467138"/>
            <a:ext cx="4087368" cy="5923723"/>
          </a:xfrm>
          <a:prstGeom prst="rect">
            <a:avLst/>
          </a:prstGeom>
        </p:spPr>
      </p:pic>
      <p:graphicFrame>
        <p:nvGraphicFramePr>
          <p:cNvPr id="19" name="TextBox 8">
            <a:extLst>
              <a:ext uri="{FF2B5EF4-FFF2-40B4-BE49-F238E27FC236}">
                <a16:creationId xmlns:a16="http://schemas.microsoft.com/office/drawing/2014/main" id="{46BD764A-9497-E7A4-3428-AF32E542CBA0}"/>
              </a:ext>
            </a:extLst>
          </p:cNvPr>
          <p:cNvGraphicFramePr/>
          <p:nvPr>
            <p:extLst>
              <p:ext uri="{D42A27DB-BD31-4B8C-83A1-F6EECF244321}">
                <p14:modId xmlns:p14="http://schemas.microsoft.com/office/powerpoint/2010/main" val="4062163260"/>
              </p:ext>
            </p:extLst>
          </p:nvPr>
        </p:nvGraphicFramePr>
        <p:xfrm>
          <a:off x="594371" y="1021602"/>
          <a:ext cx="6286720" cy="5251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 name="Title 1">
            <a:extLst>
              <a:ext uri="{FF2B5EF4-FFF2-40B4-BE49-F238E27FC236}">
                <a16:creationId xmlns:a16="http://schemas.microsoft.com/office/drawing/2014/main" id="{52C4BC54-8597-6259-0A52-0A59E95F58A4}"/>
              </a:ext>
            </a:extLst>
          </p:cNvPr>
          <p:cNvSpPr txBox="1">
            <a:spLocks/>
          </p:cNvSpPr>
          <p:nvPr/>
        </p:nvSpPr>
        <p:spPr>
          <a:xfrm>
            <a:off x="515994" y="119317"/>
            <a:ext cx="3749964"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Methodology</a:t>
            </a:r>
          </a:p>
        </p:txBody>
      </p:sp>
    </p:spTree>
    <p:extLst>
      <p:ext uri="{BB962C8B-B14F-4D97-AF65-F5344CB8AC3E}">
        <p14:creationId xmlns:p14="http://schemas.microsoft.com/office/powerpoint/2010/main" val="805720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8" name="Google Shape;108;p13"/>
          <p:cNvSpPr txBox="1"/>
          <p:nvPr/>
        </p:nvSpPr>
        <p:spPr>
          <a:xfrm>
            <a:off x="577454" y="471704"/>
            <a:ext cx="4775596"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450" b="1" i="0" u="none" strike="noStrike" cap="none" dirty="0">
                <a:solidFill>
                  <a:schemeClr val="bg2">
                    <a:lumMod val="75000"/>
                  </a:schemeClr>
                </a:solidFill>
                <a:latin typeface="Calibri" panose="020F0502020204030204" pitchFamily="34" charset="0"/>
                <a:ea typeface="Urbanist"/>
                <a:cs typeface="Calibri" panose="020F0502020204030204" pitchFamily="34" charset="0"/>
                <a:sym typeface="Urbanist"/>
              </a:rPr>
              <a:t>Progress &amp; Key Findings</a:t>
            </a:r>
            <a:endParaRPr dirty="0">
              <a:solidFill>
                <a:schemeClr val="bg2">
                  <a:lumMod val="75000"/>
                </a:schemeClr>
              </a:solidFill>
              <a:latin typeface="Calibri" panose="020F0502020204030204" pitchFamily="34" charset="0"/>
              <a:cs typeface="Calibri" panose="020F0502020204030204" pitchFamily="34" charset="0"/>
            </a:endParaRPr>
          </a:p>
        </p:txBody>
      </p:sp>
      <p:pic>
        <p:nvPicPr>
          <p:cNvPr id="112" name="Google Shape;112;p13" descr="image.png"/>
          <p:cNvPicPr preferRelativeResize="0"/>
          <p:nvPr/>
        </p:nvPicPr>
        <p:blipFill rotWithShape="1">
          <a:blip r:embed="rId3">
            <a:alphaModFix/>
          </a:blip>
          <a:srcRect/>
          <a:stretch/>
        </p:blipFill>
        <p:spPr>
          <a:xfrm>
            <a:off x="11082337" y="1420284"/>
            <a:ext cx="171450" cy="228600"/>
          </a:xfrm>
          <a:prstGeom prst="rect">
            <a:avLst/>
          </a:prstGeom>
          <a:noFill/>
          <a:ln>
            <a:noFill/>
          </a:ln>
        </p:spPr>
      </p:pic>
      <p:sp>
        <p:nvSpPr>
          <p:cNvPr id="113" name="Google Shape;113;p13"/>
          <p:cNvSpPr txBox="1"/>
          <p:nvPr/>
        </p:nvSpPr>
        <p:spPr>
          <a:xfrm>
            <a:off x="8396288" y="1371885"/>
            <a:ext cx="2271712"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i="0" u="none" strike="noStrike" cap="none"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NLP Sentiment Analysis</a:t>
            </a:r>
            <a:endParaRPr sz="1500" dirty="0">
              <a:latin typeface="Calibri" panose="020F0502020204030204" pitchFamily="34" charset="0"/>
              <a:ea typeface="Apple Symbols" panose="02000000000000000000" pitchFamily="2" charset="-79"/>
              <a:cs typeface="Calibri" panose="020F0502020204030204" pitchFamily="34" charset="0"/>
            </a:endParaRPr>
          </a:p>
        </p:txBody>
      </p:sp>
      <p:pic>
        <p:nvPicPr>
          <p:cNvPr id="116" name="Google Shape;116;p13" descr="image.png"/>
          <p:cNvPicPr preferRelativeResize="0"/>
          <p:nvPr/>
        </p:nvPicPr>
        <p:blipFill rotWithShape="1">
          <a:blip r:embed="rId4">
            <a:alphaModFix/>
          </a:blip>
          <a:srcRect/>
          <a:stretch/>
        </p:blipFill>
        <p:spPr>
          <a:xfrm>
            <a:off x="11082337" y="2957711"/>
            <a:ext cx="257175" cy="228600"/>
          </a:xfrm>
          <a:prstGeom prst="rect">
            <a:avLst/>
          </a:prstGeom>
          <a:noFill/>
          <a:ln>
            <a:noFill/>
          </a:ln>
        </p:spPr>
      </p:pic>
      <p:pic>
        <p:nvPicPr>
          <p:cNvPr id="120" name="Google Shape;120;p13" descr="image.png"/>
          <p:cNvPicPr preferRelativeResize="0"/>
          <p:nvPr/>
        </p:nvPicPr>
        <p:blipFill rotWithShape="1">
          <a:blip r:embed="rId5">
            <a:alphaModFix/>
          </a:blip>
          <a:srcRect/>
          <a:stretch/>
        </p:blipFill>
        <p:spPr>
          <a:xfrm>
            <a:off x="11125200" y="4667287"/>
            <a:ext cx="257175" cy="228600"/>
          </a:xfrm>
          <a:prstGeom prst="rect">
            <a:avLst/>
          </a:prstGeom>
          <a:noFill/>
          <a:ln>
            <a:noFill/>
          </a:ln>
        </p:spPr>
      </p:pic>
      <p:grpSp>
        <p:nvGrpSpPr>
          <p:cNvPr id="11" name="Group 10">
            <a:extLst>
              <a:ext uri="{FF2B5EF4-FFF2-40B4-BE49-F238E27FC236}">
                <a16:creationId xmlns:a16="http://schemas.microsoft.com/office/drawing/2014/main" id="{0AB82A1E-A592-66F5-B051-AC4458086F8C}"/>
              </a:ext>
            </a:extLst>
          </p:cNvPr>
          <p:cNvGrpSpPr/>
          <p:nvPr/>
        </p:nvGrpSpPr>
        <p:grpSpPr>
          <a:xfrm>
            <a:off x="449120" y="1246335"/>
            <a:ext cx="7429500" cy="5038725"/>
            <a:chOff x="476828" y="1338695"/>
            <a:chExt cx="7429500" cy="5038725"/>
          </a:xfrm>
        </p:grpSpPr>
        <p:pic>
          <p:nvPicPr>
            <p:cNvPr id="85" name="Google Shape;85;p13" descr="image.png"/>
            <p:cNvPicPr preferRelativeResize="0"/>
            <p:nvPr/>
          </p:nvPicPr>
          <p:blipFill rotWithShape="1">
            <a:blip r:embed="rId6">
              <a:alphaModFix/>
            </a:blip>
            <a:srcRect/>
            <a:stretch/>
          </p:blipFill>
          <p:spPr>
            <a:xfrm>
              <a:off x="476828" y="1338695"/>
              <a:ext cx="7429500" cy="5038725"/>
            </a:xfrm>
            <a:prstGeom prst="rect">
              <a:avLst/>
            </a:prstGeom>
            <a:noFill/>
            <a:ln>
              <a:noFill/>
            </a:ln>
          </p:spPr>
        </p:pic>
        <p:pic>
          <p:nvPicPr>
            <p:cNvPr id="89" name="Google Shape;89;p13" descr="image.png"/>
            <p:cNvPicPr preferRelativeResize="0"/>
            <p:nvPr/>
          </p:nvPicPr>
          <p:blipFill rotWithShape="1">
            <a:blip r:embed="rId7">
              <a:alphaModFix/>
            </a:blip>
            <a:srcRect/>
            <a:stretch/>
          </p:blipFill>
          <p:spPr>
            <a:xfrm>
              <a:off x="3058103" y="2229282"/>
              <a:ext cx="4552950" cy="228600"/>
            </a:xfrm>
            <a:prstGeom prst="rect">
              <a:avLst/>
            </a:prstGeom>
            <a:noFill/>
            <a:ln>
              <a:noFill/>
            </a:ln>
          </p:spPr>
        </p:pic>
        <p:pic>
          <p:nvPicPr>
            <p:cNvPr id="90" name="Google Shape;90;p13" descr="image.png"/>
            <p:cNvPicPr preferRelativeResize="0"/>
            <p:nvPr/>
          </p:nvPicPr>
          <p:blipFill rotWithShape="1">
            <a:blip r:embed="rId8">
              <a:alphaModFix/>
            </a:blip>
            <a:srcRect/>
            <a:stretch/>
          </p:blipFill>
          <p:spPr>
            <a:xfrm>
              <a:off x="3058103" y="2753157"/>
              <a:ext cx="4552950" cy="228600"/>
            </a:xfrm>
            <a:prstGeom prst="rect">
              <a:avLst/>
            </a:prstGeom>
            <a:noFill/>
            <a:ln>
              <a:noFill/>
            </a:ln>
          </p:spPr>
        </p:pic>
        <p:pic>
          <p:nvPicPr>
            <p:cNvPr id="91" name="Google Shape;91;p13" descr="image.png"/>
            <p:cNvPicPr preferRelativeResize="0"/>
            <p:nvPr/>
          </p:nvPicPr>
          <p:blipFill rotWithShape="1">
            <a:blip r:embed="rId8">
              <a:alphaModFix/>
            </a:blip>
            <a:srcRect/>
            <a:stretch/>
          </p:blipFill>
          <p:spPr>
            <a:xfrm>
              <a:off x="3058103" y="3277032"/>
              <a:ext cx="4552950" cy="228600"/>
            </a:xfrm>
            <a:prstGeom prst="rect">
              <a:avLst/>
            </a:prstGeom>
            <a:noFill/>
            <a:ln>
              <a:noFill/>
            </a:ln>
          </p:spPr>
        </p:pic>
        <p:pic>
          <p:nvPicPr>
            <p:cNvPr id="92" name="Google Shape;92;p13" descr="image.png"/>
            <p:cNvPicPr preferRelativeResize="0"/>
            <p:nvPr/>
          </p:nvPicPr>
          <p:blipFill rotWithShape="1">
            <a:blip r:embed="rId8">
              <a:alphaModFix/>
            </a:blip>
            <a:srcRect/>
            <a:stretch/>
          </p:blipFill>
          <p:spPr>
            <a:xfrm>
              <a:off x="3058103" y="3800907"/>
              <a:ext cx="4552950" cy="228600"/>
            </a:xfrm>
            <a:prstGeom prst="rect">
              <a:avLst/>
            </a:prstGeom>
            <a:noFill/>
            <a:ln>
              <a:noFill/>
            </a:ln>
          </p:spPr>
        </p:pic>
        <p:pic>
          <p:nvPicPr>
            <p:cNvPr id="93" name="Google Shape;93;p13" descr="image.png"/>
            <p:cNvPicPr preferRelativeResize="0"/>
            <p:nvPr/>
          </p:nvPicPr>
          <p:blipFill rotWithShape="1">
            <a:blip r:embed="rId8">
              <a:alphaModFix/>
            </a:blip>
            <a:srcRect/>
            <a:stretch/>
          </p:blipFill>
          <p:spPr>
            <a:xfrm>
              <a:off x="3058103" y="4324782"/>
              <a:ext cx="4552950" cy="228600"/>
            </a:xfrm>
            <a:prstGeom prst="rect">
              <a:avLst/>
            </a:prstGeom>
            <a:noFill/>
            <a:ln>
              <a:noFill/>
            </a:ln>
          </p:spPr>
        </p:pic>
        <p:pic>
          <p:nvPicPr>
            <p:cNvPr id="94" name="Google Shape;94;p13" descr="image.png"/>
            <p:cNvPicPr preferRelativeResize="0"/>
            <p:nvPr/>
          </p:nvPicPr>
          <p:blipFill rotWithShape="1">
            <a:blip r:embed="rId8">
              <a:alphaModFix/>
            </a:blip>
            <a:srcRect/>
            <a:stretch/>
          </p:blipFill>
          <p:spPr>
            <a:xfrm>
              <a:off x="3058103" y="4848657"/>
              <a:ext cx="4552950" cy="228600"/>
            </a:xfrm>
            <a:prstGeom prst="rect">
              <a:avLst/>
            </a:prstGeom>
            <a:noFill/>
            <a:ln>
              <a:noFill/>
            </a:ln>
          </p:spPr>
        </p:pic>
        <p:pic>
          <p:nvPicPr>
            <p:cNvPr id="95" name="Google Shape;95;p13" descr="image.png"/>
            <p:cNvPicPr preferRelativeResize="0"/>
            <p:nvPr/>
          </p:nvPicPr>
          <p:blipFill rotWithShape="1">
            <a:blip r:embed="rId9">
              <a:alphaModFix/>
            </a:blip>
            <a:srcRect/>
            <a:stretch/>
          </p:blipFill>
          <p:spPr>
            <a:xfrm>
              <a:off x="772103" y="2229282"/>
              <a:ext cx="228600" cy="228600"/>
            </a:xfrm>
            <a:prstGeom prst="rect">
              <a:avLst/>
            </a:prstGeom>
            <a:noFill/>
            <a:ln>
              <a:noFill/>
            </a:ln>
          </p:spPr>
        </p:pic>
        <p:pic>
          <p:nvPicPr>
            <p:cNvPr id="97" name="Google Shape;97;p13" descr="image.png"/>
            <p:cNvPicPr preferRelativeResize="0"/>
            <p:nvPr/>
          </p:nvPicPr>
          <p:blipFill rotWithShape="1">
            <a:blip r:embed="rId10">
              <a:alphaModFix/>
            </a:blip>
            <a:srcRect/>
            <a:stretch/>
          </p:blipFill>
          <p:spPr>
            <a:xfrm>
              <a:off x="772103" y="2753157"/>
              <a:ext cx="228600" cy="228600"/>
            </a:xfrm>
            <a:prstGeom prst="rect">
              <a:avLst/>
            </a:prstGeom>
            <a:noFill/>
            <a:ln>
              <a:noFill/>
            </a:ln>
          </p:spPr>
        </p:pic>
        <p:pic>
          <p:nvPicPr>
            <p:cNvPr id="99" name="Google Shape;99;p13" descr="image.png"/>
            <p:cNvPicPr preferRelativeResize="0"/>
            <p:nvPr/>
          </p:nvPicPr>
          <p:blipFill rotWithShape="1">
            <a:blip r:embed="rId11">
              <a:alphaModFix/>
            </a:blip>
            <a:srcRect/>
            <a:stretch/>
          </p:blipFill>
          <p:spPr>
            <a:xfrm>
              <a:off x="772103" y="3277032"/>
              <a:ext cx="228600" cy="228600"/>
            </a:xfrm>
            <a:prstGeom prst="rect">
              <a:avLst/>
            </a:prstGeom>
            <a:noFill/>
            <a:ln>
              <a:noFill/>
            </a:ln>
          </p:spPr>
        </p:pic>
        <p:pic>
          <p:nvPicPr>
            <p:cNvPr id="101" name="Google Shape;101;p13" descr="image.png"/>
            <p:cNvPicPr preferRelativeResize="0"/>
            <p:nvPr/>
          </p:nvPicPr>
          <p:blipFill rotWithShape="1">
            <a:blip r:embed="rId12">
              <a:alphaModFix/>
            </a:blip>
            <a:srcRect/>
            <a:stretch/>
          </p:blipFill>
          <p:spPr>
            <a:xfrm>
              <a:off x="772103" y="3800907"/>
              <a:ext cx="228600" cy="228600"/>
            </a:xfrm>
            <a:prstGeom prst="rect">
              <a:avLst/>
            </a:prstGeom>
            <a:noFill/>
            <a:ln>
              <a:noFill/>
            </a:ln>
          </p:spPr>
        </p:pic>
        <p:pic>
          <p:nvPicPr>
            <p:cNvPr id="103" name="Google Shape;103;p13" descr="image.png"/>
            <p:cNvPicPr preferRelativeResize="0"/>
            <p:nvPr/>
          </p:nvPicPr>
          <p:blipFill rotWithShape="1">
            <a:blip r:embed="rId13">
              <a:alphaModFix/>
            </a:blip>
            <a:srcRect/>
            <a:stretch/>
          </p:blipFill>
          <p:spPr>
            <a:xfrm>
              <a:off x="772103" y="4324782"/>
              <a:ext cx="228600" cy="228600"/>
            </a:xfrm>
            <a:prstGeom prst="rect">
              <a:avLst/>
            </a:prstGeom>
            <a:noFill/>
            <a:ln>
              <a:noFill/>
            </a:ln>
          </p:spPr>
        </p:pic>
        <p:pic>
          <p:nvPicPr>
            <p:cNvPr id="105" name="Google Shape;105;p13" descr="image.png"/>
            <p:cNvPicPr preferRelativeResize="0"/>
            <p:nvPr/>
          </p:nvPicPr>
          <p:blipFill rotWithShape="1">
            <a:blip r:embed="rId14">
              <a:alphaModFix/>
            </a:blip>
            <a:srcRect/>
            <a:stretch/>
          </p:blipFill>
          <p:spPr>
            <a:xfrm>
              <a:off x="772103" y="4848657"/>
              <a:ext cx="228600" cy="228600"/>
            </a:xfrm>
            <a:prstGeom prst="rect">
              <a:avLst/>
            </a:prstGeom>
            <a:noFill/>
            <a:ln>
              <a:noFill/>
            </a:ln>
          </p:spPr>
        </p:pic>
        <p:sp>
          <p:nvSpPr>
            <p:cNvPr id="110" name="Google Shape;110;p13"/>
            <p:cNvSpPr txBox="1"/>
            <p:nvPr/>
          </p:nvSpPr>
          <p:spPr>
            <a:xfrm>
              <a:off x="3058103" y="1633970"/>
              <a:ext cx="45529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dirty="0">
                  <a:solidFill>
                    <a:srgbClr val="64748B"/>
                  </a:solidFill>
                  <a:latin typeface="Apple Symbols" panose="02000000000000000000" pitchFamily="2" charset="-79"/>
                  <a:ea typeface="Apple Symbols" panose="02000000000000000000" pitchFamily="2" charset="-79"/>
                  <a:cs typeface="Apple Symbols" panose="02000000000000000000" pitchFamily="2" charset="-79"/>
                  <a:sym typeface="Inter SemiBold"/>
                </a:rPr>
                <a:t>APRIL 	MAY 	JUNE 	JULY 	AUGUST</a:t>
              </a:r>
              <a:endParaRPr sz="1000"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Bar1">
              <a:extLst>
                <a:ext uri="{FF2B5EF4-FFF2-40B4-BE49-F238E27FC236}">
                  <a16:creationId xmlns:a16="http://schemas.microsoft.com/office/drawing/2014/main" id="{B3F66CDF-CC6A-C97B-88D9-768D0FA4DAB3}"/>
                </a:ext>
              </a:extLst>
            </p:cNvPr>
            <p:cNvSpPr/>
            <p:nvPr/>
          </p:nvSpPr>
          <p:spPr>
            <a:xfrm>
              <a:off x="3203103" y="2251110"/>
              <a:ext cx="905745" cy="184944"/>
            </a:xfrm>
            <a:prstGeom prst="roundRect">
              <a:avLst>
                <a:gd name="adj" fmla="val 12000"/>
              </a:avLst>
            </a:prstGeom>
            <a:solidFill>
              <a:srgbClr val="2563EB">
                <a:alpha val="85000"/>
              </a:srgbClr>
            </a:solidFill>
            <a:ln w="0">
              <a:noFill/>
            </a:ln>
          </p:spPr>
          <p:txBody>
            <a:bodyPr wrap="square" lIns="72000" tIns="36000" rIns="36000" bIns="36000" anchor="ctr"/>
            <a:lstStyle/>
            <a:p>
              <a:pPr algn="ctr">
                <a:buNone/>
              </a:pPr>
              <a:r>
                <a:rPr lang="en-US" sz="900" b="1" dirty="0">
                  <a:solidFill>
                    <a:schemeClr val="bg1"/>
                  </a:solidFill>
                  <a:latin typeface="Calibri"/>
                  <a:cs typeface="Calibri"/>
                </a:rPr>
                <a:t>COMPLETED</a:t>
              </a:r>
            </a:p>
          </p:txBody>
        </p:sp>
        <p:sp>
          <p:nvSpPr>
            <p:cNvPr id="6" name="Bar1">
              <a:extLst>
                <a:ext uri="{FF2B5EF4-FFF2-40B4-BE49-F238E27FC236}">
                  <a16:creationId xmlns:a16="http://schemas.microsoft.com/office/drawing/2014/main" id="{022066CE-01B1-E817-F12A-8005654EB5C0}"/>
                </a:ext>
              </a:extLst>
            </p:cNvPr>
            <p:cNvSpPr/>
            <p:nvPr/>
          </p:nvSpPr>
          <p:spPr>
            <a:xfrm>
              <a:off x="3790758" y="2778519"/>
              <a:ext cx="1095952" cy="203237"/>
            </a:xfrm>
            <a:prstGeom prst="roundRect">
              <a:avLst>
                <a:gd name="adj" fmla="val 12000"/>
              </a:avLst>
            </a:prstGeom>
            <a:solidFill>
              <a:schemeClr val="accent5">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sp>
          <p:nvSpPr>
            <p:cNvPr id="7" name="Bar1">
              <a:extLst>
                <a:ext uri="{FF2B5EF4-FFF2-40B4-BE49-F238E27FC236}">
                  <a16:creationId xmlns:a16="http://schemas.microsoft.com/office/drawing/2014/main" id="{64093017-FDB0-61EC-DD92-188F068498D3}"/>
                </a:ext>
              </a:extLst>
            </p:cNvPr>
            <p:cNvSpPr/>
            <p:nvPr/>
          </p:nvSpPr>
          <p:spPr>
            <a:xfrm>
              <a:off x="4198047" y="3293159"/>
              <a:ext cx="1326102" cy="203237"/>
            </a:xfrm>
            <a:prstGeom prst="roundRect">
              <a:avLst>
                <a:gd name="adj" fmla="val 12000"/>
              </a:avLst>
            </a:prstGeom>
            <a:solidFill>
              <a:schemeClr val="accent3">
                <a:lumMod val="75000"/>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sp>
          <p:nvSpPr>
            <p:cNvPr id="8" name="Bar1">
              <a:extLst>
                <a:ext uri="{FF2B5EF4-FFF2-40B4-BE49-F238E27FC236}">
                  <a16:creationId xmlns:a16="http://schemas.microsoft.com/office/drawing/2014/main" id="{E191E68D-E1C2-BDFC-D65E-A1937DD9EC57}"/>
                </a:ext>
              </a:extLst>
            </p:cNvPr>
            <p:cNvSpPr/>
            <p:nvPr/>
          </p:nvSpPr>
          <p:spPr>
            <a:xfrm>
              <a:off x="5321158" y="3821075"/>
              <a:ext cx="1095952" cy="203237"/>
            </a:xfrm>
            <a:prstGeom prst="roundRect">
              <a:avLst>
                <a:gd name="adj" fmla="val 12000"/>
              </a:avLst>
            </a:prstGeom>
            <a:solidFill>
              <a:schemeClr val="accent6">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PENDING</a:t>
              </a:r>
            </a:p>
          </p:txBody>
        </p:sp>
        <p:sp>
          <p:nvSpPr>
            <p:cNvPr id="9" name="Bar1">
              <a:extLst>
                <a:ext uri="{FF2B5EF4-FFF2-40B4-BE49-F238E27FC236}">
                  <a16:creationId xmlns:a16="http://schemas.microsoft.com/office/drawing/2014/main" id="{7EF60A02-EAA9-08DD-E0FD-94987616213C}"/>
                </a:ext>
              </a:extLst>
            </p:cNvPr>
            <p:cNvSpPr/>
            <p:nvPr/>
          </p:nvSpPr>
          <p:spPr>
            <a:xfrm>
              <a:off x="6680385" y="4876366"/>
              <a:ext cx="680500" cy="203237"/>
            </a:xfrm>
            <a:prstGeom prst="roundRect">
              <a:avLst>
                <a:gd name="adj" fmla="val 12000"/>
              </a:avLst>
            </a:prstGeom>
            <a:solidFill>
              <a:schemeClr val="accent2">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PENDING</a:t>
              </a:r>
            </a:p>
          </p:txBody>
        </p:sp>
        <p:sp>
          <p:nvSpPr>
            <p:cNvPr id="10" name="Bar1">
              <a:extLst>
                <a:ext uri="{FF2B5EF4-FFF2-40B4-BE49-F238E27FC236}">
                  <a16:creationId xmlns:a16="http://schemas.microsoft.com/office/drawing/2014/main" id="{236FCACB-7BC9-3BF5-A36F-0F56D34255EF}"/>
                </a:ext>
              </a:extLst>
            </p:cNvPr>
            <p:cNvSpPr/>
            <p:nvPr/>
          </p:nvSpPr>
          <p:spPr>
            <a:xfrm>
              <a:off x="5964237" y="4340457"/>
              <a:ext cx="905745" cy="203237"/>
            </a:xfrm>
            <a:prstGeom prst="roundRect">
              <a:avLst>
                <a:gd name="adj" fmla="val 12000"/>
              </a:avLst>
            </a:prstGeom>
            <a:solidFill>
              <a:srgbClr val="643AE9">
                <a:alpha val="85000"/>
              </a:srgbClr>
            </a:solidFill>
            <a:ln w="0">
              <a:noFill/>
            </a:ln>
          </p:spPr>
          <p:txBody>
            <a:bodyPr wrap="square" lIns="72000" tIns="36000" rIns="36000" bIns="36000" anchor="ctr"/>
            <a:lstStyle/>
            <a:p>
              <a:pPr algn="ctr">
                <a:buNone/>
              </a:pPr>
              <a:r>
                <a:rPr lang="en-US" sz="900" b="1" dirty="0">
                  <a:solidFill>
                    <a:schemeClr val="bg1"/>
                  </a:solidFill>
                  <a:latin typeface="Calibri"/>
                  <a:cs typeface="Calibri"/>
                </a:rPr>
                <a:t>PENDING</a:t>
              </a:r>
            </a:p>
          </p:txBody>
        </p:sp>
      </p:grpSp>
      <p:sp>
        <p:nvSpPr>
          <p:cNvPr id="14" name="TextBox 13">
            <a:extLst>
              <a:ext uri="{FF2B5EF4-FFF2-40B4-BE49-F238E27FC236}">
                <a16:creationId xmlns:a16="http://schemas.microsoft.com/office/drawing/2014/main" id="{F1082811-CDAE-2C17-17D6-80A9A2CCC2B3}"/>
              </a:ext>
            </a:extLst>
          </p:cNvPr>
          <p:cNvSpPr txBox="1"/>
          <p:nvPr/>
        </p:nvSpPr>
        <p:spPr>
          <a:xfrm>
            <a:off x="8335720" y="1726138"/>
            <a:ext cx="2875205" cy="1050167"/>
          </a:xfrm>
          <a:prstGeom prst="rect">
            <a:avLst/>
          </a:prstGeom>
        </p:spPr>
        <p:txBody>
          <a:bodyPr vert="horz" lIns="91440" tIns="45720" rIns="91440" bIns="45720" rtlCol="0">
            <a:norm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NLP text-based sentiment score alongside traditional technical and macroeconomic indicators significantly stabilizes multi-step predictions.</a:t>
            </a:r>
          </a:p>
        </p:txBody>
      </p:sp>
      <p:sp>
        <p:nvSpPr>
          <p:cNvPr id="15" name="Google Shape;113;p13">
            <a:extLst>
              <a:ext uri="{FF2B5EF4-FFF2-40B4-BE49-F238E27FC236}">
                <a16:creationId xmlns:a16="http://schemas.microsoft.com/office/drawing/2014/main" id="{8B01436E-EB95-A7E5-8E67-FA02B464C873}"/>
              </a:ext>
            </a:extLst>
          </p:cNvPr>
          <p:cNvSpPr txBox="1"/>
          <p:nvPr/>
        </p:nvSpPr>
        <p:spPr>
          <a:xfrm>
            <a:off x="8409344" y="2917665"/>
            <a:ext cx="2258656"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Model Architecture lift</a:t>
            </a:r>
            <a:endParaRPr sz="1500" dirty="0">
              <a:latin typeface="Calibri" panose="020F0502020204030204" pitchFamily="34" charset="0"/>
              <a:ea typeface="Apple Symbols" panose="02000000000000000000" pitchFamily="2" charset="-79"/>
              <a:cs typeface="Calibri" panose="020F0502020204030204" pitchFamily="34" charset="0"/>
            </a:endParaRPr>
          </a:p>
        </p:txBody>
      </p:sp>
      <p:sp>
        <p:nvSpPr>
          <p:cNvPr id="16" name="TextBox 15">
            <a:extLst>
              <a:ext uri="{FF2B5EF4-FFF2-40B4-BE49-F238E27FC236}">
                <a16:creationId xmlns:a16="http://schemas.microsoft.com/office/drawing/2014/main" id="{A9C2D527-8AB6-A56E-5058-84773FAF353D}"/>
              </a:ext>
            </a:extLst>
          </p:cNvPr>
          <p:cNvSpPr txBox="1"/>
          <p:nvPr/>
        </p:nvSpPr>
        <p:spPr>
          <a:xfrm>
            <a:off x="8348776" y="3271918"/>
            <a:ext cx="2875205" cy="1200795"/>
          </a:xfrm>
          <a:prstGeom prst="rect">
            <a:avLst/>
          </a:prstGeom>
        </p:spPr>
        <p:txBody>
          <a:bodyPr vert="horz" lIns="91440" tIns="45720" rIns="91440" bIns="45720" rtlCol="0">
            <a:no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The Hybrid CNN-LSTM-Transformer architecture demonstrates a significant improvement in analyzing spatial, temporal and contextual features in the financial time series data over extended forecasting horizons.</a:t>
            </a:r>
          </a:p>
        </p:txBody>
      </p:sp>
      <p:sp>
        <p:nvSpPr>
          <p:cNvPr id="17" name="Google Shape;113;p13">
            <a:extLst>
              <a:ext uri="{FF2B5EF4-FFF2-40B4-BE49-F238E27FC236}">
                <a16:creationId xmlns:a16="http://schemas.microsoft.com/office/drawing/2014/main" id="{569783E9-1D89-B8D5-9015-907D1547F436}"/>
              </a:ext>
            </a:extLst>
          </p:cNvPr>
          <p:cNvSpPr txBox="1"/>
          <p:nvPr/>
        </p:nvSpPr>
        <p:spPr>
          <a:xfrm>
            <a:off x="8422400" y="4637624"/>
            <a:ext cx="2258656"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High-Volatility Resilience</a:t>
            </a:r>
            <a:endParaRPr sz="1500" dirty="0">
              <a:latin typeface="Calibri" panose="020F0502020204030204" pitchFamily="34" charset="0"/>
              <a:ea typeface="Apple Symbols" panose="02000000000000000000" pitchFamily="2" charset="-79"/>
              <a:cs typeface="Calibri" panose="020F0502020204030204" pitchFamily="34" charset="0"/>
            </a:endParaRPr>
          </a:p>
        </p:txBody>
      </p:sp>
      <p:sp>
        <p:nvSpPr>
          <p:cNvPr id="18" name="TextBox 17">
            <a:extLst>
              <a:ext uri="{FF2B5EF4-FFF2-40B4-BE49-F238E27FC236}">
                <a16:creationId xmlns:a16="http://schemas.microsoft.com/office/drawing/2014/main" id="{97BDBC68-33AD-C816-F2CC-3DF71A6D3828}"/>
              </a:ext>
            </a:extLst>
          </p:cNvPr>
          <p:cNvSpPr txBox="1"/>
          <p:nvPr/>
        </p:nvSpPr>
        <p:spPr>
          <a:xfrm>
            <a:off x="8361832" y="4991877"/>
            <a:ext cx="2875205" cy="1200795"/>
          </a:xfrm>
          <a:prstGeom prst="rect">
            <a:avLst/>
          </a:prstGeom>
        </p:spPr>
        <p:txBody>
          <a:bodyPr vert="horz" lIns="91440" tIns="45720" rIns="91440" bIns="45720" rtlCol="0">
            <a:norm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The implementation of regime-aware evaluation framework allows the AI model to maintain directional forecasting accuracy during the high-volatility market transitions.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E37C-6B54-4762-35DD-CF96B577C02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DA18051-7663-83F2-E0A2-D2B45D259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60FD637E-58D0-BEEE-42C1-474D2BA3000E}"/>
              </a:ext>
            </a:extLst>
          </p:cNvPr>
          <p:cNvSpPr txBox="1">
            <a:spLocks/>
          </p:cNvSpPr>
          <p:nvPr/>
        </p:nvSpPr>
        <p:spPr>
          <a:xfrm>
            <a:off x="406400" y="255512"/>
            <a:ext cx="2659017"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Future Work</a:t>
            </a:r>
          </a:p>
        </p:txBody>
      </p:sp>
      <p:sp>
        <p:nvSpPr>
          <p:cNvPr id="2" name="Card01">
            <a:extLst>
              <a:ext uri="{FF2B5EF4-FFF2-40B4-BE49-F238E27FC236}">
                <a16:creationId xmlns:a16="http://schemas.microsoft.com/office/drawing/2014/main" id="{A9B8B056-0DC1-202A-9BA6-6C98713DC8AC}"/>
              </a:ext>
            </a:extLst>
          </p:cNvPr>
          <p:cNvSpPr/>
          <p:nvPr/>
        </p:nvSpPr>
        <p:spPr>
          <a:xfrm>
            <a:off x="571000" y="1453214"/>
            <a:ext cx="3197436" cy="4096228"/>
          </a:xfrm>
          <a:prstGeom prst="roundRect">
            <a:avLst>
              <a:gd name="adj" fmla="val 4000"/>
            </a:avLst>
          </a:prstGeom>
          <a:solidFill>
            <a:srgbClr val="F0F0F0"/>
          </a:solidFill>
          <a:ln w="0">
            <a:noFill/>
          </a:ln>
        </p:spPr>
        <p:txBody>
          <a:bodyPr/>
          <a:lstStyle/>
          <a:p>
            <a:endParaRPr lang="en-US"/>
          </a:p>
        </p:txBody>
      </p:sp>
      <p:sp>
        <p:nvSpPr>
          <p:cNvPr id="3" name="Num01">
            <a:extLst>
              <a:ext uri="{FF2B5EF4-FFF2-40B4-BE49-F238E27FC236}">
                <a16:creationId xmlns:a16="http://schemas.microsoft.com/office/drawing/2014/main" id="{4D050DF8-C601-2809-2FA3-5F03A1A80212}"/>
              </a:ext>
            </a:extLst>
          </p:cNvPr>
          <p:cNvSpPr txBox="1"/>
          <p:nvPr/>
        </p:nvSpPr>
        <p:spPr>
          <a:xfrm>
            <a:off x="1945103" y="1539454"/>
            <a:ext cx="423697" cy="500000"/>
          </a:xfrm>
          <a:prstGeom prst="rect">
            <a:avLst/>
          </a:prstGeom>
          <a:noFill/>
        </p:spPr>
        <p:txBody>
          <a:bodyPr wrap="square" lIns="0" tIns="0" rIns="0" bIns="0" anchor="t"/>
          <a:lstStyle/>
          <a:p>
            <a:pPr algn="l">
              <a:buNone/>
            </a:pPr>
            <a:r>
              <a:rPr lang="en-US" sz="3600" b="1" dirty="0">
                <a:solidFill>
                  <a:srgbClr val="2563EB">
                    <a:alpha val="40000"/>
                  </a:srgbClr>
                </a:solidFill>
                <a:latin typeface="Trebuchet MS"/>
                <a:cs typeface="Trebuchet MS"/>
              </a:rPr>
              <a:t>1</a:t>
            </a:r>
          </a:p>
        </p:txBody>
      </p:sp>
      <p:sp>
        <p:nvSpPr>
          <p:cNvPr id="4" name="Title01">
            <a:extLst>
              <a:ext uri="{FF2B5EF4-FFF2-40B4-BE49-F238E27FC236}">
                <a16:creationId xmlns:a16="http://schemas.microsoft.com/office/drawing/2014/main" id="{343769B4-DC18-02DC-0BEF-688339F44B8B}"/>
              </a:ext>
            </a:extLst>
          </p:cNvPr>
          <p:cNvSpPr txBox="1"/>
          <p:nvPr/>
        </p:nvSpPr>
        <p:spPr>
          <a:xfrm>
            <a:off x="690999" y="2151129"/>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Integration of Explainable AI (XAI) for Model Interpretability</a:t>
            </a:r>
            <a:endParaRPr lang="en-US" sz="1500" b="1" dirty="0">
              <a:solidFill>
                <a:srgbClr val="333333"/>
              </a:solidFill>
              <a:latin typeface="Calibri" panose="020F0502020204030204" pitchFamily="34" charset="0"/>
              <a:cs typeface="Calibri" panose="020F0502020204030204" pitchFamily="34" charset="0"/>
            </a:endParaRPr>
          </a:p>
        </p:txBody>
      </p:sp>
      <p:sp>
        <p:nvSpPr>
          <p:cNvPr id="5" name="Desc01">
            <a:extLst>
              <a:ext uri="{FF2B5EF4-FFF2-40B4-BE49-F238E27FC236}">
                <a16:creationId xmlns:a16="http://schemas.microsoft.com/office/drawing/2014/main" id="{F6849A84-76B1-E928-403A-F2565F4CAF0F}"/>
              </a:ext>
            </a:extLst>
          </p:cNvPr>
          <p:cNvSpPr txBox="1"/>
          <p:nvPr/>
        </p:nvSpPr>
        <p:spPr>
          <a:xfrm>
            <a:off x="809390" y="2770982"/>
            <a:ext cx="2695124" cy="2685282"/>
          </a:xfrm>
          <a:prstGeom prst="rect">
            <a:avLst/>
          </a:prstGeom>
          <a:noFill/>
        </p:spPr>
        <p:txBody>
          <a:bodyPr wrap="square" lIns="0" tIns="0" rIns="0" bIns="0" anchor="t"/>
          <a:lstStyle/>
          <a:p>
            <a:r>
              <a:rPr lang="en-SG" sz="1300" dirty="0">
                <a:latin typeface="Calibri" panose="020F0502020204030204" pitchFamily="34" charset="0"/>
                <a:ea typeface="Apple Symbols" panose="02000000000000000000" pitchFamily="2" charset="-79"/>
                <a:cs typeface="Calibri" panose="020F0502020204030204" pitchFamily="34" charset="0"/>
              </a:rPr>
              <a:t>While the Hybrid CNN-LSTM-Transformer architecture delivers high predictive accuracy, deep learning frameworks operate largely as "black boxes." Implementing techniques like </a:t>
            </a:r>
            <a:r>
              <a:rPr lang="en-SG" sz="1300" b="1" dirty="0">
                <a:latin typeface="Calibri" panose="020F0502020204030204" pitchFamily="34" charset="0"/>
                <a:ea typeface="Apple Symbols" panose="02000000000000000000" pitchFamily="2" charset="-79"/>
                <a:cs typeface="Calibri" panose="020F0502020204030204" pitchFamily="34" charset="0"/>
              </a:rPr>
              <a:t>SHAP (</a:t>
            </a:r>
            <a:r>
              <a:rPr lang="en-SG" sz="1300" b="1" dirty="0" err="1">
                <a:latin typeface="Calibri" panose="020F0502020204030204" pitchFamily="34" charset="0"/>
                <a:ea typeface="Apple Symbols" panose="02000000000000000000" pitchFamily="2" charset="-79"/>
                <a:cs typeface="Calibri" panose="020F0502020204030204" pitchFamily="34" charset="0"/>
              </a:rPr>
              <a:t>SHapley</a:t>
            </a:r>
            <a:r>
              <a:rPr lang="en-SG" sz="1300" b="1" dirty="0">
                <a:latin typeface="Calibri" panose="020F0502020204030204" pitchFamily="34" charset="0"/>
                <a:ea typeface="Apple Symbols" panose="02000000000000000000" pitchFamily="2" charset="-79"/>
                <a:cs typeface="Calibri" panose="020F0502020204030204" pitchFamily="34" charset="0"/>
              </a:rPr>
              <a:t> Additive </a:t>
            </a:r>
            <a:r>
              <a:rPr lang="en-SG" sz="1300" b="1" dirty="0" err="1">
                <a:latin typeface="Calibri" panose="020F0502020204030204" pitchFamily="34" charset="0"/>
                <a:ea typeface="Apple Symbols" panose="02000000000000000000" pitchFamily="2" charset="-79"/>
                <a:cs typeface="Calibri" panose="020F0502020204030204" pitchFamily="34" charset="0"/>
              </a:rPr>
              <a:t>exPlanations</a:t>
            </a:r>
            <a:r>
              <a:rPr lang="en-SG" sz="1300" b="1" dirty="0">
                <a:latin typeface="Calibri" panose="020F0502020204030204" pitchFamily="34" charset="0"/>
                <a:ea typeface="Apple Symbols" panose="02000000000000000000" pitchFamily="2" charset="-79"/>
                <a:cs typeface="Calibri" panose="020F0502020204030204" pitchFamily="34" charset="0"/>
              </a:rPr>
              <a:t>)</a:t>
            </a:r>
            <a:r>
              <a:rPr lang="en-SG" sz="1300" dirty="0">
                <a:latin typeface="Calibri" panose="020F0502020204030204" pitchFamily="34" charset="0"/>
                <a:ea typeface="Apple Symbols" panose="02000000000000000000" pitchFamily="2" charset="-79"/>
                <a:cs typeface="Calibri" panose="020F0502020204030204" pitchFamily="34" charset="0"/>
              </a:rPr>
              <a:t> or visualizing the </a:t>
            </a:r>
            <a:r>
              <a:rPr lang="en-SG" sz="1300" b="1" dirty="0">
                <a:latin typeface="Calibri" panose="020F0502020204030204" pitchFamily="34" charset="0"/>
                <a:ea typeface="Apple Symbols" panose="02000000000000000000" pitchFamily="2" charset="-79"/>
                <a:cs typeface="Calibri" panose="020F0502020204030204" pitchFamily="34" charset="0"/>
              </a:rPr>
              <a:t>Transformer's Self-Attention weights</a:t>
            </a:r>
            <a:r>
              <a:rPr lang="en-SG" sz="1300" dirty="0">
                <a:latin typeface="Calibri" panose="020F0502020204030204" pitchFamily="34" charset="0"/>
                <a:ea typeface="Apple Symbols" panose="02000000000000000000" pitchFamily="2" charset="-79"/>
                <a:cs typeface="Calibri" panose="020F0502020204030204" pitchFamily="34" charset="0"/>
              </a:rPr>
              <a:t> can map exactly which technical or sentiment features drive a specific multi-step prediction.</a:t>
            </a:r>
          </a:p>
        </p:txBody>
      </p:sp>
      <p:sp>
        <p:nvSpPr>
          <p:cNvPr id="6" name="Card02">
            <a:extLst>
              <a:ext uri="{FF2B5EF4-FFF2-40B4-BE49-F238E27FC236}">
                <a16:creationId xmlns:a16="http://schemas.microsoft.com/office/drawing/2014/main" id="{3907D473-B7BE-BA16-1F78-E1016FF9160E}"/>
              </a:ext>
            </a:extLst>
          </p:cNvPr>
          <p:cNvSpPr/>
          <p:nvPr/>
        </p:nvSpPr>
        <p:spPr>
          <a:xfrm>
            <a:off x="4339437" y="1453216"/>
            <a:ext cx="3197436" cy="4096227"/>
          </a:xfrm>
          <a:prstGeom prst="roundRect">
            <a:avLst>
              <a:gd name="adj" fmla="val 4000"/>
            </a:avLst>
          </a:prstGeom>
          <a:solidFill>
            <a:srgbClr val="F0F0F0"/>
          </a:solidFill>
          <a:ln w="0">
            <a:noFill/>
          </a:ln>
        </p:spPr>
        <p:txBody>
          <a:bodyPr/>
          <a:lstStyle/>
          <a:p>
            <a:endParaRPr lang="en-US"/>
          </a:p>
        </p:txBody>
      </p:sp>
      <p:sp>
        <p:nvSpPr>
          <p:cNvPr id="7" name="Num02">
            <a:extLst>
              <a:ext uri="{FF2B5EF4-FFF2-40B4-BE49-F238E27FC236}">
                <a16:creationId xmlns:a16="http://schemas.microsoft.com/office/drawing/2014/main" id="{485FD224-D9A6-5E2E-C08B-2D5C4CDDCDD5}"/>
              </a:ext>
            </a:extLst>
          </p:cNvPr>
          <p:cNvSpPr txBox="1"/>
          <p:nvPr/>
        </p:nvSpPr>
        <p:spPr>
          <a:xfrm>
            <a:off x="5688277" y="1539454"/>
            <a:ext cx="499756" cy="500000"/>
          </a:xfrm>
          <a:prstGeom prst="rect">
            <a:avLst/>
          </a:prstGeom>
          <a:noFill/>
        </p:spPr>
        <p:txBody>
          <a:bodyPr wrap="square" lIns="0" tIns="0" rIns="0" bIns="0" anchor="t"/>
          <a:lstStyle/>
          <a:p>
            <a:pPr algn="l">
              <a:buNone/>
            </a:pPr>
            <a:r>
              <a:rPr lang="en-US" sz="3600" b="1" dirty="0">
                <a:solidFill>
                  <a:srgbClr val="0891B2">
                    <a:alpha val="40000"/>
                  </a:srgbClr>
                </a:solidFill>
                <a:latin typeface="Trebuchet MS"/>
                <a:cs typeface="Trebuchet MS"/>
              </a:rPr>
              <a:t>2</a:t>
            </a:r>
          </a:p>
        </p:txBody>
      </p:sp>
      <p:sp>
        <p:nvSpPr>
          <p:cNvPr id="17" name="Title01">
            <a:extLst>
              <a:ext uri="{FF2B5EF4-FFF2-40B4-BE49-F238E27FC236}">
                <a16:creationId xmlns:a16="http://schemas.microsoft.com/office/drawing/2014/main" id="{7290AA33-65E8-C354-912B-A419EFAEDF51}"/>
              </a:ext>
            </a:extLst>
          </p:cNvPr>
          <p:cNvSpPr txBox="1"/>
          <p:nvPr/>
        </p:nvSpPr>
        <p:spPr>
          <a:xfrm>
            <a:off x="4492309" y="2146767"/>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Advanced NLP Features via Large Language Models (LLMs)</a:t>
            </a:r>
          </a:p>
        </p:txBody>
      </p:sp>
      <p:sp>
        <p:nvSpPr>
          <p:cNvPr id="18" name="Desc01">
            <a:extLst>
              <a:ext uri="{FF2B5EF4-FFF2-40B4-BE49-F238E27FC236}">
                <a16:creationId xmlns:a16="http://schemas.microsoft.com/office/drawing/2014/main" id="{567383D2-9ED4-9449-92A2-F3F5C5E14D98}"/>
              </a:ext>
            </a:extLst>
          </p:cNvPr>
          <p:cNvSpPr txBox="1"/>
          <p:nvPr/>
        </p:nvSpPr>
        <p:spPr>
          <a:xfrm>
            <a:off x="4610700" y="2766620"/>
            <a:ext cx="2695124" cy="2685282"/>
          </a:xfrm>
          <a:prstGeom prst="rect">
            <a:avLst/>
          </a:prstGeom>
          <a:noFill/>
        </p:spPr>
        <p:txBody>
          <a:bodyPr wrap="square" lIns="0" tIns="0" rIns="0" bIns="0" anchor="t"/>
          <a:lstStyle/>
          <a:p>
            <a:r>
              <a:rPr lang="en-SG" sz="1300" dirty="0">
                <a:latin typeface="Calibri" panose="020F0502020204030204" pitchFamily="34" charset="0"/>
                <a:ea typeface="Apple Symbols" panose="02000000000000000000" pitchFamily="2" charset="-79"/>
                <a:cs typeface="Calibri" panose="020F0502020204030204" pitchFamily="34" charset="0"/>
              </a:rPr>
              <a:t>Upgrade the current transformer-based news sentiment extraction pipeline by utilizing specialized financial LLMs (like </a:t>
            </a:r>
            <a:r>
              <a:rPr lang="en-SG" sz="1300" dirty="0" err="1">
                <a:latin typeface="Calibri" panose="020F0502020204030204" pitchFamily="34" charset="0"/>
                <a:ea typeface="Apple Symbols" panose="02000000000000000000" pitchFamily="2" charset="-79"/>
                <a:cs typeface="Calibri" panose="020F0502020204030204" pitchFamily="34" charset="0"/>
              </a:rPr>
              <a:t>FinBERT</a:t>
            </a:r>
            <a:r>
              <a:rPr lang="en-SG" sz="1300" dirty="0">
                <a:latin typeface="Calibri" panose="020F0502020204030204" pitchFamily="34" charset="0"/>
                <a:ea typeface="Apple Symbols" panose="02000000000000000000" pitchFamily="2" charset="-79"/>
                <a:cs typeface="Calibri" panose="020F0502020204030204" pitchFamily="34" charset="0"/>
              </a:rPr>
              <a:t> or Llama-3-Finance). This would allow the model to capture deeper contextual nuances, such as macro-economic implications in central bank speeches (e.g., Federal Reserve minutes), rather than relying solely on surface-level headline sentiment.</a:t>
            </a:r>
          </a:p>
        </p:txBody>
      </p:sp>
      <p:sp>
        <p:nvSpPr>
          <p:cNvPr id="19" name="Card02">
            <a:extLst>
              <a:ext uri="{FF2B5EF4-FFF2-40B4-BE49-F238E27FC236}">
                <a16:creationId xmlns:a16="http://schemas.microsoft.com/office/drawing/2014/main" id="{EF7C3B3A-3601-125E-24F5-CB2CA431DAAA}"/>
              </a:ext>
            </a:extLst>
          </p:cNvPr>
          <p:cNvSpPr/>
          <p:nvPr/>
        </p:nvSpPr>
        <p:spPr>
          <a:xfrm>
            <a:off x="8107874" y="1453215"/>
            <a:ext cx="3197436" cy="4096227"/>
          </a:xfrm>
          <a:prstGeom prst="roundRect">
            <a:avLst>
              <a:gd name="adj" fmla="val 4000"/>
            </a:avLst>
          </a:prstGeom>
          <a:solidFill>
            <a:srgbClr val="F0F0F0"/>
          </a:solidFill>
          <a:ln w="0">
            <a:noFill/>
          </a:ln>
        </p:spPr>
        <p:txBody>
          <a:bodyPr/>
          <a:lstStyle/>
          <a:p>
            <a:endParaRPr lang="en-US"/>
          </a:p>
        </p:txBody>
      </p:sp>
      <p:sp>
        <p:nvSpPr>
          <p:cNvPr id="20" name="Num03">
            <a:extLst>
              <a:ext uri="{FF2B5EF4-FFF2-40B4-BE49-F238E27FC236}">
                <a16:creationId xmlns:a16="http://schemas.microsoft.com/office/drawing/2014/main" id="{E80AA5AB-4AD3-A725-8813-18B981F3341B}"/>
              </a:ext>
            </a:extLst>
          </p:cNvPr>
          <p:cNvSpPr txBox="1"/>
          <p:nvPr/>
        </p:nvSpPr>
        <p:spPr>
          <a:xfrm>
            <a:off x="9506558" y="1527225"/>
            <a:ext cx="356353" cy="500000"/>
          </a:xfrm>
          <a:prstGeom prst="rect">
            <a:avLst/>
          </a:prstGeom>
          <a:noFill/>
        </p:spPr>
        <p:txBody>
          <a:bodyPr wrap="square" lIns="0" tIns="0" rIns="0" bIns="0" anchor="t"/>
          <a:lstStyle/>
          <a:p>
            <a:pPr algn="l">
              <a:buNone/>
            </a:pPr>
            <a:r>
              <a:rPr lang="en-US" sz="3600" b="1" dirty="0">
                <a:solidFill>
                  <a:srgbClr val="059669">
                    <a:alpha val="40000"/>
                  </a:srgbClr>
                </a:solidFill>
                <a:latin typeface="Trebuchet MS"/>
                <a:cs typeface="Trebuchet MS"/>
              </a:rPr>
              <a:t>3</a:t>
            </a:r>
          </a:p>
        </p:txBody>
      </p:sp>
      <p:sp>
        <p:nvSpPr>
          <p:cNvPr id="21" name="Title01">
            <a:extLst>
              <a:ext uri="{FF2B5EF4-FFF2-40B4-BE49-F238E27FC236}">
                <a16:creationId xmlns:a16="http://schemas.microsoft.com/office/drawing/2014/main" id="{701A17A0-6F11-C950-AE9D-601DED9E7B44}"/>
              </a:ext>
            </a:extLst>
          </p:cNvPr>
          <p:cNvSpPr txBox="1"/>
          <p:nvPr/>
        </p:nvSpPr>
        <p:spPr>
          <a:xfrm>
            <a:off x="8267475" y="2147078"/>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Reinforcement Learning (RL) Framework for Automated Execution</a:t>
            </a:r>
          </a:p>
        </p:txBody>
      </p:sp>
      <p:sp>
        <p:nvSpPr>
          <p:cNvPr id="22" name="Desc01">
            <a:extLst>
              <a:ext uri="{FF2B5EF4-FFF2-40B4-BE49-F238E27FC236}">
                <a16:creationId xmlns:a16="http://schemas.microsoft.com/office/drawing/2014/main" id="{F146FF03-D7C8-8259-40CD-2EFC23AE3B86}"/>
              </a:ext>
            </a:extLst>
          </p:cNvPr>
          <p:cNvSpPr txBox="1"/>
          <p:nvPr/>
        </p:nvSpPr>
        <p:spPr>
          <a:xfrm>
            <a:off x="8385866" y="2766931"/>
            <a:ext cx="2695124" cy="2685282"/>
          </a:xfrm>
          <a:prstGeom prst="rect">
            <a:avLst/>
          </a:prstGeom>
          <a:noFill/>
        </p:spPr>
        <p:txBody>
          <a:bodyPr wrap="square" lIns="0" tIns="0" rIns="0" bIns="0" anchor="t"/>
          <a:lstStyle/>
          <a:p>
            <a:pPr lvl="1"/>
            <a:r>
              <a:rPr lang="en-SG" sz="1300" dirty="0">
                <a:latin typeface="Calibri" panose="020F0502020204030204" pitchFamily="34" charset="0"/>
                <a:ea typeface="Apple Symbols" panose="02000000000000000000" pitchFamily="2" charset="-79"/>
                <a:cs typeface="Calibri" panose="020F0502020204030204" pitchFamily="34" charset="0"/>
              </a:rPr>
              <a:t>Transition from purely predicting price action (supervised learning) to an action-based framework. By wrapping the Hybrid model inside a </a:t>
            </a:r>
            <a:r>
              <a:rPr lang="en-SG" sz="1300" b="1" dirty="0">
                <a:latin typeface="Calibri" panose="020F0502020204030204" pitchFamily="34" charset="0"/>
                <a:ea typeface="Apple Symbols" panose="02000000000000000000" pitchFamily="2" charset="-79"/>
                <a:cs typeface="Calibri" panose="020F0502020204030204" pitchFamily="34" charset="0"/>
              </a:rPr>
              <a:t>Deep Reinforcement Learning (DRL)</a:t>
            </a:r>
            <a:r>
              <a:rPr lang="en-SG" sz="1300" dirty="0">
                <a:latin typeface="Calibri" panose="020F0502020204030204" pitchFamily="34" charset="0"/>
                <a:ea typeface="Apple Symbols" panose="02000000000000000000" pitchFamily="2" charset="-79"/>
                <a:cs typeface="Calibri" panose="020F0502020204030204" pitchFamily="34" charset="0"/>
              </a:rPr>
              <a:t> agent, the system can learn optimized trading policies, dynamically adjusting stop-loss margins and position sizing based on the model's multi-step volatility forecasts.</a:t>
            </a:r>
          </a:p>
        </p:txBody>
      </p:sp>
    </p:spTree>
    <p:extLst>
      <p:ext uri="{BB962C8B-B14F-4D97-AF65-F5344CB8AC3E}">
        <p14:creationId xmlns:p14="http://schemas.microsoft.com/office/powerpoint/2010/main" val="338093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20D1-567B-4554-FEA6-9A0BA01B4838}"/>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E04197-0A26-8E72-E7A3-CB63323F7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F3312D1-D387-A1BB-CC5C-1C031ED274A7}"/>
              </a:ext>
            </a:extLst>
          </p:cNvPr>
          <p:cNvSpPr txBox="1">
            <a:spLocks/>
          </p:cNvSpPr>
          <p:nvPr/>
        </p:nvSpPr>
        <p:spPr>
          <a:xfrm>
            <a:off x="4220753" y="2711329"/>
            <a:ext cx="3991430" cy="9321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chemeClr val="bg2">
                    <a:lumMod val="75000"/>
                  </a:schemeClr>
                </a:solidFill>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248928879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1613</TotalTime>
  <Words>690</Words>
  <Application>Microsoft Macintosh PowerPoint</Application>
  <PresentationFormat>Widescreen</PresentationFormat>
  <Paragraphs>55</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Calibri</vt:lpstr>
      <vt:lpstr>Urbanist</vt:lpstr>
      <vt:lpstr>Inter</vt:lpstr>
      <vt:lpstr>Trebuchet MS</vt:lpstr>
      <vt:lpstr>Apple Symbols</vt:lpstr>
      <vt:lpstr>Arial</vt:lpstr>
      <vt:lpstr>Office Theme</vt:lpstr>
      <vt:lpstr>Decoding Currency Dynamics</vt:lpstr>
      <vt:lpstr>PowerPoint Presentation</vt:lpstr>
      <vt:lpstr>Objectives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Sudhakar Puppala</cp:lastModifiedBy>
  <cp:revision>9</cp:revision>
  <dcterms:modified xsi:type="dcterms:W3CDTF">2026-05-25T13:47:38Z</dcterms:modified>
</cp:coreProperties>
</file>