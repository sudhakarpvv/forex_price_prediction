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70" r:id="rId2"/>
    <p:sldId id="271" r:id="rId3"/>
    <p:sldId id="273" r:id="rId4"/>
    <p:sldId id="256" r:id="rId5"/>
    <p:sldId id="272" r:id="rId6"/>
    <p:sldId id="278" r:id="rId7"/>
    <p:sldId id="279" r:id="rId8"/>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77" r:id="rId9"/>
  </p:sldIdLst>
  <p:sldSz cx="12192000" cy="6858000"/>
  <p:notesSz cx="6858000" cy="9144000"/>
  <p:embeddedFontLst>
    <p:embeddedFont>
      <p:font typeface="Inter" panose="02000503000000020004" pitchFamily="2" charset="0"/>
      <p:regular r:id="rId11"/>
      <p:bold r:id="rId12"/>
      <p:italic r:id="rId13"/>
      <p:boldItalic r:id="rId14"/>
    </p:embeddedFont>
    <p:embeddedFont>
      <p:font typeface="Trebuchet MS" panose="020B0703020202090204" pitchFamily="34" charset="0"/>
      <p:regular r:id="rId15"/>
      <p:bold r:id="rId16"/>
      <p:italic r:id="rId17"/>
    </p:embeddedFont>
    <p:embeddedFont>
      <p:font typeface="Urbanist" panose="020B0A04040200000203" pitchFamily="34" charset="77"/>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3AE9"/>
    <a:srgbClr val="5E50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09"/>
    <p:restoredTop sz="94571"/>
  </p:normalViewPr>
  <p:slideViewPr>
    <p:cSldViewPr snapToGrid="0">
      <p:cViewPr varScale="1">
        <p:scale>
          <a:sx n="115" d="100"/>
          <a:sy n="115" d="100"/>
        </p:scale>
        <p:origin x="544"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font" Target="fonts/font7.fntdata"/><Relationship Id="rId18" Type="http://schemas.openxmlformats.org/officeDocument/2006/relationships/font" Target="fonts/font8.fntdata"/><Relationship Id="rId19" Type="http://schemas.openxmlformats.org/officeDocument/2006/relationships/font" Target="fonts/font9.fntdata"/><Relationship Id="rId20" Type="http://schemas.openxmlformats.org/officeDocument/2006/relationships/font" Target="fonts/font10.fntdata"/><Relationship Id="rId21" Type="http://schemas.openxmlformats.org/officeDocument/2006/relationships/font" Target="fonts/font11.fnt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s>
</file>

<file path=ppt/diagrams/_rels/data1.xml.rels><?xml version='1.0' encoding='UTF-8' standalone='yes'?>
<Relationships xmlns="http://schemas.openxmlformats.org/package/2006/relationships"><Relationship Id="rId1" Type="http://schemas.openxmlformats.org/officeDocument/2006/relationships/image" Target="../media/image16.svg"/><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6.svg"/><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9880A-42C2-435F-8AFE-9F69D604F17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78AFCB8-58F6-4AB2-8EDF-44FC34C16AAA}">
      <dgm:prSet custT="1"/>
      <dgm:spPr/>
      <dgm:t>
        <a:bodyPr/>
        <a:lstStyle/>
        <a:p>
          <a:pPr>
            <a:lnSpc>
              <a:spcPct val="100000"/>
            </a:lnSpc>
          </a:pPr>
          <a:r>
            <a:rPr lang="en-SG" sz="1400" dirty="0">
              <a:solidFill>
                <a:srgbClr val="7030A0"/>
              </a:solidFill>
              <a:latin typeface="Calibri" panose="020F0502020204030204" pitchFamily="34" charset="0"/>
              <a:ea typeface="Apple Symbols" panose="02000000000000000000" pitchFamily="2" charset="-79"/>
              <a:cs typeface="Calibri" panose="020F0502020204030204" pitchFamily="34" charset="0"/>
            </a:rPr>
            <a:t>Multi-Model Feature Fusion: </a:t>
          </a:r>
          <a:r>
            <a:rPr lang="en-SG" sz="1400" dirty="0">
              <a:latin typeface="Calibri" panose="020F0502020204030204" pitchFamily="34" charset="0"/>
              <a:ea typeface="Apple Symbols" panose="02000000000000000000" pitchFamily="2" charset="-79"/>
              <a:cs typeface="Calibri" panose="020F0502020204030204" pitchFamily="34" charset="0"/>
            </a:rPr>
            <a:t>Combines technical price indicators, macroeconomic context, and text sentiment scores into a single unified temporal vector.</a:t>
          </a:r>
          <a:endParaRPr lang="en-US" sz="1400" dirty="0">
            <a:latin typeface="Calibri" panose="020F0502020204030204" pitchFamily="34" charset="0"/>
            <a:ea typeface="Apple Symbols" panose="02000000000000000000" pitchFamily="2" charset="-79"/>
            <a:cs typeface="Calibri" panose="020F0502020204030204" pitchFamily="34" charset="0"/>
          </a:endParaRPr>
        </a:p>
      </dgm:t>
    </dgm:pt>
    <dgm:pt modelId="{4DCE67DC-2D72-42AF-AC5B-A18BA765405B}" type="parTrans" cxnId="{8A3F3384-8958-4D0B-9CC3-25069A990551}">
      <dgm:prSet/>
      <dgm:spPr/>
      <dgm:t>
        <a:bodyPr/>
        <a:lstStyle/>
        <a:p>
          <a:endParaRPr lang="en-US"/>
        </a:p>
      </dgm:t>
    </dgm:pt>
    <dgm:pt modelId="{42B851BC-B6C1-41B0-8188-65099B1FB861}" type="sibTrans" cxnId="{8A3F3384-8958-4D0B-9CC3-25069A990551}">
      <dgm:prSet/>
      <dgm:spPr/>
      <dgm:t>
        <a:bodyPr/>
        <a:lstStyle/>
        <a:p>
          <a:pPr>
            <a:lnSpc>
              <a:spcPct val="100000"/>
            </a:lnSpc>
          </a:pPr>
          <a:endParaRPr lang="en-US"/>
        </a:p>
      </dgm:t>
    </dgm:pt>
    <dgm:pt modelId="{09917CCF-8755-4DAB-8338-A792A35315C8}">
      <dgm:prSet custT="1"/>
      <dgm:spPr/>
      <dgm:t>
        <a:bodyPr/>
        <a:lstStyle/>
        <a:p>
          <a:pPr>
            <a:lnSpc>
              <a:spcPct val="100000"/>
            </a:lnSpc>
          </a:pPr>
          <a:r>
            <a:rPr lang="en-SG" sz="16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CNN Layer: </a:t>
          </a:r>
          <a:r>
            <a:rPr lang="en-SG" sz="16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Captures high-frequency spatial patterns and sudden local volatility shifts across the fused inputs</a:t>
          </a:r>
          <a:r>
            <a:rPr lang="en-SG" sz="1500" kern="1200" dirty="0">
              <a:latin typeface="Calibri" panose="020F0502020204030204" pitchFamily="34" charset="0"/>
              <a:cs typeface="Calibri" panose="020F0502020204030204" pitchFamily="34" charset="0"/>
            </a:rPr>
            <a:t>.</a:t>
          </a:r>
          <a:endParaRPr lang="en-US" sz="1500" kern="1200" dirty="0">
            <a:latin typeface="Calibri" panose="020F0502020204030204" pitchFamily="34" charset="0"/>
            <a:cs typeface="Calibri" panose="020F0502020204030204" pitchFamily="34" charset="0"/>
          </a:endParaRPr>
        </a:p>
      </dgm:t>
    </dgm:pt>
    <dgm:pt modelId="{F299F447-AC31-49A6-B71A-CF7E14ECF097}" type="parTrans" cxnId="{19B0BCBF-453D-41E4-9658-EF236A903630}">
      <dgm:prSet/>
      <dgm:spPr/>
      <dgm:t>
        <a:bodyPr/>
        <a:lstStyle/>
        <a:p>
          <a:endParaRPr lang="en-US"/>
        </a:p>
      </dgm:t>
    </dgm:pt>
    <dgm:pt modelId="{54902E2B-5B6B-4D00-84A8-5A58EEEE2398}" type="sibTrans" cxnId="{19B0BCBF-453D-41E4-9658-EF236A903630}">
      <dgm:prSet/>
      <dgm:spPr/>
      <dgm:t>
        <a:bodyPr/>
        <a:lstStyle/>
        <a:p>
          <a:pPr>
            <a:lnSpc>
              <a:spcPct val="100000"/>
            </a:lnSpc>
          </a:pPr>
          <a:endParaRPr lang="en-US"/>
        </a:p>
      </dgm:t>
    </dgm:pt>
    <dgm:pt modelId="{EEC32F93-6E27-476A-AACD-61E9FA387F7A}">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LSTM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Mitigates temporal sequence tracking challenges, keeping a persistent memory across changing step states.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gm:t>
    </dgm:pt>
    <dgm:pt modelId="{96F08C8E-20CB-4169-A5F4-12D2DD15CFFE}" type="parTrans" cxnId="{6400B3B0-F548-49F8-8984-9E71DF8518FD}">
      <dgm:prSet/>
      <dgm:spPr/>
      <dgm:t>
        <a:bodyPr/>
        <a:lstStyle/>
        <a:p>
          <a:endParaRPr lang="en-US"/>
        </a:p>
      </dgm:t>
    </dgm:pt>
    <dgm:pt modelId="{D267C452-8C9B-453F-AFB6-F78E4FC493BB}" type="sibTrans" cxnId="{6400B3B0-F548-49F8-8984-9E71DF8518FD}">
      <dgm:prSet/>
      <dgm:spPr/>
      <dgm:t>
        <a:bodyPr/>
        <a:lstStyle/>
        <a:p>
          <a:pPr>
            <a:lnSpc>
              <a:spcPct val="100000"/>
            </a:lnSpc>
          </a:pPr>
          <a:endParaRPr lang="en-US"/>
        </a:p>
      </dgm:t>
    </dgm:pt>
    <dgm:pt modelId="{506F747C-3263-496A-A109-8F2B9981206D}">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Transformer Block: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Applies self-attention mechanisms to understand long-range global market context, significantly cutting down on multi-step error propagation</a:t>
          </a:r>
          <a:r>
            <a:rPr lang="en-SG" sz="1400" kern="1200" dirty="0">
              <a:latin typeface="Calibri" panose="020F0502020204030204" pitchFamily="34" charset="0"/>
              <a:cs typeface="Calibri" panose="020F0502020204030204" pitchFamily="34" charset="0"/>
            </a:rPr>
            <a:t>.</a:t>
          </a:r>
          <a:endParaRPr lang="en-US" sz="1400" kern="1200" dirty="0">
            <a:latin typeface="Calibri" panose="020F0502020204030204" pitchFamily="34" charset="0"/>
            <a:cs typeface="Calibri" panose="020F0502020204030204" pitchFamily="34" charset="0"/>
          </a:endParaRPr>
        </a:p>
      </dgm:t>
    </dgm:pt>
    <dgm:pt modelId="{673F8554-3013-4CEA-91AE-EC5A986A0696}" type="parTrans" cxnId="{A7E3F541-DFBA-484C-A82A-D0B3463738AB}">
      <dgm:prSet/>
      <dgm:spPr/>
      <dgm:t>
        <a:bodyPr/>
        <a:lstStyle/>
        <a:p>
          <a:endParaRPr lang="en-US"/>
        </a:p>
      </dgm:t>
    </dgm:pt>
    <dgm:pt modelId="{5EAECC3D-BD02-47F4-A45F-FC2C89F9D56F}" type="sibTrans" cxnId="{A7E3F541-DFBA-484C-A82A-D0B3463738AB}">
      <dgm:prSet/>
      <dgm:spPr/>
      <dgm:t>
        <a:bodyPr/>
        <a:lstStyle/>
        <a:p>
          <a:pPr>
            <a:lnSpc>
              <a:spcPct val="100000"/>
            </a:lnSpc>
          </a:pPr>
          <a:endParaRPr lang="en-US"/>
        </a:p>
      </dgm:t>
    </dgm:pt>
    <dgm:pt modelId="{AB9E3F0C-8760-4671-979D-70530C789565}">
      <dgm:prSet custT="1"/>
      <dgm:spPr/>
      <dgm:t>
        <a:bodyPr/>
        <a:lstStyle/>
        <a:p>
          <a:pPr>
            <a:lnSpc>
              <a:spcPct val="100000"/>
            </a:lnSpc>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Regime-Aware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Stabilizes accuracy margins during black-swan or sudden macro-reversal events.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gm:t>
    </dgm:pt>
    <dgm:pt modelId="{0C16B3B6-3E7D-4000-B785-ECFFF74ABDE6}" type="parTrans" cxnId="{59BAFE2C-C94B-4514-8E52-18B47E091A68}">
      <dgm:prSet/>
      <dgm:spPr/>
      <dgm:t>
        <a:bodyPr/>
        <a:lstStyle/>
        <a:p>
          <a:endParaRPr lang="en-US"/>
        </a:p>
      </dgm:t>
    </dgm:pt>
    <dgm:pt modelId="{037D6BE3-FB3B-4931-A9CD-6D1C590474C9}" type="sibTrans" cxnId="{59BAFE2C-C94B-4514-8E52-18B47E091A68}">
      <dgm:prSet/>
      <dgm:spPr/>
      <dgm:t>
        <a:bodyPr/>
        <a:lstStyle/>
        <a:p>
          <a:endParaRPr lang="en-US"/>
        </a:p>
      </dgm:t>
    </dgm:pt>
    <dgm:pt modelId="{BD4B9DD0-FC1B-4F9A-955F-DBC0F2EDF886}" type="pres">
      <dgm:prSet presAssocID="{B9B9880A-42C2-435F-8AFE-9F69D604F170}" presName="root" presStyleCnt="0">
        <dgm:presLayoutVars>
          <dgm:dir/>
          <dgm:resizeHandles val="exact"/>
        </dgm:presLayoutVars>
      </dgm:prSet>
      <dgm:spPr/>
    </dgm:pt>
    <dgm:pt modelId="{6CE71091-97ED-4A26-8080-8266A4A696A1}" type="pres">
      <dgm:prSet presAssocID="{A78AFCB8-58F6-4AB2-8EDF-44FC34C16AAA}" presName="compNode" presStyleCnt="0"/>
      <dgm:spPr/>
    </dgm:pt>
    <dgm:pt modelId="{C1820A1D-22A4-4EA6-8C6D-2FA6308E9EA2}" type="pres">
      <dgm:prSet presAssocID="{A78AFCB8-58F6-4AB2-8EDF-44FC34C16AAA}" presName="bgRect" presStyleLbl="bgShp" presStyleIdx="0" presStyleCnt="5"/>
      <dgm:spPr/>
    </dgm:pt>
    <dgm:pt modelId="{BF1735FF-0383-4E87-A404-9FF1C2594905}" type="pres">
      <dgm:prSet presAssocID="{A78AFCB8-58F6-4AB2-8EDF-44FC34C16AA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Network Diagram"/>
        </a:ext>
      </dgm:extLst>
    </dgm:pt>
    <dgm:pt modelId="{4FEFFDE2-68B6-4CE0-BABD-5B26B916F474}" type="pres">
      <dgm:prSet presAssocID="{A78AFCB8-58F6-4AB2-8EDF-44FC34C16AAA}" presName="spaceRect" presStyleCnt="0"/>
      <dgm:spPr/>
    </dgm:pt>
    <dgm:pt modelId="{6909B22A-A95D-4D8C-A02E-0E79841FD410}" type="pres">
      <dgm:prSet presAssocID="{A78AFCB8-58F6-4AB2-8EDF-44FC34C16AAA}" presName="parTx" presStyleLbl="revTx" presStyleIdx="0" presStyleCnt="5">
        <dgm:presLayoutVars>
          <dgm:chMax val="0"/>
          <dgm:chPref val="0"/>
        </dgm:presLayoutVars>
      </dgm:prSet>
      <dgm:spPr/>
    </dgm:pt>
    <dgm:pt modelId="{187A4665-25FD-4742-8770-F05F3FE0FEC6}" type="pres">
      <dgm:prSet presAssocID="{42B851BC-B6C1-41B0-8188-65099B1FB861}" presName="sibTrans" presStyleCnt="0"/>
      <dgm:spPr/>
    </dgm:pt>
    <dgm:pt modelId="{C2DABDCC-B6D5-4373-B23E-9EDBD3726556}" type="pres">
      <dgm:prSet presAssocID="{09917CCF-8755-4DAB-8338-A792A35315C8}" presName="compNode" presStyleCnt="0"/>
      <dgm:spPr/>
    </dgm:pt>
    <dgm:pt modelId="{4F151E52-0B38-4A38-AF10-FB0A2D914E2B}" type="pres">
      <dgm:prSet presAssocID="{09917CCF-8755-4DAB-8338-A792A35315C8}" presName="bgRect" presStyleLbl="bgShp" presStyleIdx="1" presStyleCnt="5"/>
      <dgm:spPr/>
    </dgm:pt>
    <dgm:pt modelId="{89EDF4BA-90F7-4F9B-B8E0-DD622F96AB52}" type="pres">
      <dgm:prSet presAssocID="{09917CCF-8755-4DAB-8338-A792A35315C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a:ext>
      </dgm:extLst>
    </dgm:pt>
    <dgm:pt modelId="{0A2493FB-DF2D-44B1-A62E-3F3E10D234E1}" type="pres">
      <dgm:prSet presAssocID="{09917CCF-8755-4DAB-8338-A792A35315C8}" presName="spaceRect" presStyleCnt="0"/>
      <dgm:spPr/>
    </dgm:pt>
    <dgm:pt modelId="{68179FB2-9EBE-43DA-A5AE-E438796137D1}" type="pres">
      <dgm:prSet presAssocID="{09917CCF-8755-4DAB-8338-A792A35315C8}" presName="parTx" presStyleLbl="revTx" presStyleIdx="1" presStyleCnt="5">
        <dgm:presLayoutVars>
          <dgm:chMax val="0"/>
          <dgm:chPref val="0"/>
        </dgm:presLayoutVars>
      </dgm:prSet>
      <dgm:spPr/>
    </dgm:pt>
    <dgm:pt modelId="{B110901F-2D97-482A-8CCD-AF63A85233AA}" type="pres">
      <dgm:prSet presAssocID="{54902E2B-5B6B-4D00-84A8-5A58EEEE2398}" presName="sibTrans" presStyleCnt="0"/>
      <dgm:spPr/>
    </dgm:pt>
    <dgm:pt modelId="{4C25305A-8DC1-43B9-ABCE-894CAAA49F0F}" type="pres">
      <dgm:prSet presAssocID="{EEC32F93-6E27-476A-AACD-61E9FA387F7A}" presName="compNode" presStyleCnt="0"/>
      <dgm:spPr/>
    </dgm:pt>
    <dgm:pt modelId="{AC1D9F85-AF4F-47B9-8757-0FA06007A324}" type="pres">
      <dgm:prSet presAssocID="{EEC32F93-6E27-476A-AACD-61E9FA387F7A}" presName="bgRect" presStyleLbl="bgShp" presStyleIdx="2" presStyleCnt="5"/>
      <dgm:spPr/>
    </dgm:pt>
    <dgm:pt modelId="{CBFF576B-8F0C-4B9E-BEDA-067486871E47}" type="pres">
      <dgm:prSet presAssocID="{EEC32F93-6E27-476A-AACD-61E9FA387F7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isconnected"/>
        </a:ext>
      </dgm:extLst>
    </dgm:pt>
    <dgm:pt modelId="{7D71F74C-EE89-4490-8B7A-058CDDE0EDD8}" type="pres">
      <dgm:prSet presAssocID="{EEC32F93-6E27-476A-AACD-61E9FA387F7A}" presName="spaceRect" presStyleCnt="0"/>
      <dgm:spPr/>
    </dgm:pt>
    <dgm:pt modelId="{83B36830-1C38-48DC-99DB-2EFF03CF5EC6}" type="pres">
      <dgm:prSet presAssocID="{EEC32F93-6E27-476A-AACD-61E9FA387F7A}" presName="parTx" presStyleLbl="revTx" presStyleIdx="2" presStyleCnt="5">
        <dgm:presLayoutVars>
          <dgm:chMax val="0"/>
          <dgm:chPref val="0"/>
        </dgm:presLayoutVars>
      </dgm:prSet>
      <dgm:spPr/>
    </dgm:pt>
    <dgm:pt modelId="{CA597482-CF9B-4A2A-9041-0551CA8B5EF5}" type="pres">
      <dgm:prSet presAssocID="{D267C452-8C9B-453F-AFB6-F78E4FC493BB}" presName="sibTrans" presStyleCnt="0"/>
      <dgm:spPr/>
    </dgm:pt>
    <dgm:pt modelId="{F100CE2E-EBFE-483E-92BB-BB56CA866056}" type="pres">
      <dgm:prSet presAssocID="{506F747C-3263-496A-A109-8F2B9981206D}" presName="compNode" presStyleCnt="0"/>
      <dgm:spPr/>
    </dgm:pt>
    <dgm:pt modelId="{A3566696-41CC-487A-BAD1-AF5599FAD316}" type="pres">
      <dgm:prSet presAssocID="{506F747C-3263-496A-A109-8F2B9981206D}" presName="bgRect" presStyleLbl="bgShp" presStyleIdx="3" presStyleCnt="5"/>
      <dgm:spPr/>
    </dgm:pt>
    <dgm:pt modelId="{453C4D26-A036-4BA6-81CA-8B4E9AB11D5F}" type="pres">
      <dgm:prSet presAssocID="{506F747C-3263-496A-A109-8F2B9981206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ocket knife"/>
        </a:ext>
      </dgm:extLst>
    </dgm:pt>
    <dgm:pt modelId="{9B3F6CD6-46D5-4DB8-9EE9-C2582B96B1BC}" type="pres">
      <dgm:prSet presAssocID="{506F747C-3263-496A-A109-8F2B9981206D}" presName="spaceRect" presStyleCnt="0"/>
      <dgm:spPr/>
    </dgm:pt>
    <dgm:pt modelId="{D0DE2F49-2B4A-429F-9F6A-0D171E2023B1}" type="pres">
      <dgm:prSet presAssocID="{506F747C-3263-496A-A109-8F2B9981206D}" presName="parTx" presStyleLbl="revTx" presStyleIdx="3" presStyleCnt="5">
        <dgm:presLayoutVars>
          <dgm:chMax val="0"/>
          <dgm:chPref val="0"/>
        </dgm:presLayoutVars>
      </dgm:prSet>
      <dgm:spPr/>
    </dgm:pt>
    <dgm:pt modelId="{852C7A25-1857-4E0D-9309-F23C0F5EE4A9}" type="pres">
      <dgm:prSet presAssocID="{5EAECC3D-BD02-47F4-A45F-FC2C89F9D56F}" presName="sibTrans" presStyleCnt="0"/>
      <dgm:spPr/>
    </dgm:pt>
    <dgm:pt modelId="{E86AF042-F935-4AFC-9007-FB9EFF93E787}" type="pres">
      <dgm:prSet presAssocID="{AB9E3F0C-8760-4671-979D-70530C789565}" presName="compNode" presStyleCnt="0"/>
      <dgm:spPr/>
    </dgm:pt>
    <dgm:pt modelId="{5B503393-C86A-4FD1-A0D6-BFABE703ED79}" type="pres">
      <dgm:prSet presAssocID="{AB9E3F0C-8760-4671-979D-70530C789565}" presName="bgRect" presStyleLbl="bgShp" presStyleIdx="4" presStyleCnt="5"/>
      <dgm:spPr/>
    </dgm:pt>
    <dgm:pt modelId="{4B8DDBEB-48E0-4A1B-B915-CF43C6F79F25}" type="pres">
      <dgm:prSet presAssocID="{AB9E3F0C-8760-4671-979D-70530C78956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peed Bump"/>
        </a:ext>
      </dgm:extLst>
    </dgm:pt>
    <dgm:pt modelId="{B48B06E0-7E21-40CA-A233-99B4BA102EF9}" type="pres">
      <dgm:prSet presAssocID="{AB9E3F0C-8760-4671-979D-70530C789565}" presName="spaceRect" presStyleCnt="0"/>
      <dgm:spPr/>
    </dgm:pt>
    <dgm:pt modelId="{66DCD460-C19B-4473-AA55-E8D84B4B5B2E}" type="pres">
      <dgm:prSet presAssocID="{AB9E3F0C-8760-4671-979D-70530C789565}" presName="parTx" presStyleLbl="revTx" presStyleIdx="4" presStyleCnt="5">
        <dgm:presLayoutVars>
          <dgm:chMax val="0"/>
          <dgm:chPref val="0"/>
        </dgm:presLayoutVars>
      </dgm:prSet>
      <dgm:spPr/>
    </dgm:pt>
  </dgm:ptLst>
  <dgm:cxnLst>
    <dgm:cxn modelId="{59BAFE2C-C94B-4514-8E52-18B47E091A68}" srcId="{B9B9880A-42C2-435F-8AFE-9F69D604F170}" destId="{AB9E3F0C-8760-4671-979D-70530C789565}" srcOrd="4" destOrd="0" parTransId="{0C16B3B6-3E7D-4000-B785-ECFFF74ABDE6}" sibTransId="{037D6BE3-FB3B-4931-A9CD-6D1C590474C9}"/>
    <dgm:cxn modelId="{D3DBA33F-260E-1640-99BD-6E7A5EF1C25E}" type="presOf" srcId="{AB9E3F0C-8760-4671-979D-70530C789565}" destId="{66DCD460-C19B-4473-AA55-E8D84B4B5B2E}" srcOrd="0" destOrd="0" presId="urn:microsoft.com/office/officeart/2018/2/layout/IconVerticalSolidList"/>
    <dgm:cxn modelId="{A7E3F541-DFBA-484C-A82A-D0B3463738AB}" srcId="{B9B9880A-42C2-435F-8AFE-9F69D604F170}" destId="{506F747C-3263-496A-A109-8F2B9981206D}" srcOrd="3" destOrd="0" parTransId="{673F8554-3013-4CEA-91AE-EC5A986A0696}" sibTransId="{5EAECC3D-BD02-47F4-A45F-FC2C89F9D56F}"/>
    <dgm:cxn modelId="{08DCB581-516B-7743-BFC6-08EE1B88E03F}" type="presOf" srcId="{506F747C-3263-496A-A109-8F2B9981206D}" destId="{D0DE2F49-2B4A-429F-9F6A-0D171E2023B1}" srcOrd="0" destOrd="0" presId="urn:microsoft.com/office/officeart/2018/2/layout/IconVerticalSolidList"/>
    <dgm:cxn modelId="{8A3F3384-8958-4D0B-9CC3-25069A990551}" srcId="{B9B9880A-42C2-435F-8AFE-9F69D604F170}" destId="{A78AFCB8-58F6-4AB2-8EDF-44FC34C16AAA}" srcOrd="0" destOrd="0" parTransId="{4DCE67DC-2D72-42AF-AC5B-A18BA765405B}" sibTransId="{42B851BC-B6C1-41B0-8188-65099B1FB861}"/>
    <dgm:cxn modelId="{6400B3B0-F548-49F8-8984-9E71DF8518FD}" srcId="{B9B9880A-42C2-435F-8AFE-9F69D604F170}" destId="{EEC32F93-6E27-476A-AACD-61E9FA387F7A}" srcOrd="2" destOrd="0" parTransId="{96F08C8E-20CB-4169-A5F4-12D2DD15CFFE}" sibTransId="{D267C452-8C9B-453F-AFB6-F78E4FC493BB}"/>
    <dgm:cxn modelId="{9F0EDCB8-87CB-064A-A223-0B5546A2F6A8}" type="presOf" srcId="{A78AFCB8-58F6-4AB2-8EDF-44FC34C16AAA}" destId="{6909B22A-A95D-4D8C-A02E-0E79841FD410}" srcOrd="0" destOrd="0" presId="urn:microsoft.com/office/officeart/2018/2/layout/IconVerticalSolidList"/>
    <dgm:cxn modelId="{19B0BCBF-453D-41E4-9658-EF236A903630}" srcId="{B9B9880A-42C2-435F-8AFE-9F69D604F170}" destId="{09917CCF-8755-4DAB-8338-A792A35315C8}" srcOrd="1" destOrd="0" parTransId="{F299F447-AC31-49A6-B71A-CF7E14ECF097}" sibTransId="{54902E2B-5B6B-4D00-84A8-5A58EEEE2398}"/>
    <dgm:cxn modelId="{B7EFC1C8-1656-5A4A-960C-A21DBEADA69F}" type="presOf" srcId="{B9B9880A-42C2-435F-8AFE-9F69D604F170}" destId="{BD4B9DD0-FC1B-4F9A-955F-DBC0F2EDF886}" srcOrd="0" destOrd="0" presId="urn:microsoft.com/office/officeart/2018/2/layout/IconVerticalSolidList"/>
    <dgm:cxn modelId="{EB2A5CCB-8098-8248-9A97-6FA526D7EDD4}" type="presOf" srcId="{09917CCF-8755-4DAB-8338-A792A35315C8}" destId="{68179FB2-9EBE-43DA-A5AE-E438796137D1}" srcOrd="0" destOrd="0" presId="urn:microsoft.com/office/officeart/2018/2/layout/IconVerticalSolidList"/>
    <dgm:cxn modelId="{AFB97DD5-830F-2842-8AE5-F295A6914789}" type="presOf" srcId="{EEC32F93-6E27-476A-AACD-61E9FA387F7A}" destId="{83B36830-1C38-48DC-99DB-2EFF03CF5EC6}" srcOrd="0" destOrd="0" presId="urn:microsoft.com/office/officeart/2018/2/layout/IconVerticalSolidList"/>
    <dgm:cxn modelId="{28799B09-3E13-7949-97BF-A4991BD8BA44}" type="presParOf" srcId="{BD4B9DD0-FC1B-4F9A-955F-DBC0F2EDF886}" destId="{6CE71091-97ED-4A26-8080-8266A4A696A1}" srcOrd="0" destOrd="0" presId="urn:microsoft.com/office/officeart/2018/2/layout/IconVerticalSolidList"/>
    <dgm:cxn modelId="{5E0A0D22-AB94-8248-925C-1E7A37DC95FC}" type="presParOf" srcId="{6CE71091-97ED-4A26-8080-8266A4A696A1}" destId="{C1820A1D-22A4-4EA6-8C6D-2FA6308E9EA2}" srcOrd="0" destOrd="0" presId="urn:microsoft.com/office/officeart/2018/2/layout/IconVerticalSolidList"/>
    <dgm:cxn modelId="{332C76EB-A9AB-EE47-A256-3372263AAB3D}" type="presParOf" srcId="{6CE71091-97ED-4A26-8080-8266A4A696A1}" destId="{BF1735FF-0383-4E87-A404-9FF1C2594905}" srcOrd="1" destOrd="0" presId="urn:microsoft.com/office/officeart/2018/2/layout/IconVerticalSolidList"/>
    <dgm:cxn modelId="{25DBC16F-D2E1-E940-AE29-64C52CD35F4B}" type="presParOf" srcId="{6CE71091-97ED-4A26-8080-8266A4A696A1}" destId="{4FEFFDE2-68B6-4CE0-BABD-5B26B916F474}" srcOrd="2" destOrd="0" presId="urn:microsoft.com/office/officeart/2018/2/layout/IconVerticalSolidList"/>
    <dgm:cxn modelId="{2991988D-9147-B944-8E7B-26757255D2E1}" type="presParOf" srcId="{6CE71091-97ED-4A26-8080-8266A4A696A1}" destId="{6909B22A-A95D-4D8C-A02E-0E79841FD410}" srcOrd="3" destOrd="0" presId="urn:microsoft.com/office/officeart/2018/2/layout/IconVerticalSolidList"/>
    <dgm:cxn modelId="{C35B9C20-2F41-BE4B-8AAC-FDB381F5CE11}" type="presParOf" srcId="{BD4B9DD0-FC1B-4F9A-955F-DBC0F2EDF886}" destId="{187A4665-25FD-4742-8770-F05F3FE0FEC6}" srcOrd="1" destOrd="0" presId="urn:microsoft.com/office/officeart/2018/2/layout/IconVerticalSolidList"/>
    <dgm:cxn modelId="{508CBB33-9CB2-5640-9CE8-CFE7454069DA}" type="presParOf" srcId="{BD4B9DD0-FC1B-4F9A-955F-DBC0F2EDF886}" destId="{C2DABDCC-B6D5-4373-B23E-9EDBD3726556}" srcOrd="2" destOrd="0" presId="urn:microsoft.com/office/officeart/2018/2/layout/IconVerticalSolidList"/>
    <dgm:cxn modelId="{37A74CD0-BB11-9942-BFE1-4242FF6432B7}" type="presParOf" srcId="{C2DABDCC-B6D5-4373-B23E-9EDBD3726556}" destId="{4F151E52-0B38-4A38-AF10-FB0A2D914E2B}" srcOrd="0" destOrd="0" presId="urn:microsoft.com/office/officeart/2018/2/layout/IconVerticalSolidList"/>
    <dgm:cxn modelId="{4C7DF19C-44C4-BC4A-A2E0-6072F0E9B99D}" type="presParOf" srcId="{C2DABDCC-B6D5-4373-B23E-9EDBD3726556}" destId="{89EDF4BA-90F7-4F9B-B8E0-DD622F96AB52}" srcOrd="1" destOrd="0" presId="urn:microsoft.com/office/officeart/2018/2/layout/IconVerticalSolidList"/>
    <dgm:cxn modelId="{96A76C84-BEBB-5F4D-B7DC-CBE4B963A85F}" type="presParOf" srcId="{C2DABDCC-B6D5-4373-B23E-9EDBD3726556}" destId="{0A2493FB-DF2D-44B1-A62E-3F3E10D234E1}" srcOrd="2" destOrd="0" presId="urn:microsoft.com/office/officeart/2018/2/layout/IconVerticalSolidList"/>
    <dgm:cxn modelId="{7224ABED-87F9-F943-8542-862ED6FE435B}" type="presParOf" srcId="{C2DABDCC-B6D5-4373-B23E-9EDBD3726556}" destId="{68179FB2-9EBE-43DA-A5AE-E438796137D1}" srcOrd="3" destOrd="0" presId="urn:microsoft.com/office/officeart/2018/2/layout/IconVerticalSolidList"/>
    <dgm:cxn modelId="{50C179B5-C65F-6741-9805-06F7890E69C8}" type="presParOf" srcId="{BD4B9DD0-FC1B-4F9A-955F-DBC0F2EDF886}" destId="{B110901F-2D97-482A-8CCD-AF63A85233AA}" srcOrd="3" destOrd="0" presId="urn:microsoft.com/office/officeart/2018/2/layout/IconVerticalSolidList"/>
    <dgm:cxn modelId="{043B4C73-0A16-1043-B1BB-709388DFEC2D}" type="presParOf" srcId="{BD4B9DD0-FC1B-4F9A-955F-DBC0F2EDF886}" destId="{4C25305A-8DC1-43B9-ABCE-894CAAA49F0F}" srcOrd="4" destOrd="0" presId="urn:microsoft.com/office/officeart/2018/2/layout/IconVerticalSolidList"/>
    <dgm:cxn modelId="{F0978871-A954-444E-BC66-9DDB821FA7E6}" type="presParOf" srcId="{4C25305A-8DC1-43B9-ABCE-894CAAA49F0F}" destId="{AC1D9F85-AF4F-47B9-8757-0FA06007A324}" srcOrd="0" destOrd="0" presId="urn:microsoft.com/office/officeart/2018/2/layout/IconVerticalSolidList"/>
    <dgm:cxn modelId="{14DF01D8-32F2-1744-9336-4F731F888CF5}" type="presParOf" srcId="{4C25305A-8DC1-43B9-ABCE-894CAAA49F0F}" destId="{CBFF576B-8F0C-4B9E-BEDA-067486871E47}" srcOrd="1" destOrd="0" presId="urn:microsoft.com/office/officeart/2018/2/layout/IconVerticalSolidList"/>
    <dgm:cxn modelId="{DF669F5B-230F-7349-8958-8427BE5B7668}" type="presParOf" srcId="{4C25305A-8DC1-43B9-ABCE-894CAAA49F0F}" destId="{7D71F74C-EE89-4490-8B7A-058CDDE0EDD8}" srcOrd="2" destOrd="0" presId="urn:microsoft.com/office/officeart/2018/2/layout/IconVerticalSolidList"/>
    <dgm:cxn modelId="{8DEFA412-7F29-A148-BF8E-5BBA64088A94}" type="presParOf" srcId="{4C25305A-8DC1-43B9-ABCE-894CAAA49F0F}" destId="{83B36830-1C38-48DC-99DB-2EFF03CF5EC6}" srcOrd="3" destOrd="0" presId="urn:microsoft.com/office/officeart/2018/2/layout/IconVerticalSolidList"/>
    <dgm:cxn modelId="{102E0F30-60A6-804E-8A5B-815E8F324065}" type="presParOf" srcId="{BD4B9DD0-FC1B-4F9A-955F-DBC0F2EDF886}" destId="{CA597482-CF9B-4A2A-9041-0551CA8B5EF5}" srcOrd="5" destOrd="0" presId="urn:microsoft.com/office/officeart/2018/2/layout/IconVerticalSolidList"/>
    <dgm:cxn modelId="{593C4B10-8C1D-FF4D-BB4E-FC48A2FA89CC}" type="presParOf" srcId="{BD4B9DD0-FC1B-4F9A-955F-DBC0F2EDF886}" destId="{F100CE2E-EBFE-483E-92BB-BB56CA866056}" srcOrd="6" destOrd="0" presId="urn:microsoft.com/office/officeart/2018/2/layout/IconVerticalSolidList"/>
    <dgm:cxn modelId="{EAA30D1B-CBAF-B843-8B60-F53FA1D6F43A}" type="presParOf" srcId="{F100CE2E-EBFE-483E-92BB-BB56CA866056}" destId="{A3566696-41CC-487A-BAD1-AF5599FAD316}" srcOrd="0" destOrd="0" presId="urn:microsoft.com/office/officeart/2018/2/layout/IconVerticalSolidList"/>
    <dgm:cxn modelId="{5843E6C2-2296-DA44-B47F-A0C73448423C}" type="presParOf" srcId="{F100CE2E-EBFE-483E-92BB-BB56CA866056}" destId="{453C4D26-A036-4BA6-81CA-8B4E9AB11D5F}" srcOrd="1" destOrd="0" presId="urn:microsoft.com/office/officeart/2018/2/layout/IconVerticalSolidList"/>
    <dgm:cxn modelId="{60ADC194-1D83-744C-9444-42F7917D07EE}" type="presParOf" srcId="{F100CE2E-EBFE-483E-92BB-BB56CA866056}" destId="{9B3F6CD6-46D5-4DB8-9EE9-C2582B96B1BC}" srcOrd="2" destOrd="0" presId="urn:microsoft.com/office/officeart/2018/2/layout/IconVerticalSolidList"/>
    <dgm:cxn modelId="{934DA457-12AC-694C-8AF3-0FBBF3ADEB46}" type="presParOf" srcId="{F100CE2E-EBFE-483E-92BB-BB56CA866056}" destId="{D0DE2F49-2B4A-429F-9F6A-0D171E2023B1}" srcOrd="3" destOrd="0" presId="urn:microsoft.com/office/officeart/2018/2/layout/IconVerticalSolidList"/>
    <dgm:cxn modelId="{C878A561-1A98-C646-9478-9D1ACFFBC5CF}" type="presParOf" srcId="{BD4B9DD0-FC1B-4F9A-955F-DBC0F2EDF886}" destId="{852C7A25-1857-4E0D-9309-F23C0F5EE4A9}" srcOrd="7" destOrd="0" presId="urn:microsoft.com/office/officeart/2018/2/layout/IconVerticalSolidList"/>
    <dgm:cxn modelId="{E4D0F370-B64D-F441-8C24-3266A3CB67BE}" type="presParOf" srcId="{BD4B9DD0-FC1B-4F9A-955F-DBC0F2EDF886}" destId="{E86AF042-F935-4AFC-9007-FB9EFF93E787}" srcOrd="8" destOrd="0" presId="urn:microsoft.com/office/officeart/2018/2/layout/IconVerticalSolidList"/>
    <dgm:cxn modelId="{E1FA25E0-9DE9-B249-AE3C-706D909469F4}" type="presParOf" srcId="{E86AF042-F935-4AFC-9007-FB9EFF93E787}" destId="{5B503393-C86A-4FD1-A0D6-BFABE703ED79}" srcOrd="0" destOrd="0" presId="urn:microsoft.com/office/officeart/2018/2/layout/IconVerticalSolidList"/>
    <dgm:cxn modelId="{1D433D30-B460-9F45-A01B-960DCFD67D61}" type="presParOf" srcId="{E86AF042-F935-4AFC-9007-FB9EFF93E787}" destId="{4B8DDBEB-48E0-4A1B-B915-CF43C6F79F25}" srcOrd="1" destOrd="0" presId="urn:microsoft.com/office/officeart/2018/2/layout/IconVerticalSolidList"/>
    <dgm:cxn modelId="{34E77490-8401-6747-A0A7-9ACA58ECC6C1}" type="presParOf" srcId="{E86AF042-F935-4AFC-9007-FB9EFF93E787}" destId="{B48B06E0-7E21-40CA-A233-99B4BA102EF9}" srcOrd="2" destOrd="0" presId="urn:microsoft.com/office/officeart/2018/2/layout/IconVerticalSolidList"/>
    <dgm:cxn modelId="{E30468D9-47C7-DE41-8F1B-497774FEC519}" type="presParOf" srcId="{E86AF042-F935-4AFC-9007-FB9EFF93E787}" destId="{66DCD460-C19B-4473-AA55-E8D84B4B5B2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20A1D-22A4-4EA6-8C6D-2FA6308E9EA2}">
      <dsp:nvSpPr>
        <dsp:cNvPr id="0" name=""/>
        <dsp:cNvSpPr/>
      </dsp:nvSpPr>
      <dsp:spPr>
        <a:xfrm>
          <a:off x="0" y="4102"/>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1735FF-0383-4E87-A404-9FF1C2594905}">
      <dsp:nvSpPr>
        <dsp:cNvPr id="0" name=""/>
        <dsp:cNvSpPr/>
      </dsp:nvSpPr>
      <dsp:spPr>
        <a:xfrm>
          <a:off x="264325" y="200708"/>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09B22A-A95D-4D8C-A02E-0E79841FD410}">
      <dsp:nvSpPr>
        <dsp:cNvPr id="0" name=""/>
        <dsp:cNvSpPr/>
      </dsp:nvSpPr>
      <dsp:spPr>
        <a:xfrm>
          <a:off x="1009242" y="4102"/>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Multi-Model Feature Fusion: </a:t>
          </a:r>
          <a:r>
            <a:rPr lang="en-SG" sz="1400" kern="1200" dirty="0">
              <a:latin typeface="Calibri" panose="020F0502020204030204" pitchFamily="34" charset="0"/>
              <a:ea typeface="Apple Symbols" panose="02000000000000000000" pitchFamily="2" charset="-79"/>
              <a:cs typeface="Calibri" panose="020F0502020204030204" pitchFamily="34" charset="0"/>
            </a:rPr>
            <a:t>Combines technical price indicators, macroeconomic context, and text sentiment scores into a single unified temporal vector.</a:t>
          </a:r>
          <a:endParaRPr lang="en-US" sz="1400" kern="1200" dirty="0">
            <a:latin typeface="Calibri" panose="020F0502020204030204" pitchFamily="34" charset="0"/>
            <a:ea typeface="Apple Symbols" panose="02000000000000000000" pitchFamily="2" charset="-79"/>
            <a:cs typeface="Calibri" panose="020F0502020204030204" pitchFamily="34" charset="0"/>
          </a:endParaRPr>
        </a:p>
      </dsp:txBody>
      <dsp:txXfrm>
        <a:off x="1009242" y="4102"/>
        <a:ext cx="5277477" cy="873802"/>
      </dsp:txXfrm>
    </dsp:sp>
    <dsp:sp modelId="{4F151E52-0B38-4A38-AF10-FB0A2D914E2B}">
      <dsp:nvSpPr>
        <dsp:cNvPr id="0" name=""/>
        <dsp:cNvSpPr/>
      </dsp:nvSpPr>
      <dsp:spPr>
        <a:xfrm>
          <a:off x="0" y="1096355"/>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EDF4BA-90F7-4F9B-B8E0-DD622F96AB52}">
      <dsp:nvSpPr>
        <dsp:cNvPr id="0" name=""/>
        <dsp:cNvSpPr/>
      </dsp:nvSpPr>
      <dsp:spPr>
        <a:xfrm>
          <a:off x="264325" y="1292961"/>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179FB2-9EBE-43DA-A5AE-E438796137D1}">
      <dsp:nvSpPr>
        <dsp:cNvPr id="0" name=""/>
        <dsp:cNvSpPr/>
      </dsp:nvSpPr>
      <dsp:spPr>
        <a:xfrm>
          <a:off x="1009242" y="1096355"/>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711200">
            <a:lnSpc>
              <a:spcPct val="100000"/>
            </a:lnSpc>
            <a:spcBef>
              <a:spcPct val="0"/>
            </a:spcBef>
            <a:spcAft>
              <a:spcPct val="35000"/>
            </a:spcAft>
            <a:buNone/>
          </a:pPr>
          <a:r>
            <a:rPr lang="en-SG" sz="16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CNN Layer: </a:t>
          </a:r>
          <a:r>
            <a:rPr lang="en-SG" sz="16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Captures high-frequency spatial patterns and sudden local volatility shifts across the fused inputs</a:t>
          </a:r>
          <a:r>
            <a:rPr lang="en-SG" sz="1500" kern="1200" dirty="0">
              <a:latin typeface="Calibri" panose="020F0502020204030204" pitchFamily="34" charset="0"/>
              <a:cs typeface="Calibri" panose="020F0502020204030204" pitchFamily="34" charset="0"/>
            </a:rPr>
            <a:t>.</a:t>
          </a:r>
          <a:endParaRPr lang="en-US" sz="1500" kern="1200" dirty="0">
            <a:latin typeface="Calibri" panose="020F0502020204030204" pitchFamily="34" charset="0"/>
            <a:cs typeface="Calibri" panose="020F0502020204030204" pitchFamily="34" charset="0"/>
          </a:endParaRPr>
        </a:p>
      </dsp:txBody>
      <dsp:txXfrm>
        <a:off x="1009242" y="1096355"/>
        <a:ext cx="5277477" cy="873802"/>
      </dsp:txXfrm>
    </dsp:sp>
    <dsp:sp modelId="{AC1D9F85-AF4F-47B9-8757-0FA06007A324}">
      <dsp:nvSpPr>
        <dsp:cNvPr id="0" name=""/>
        <dsp:cNvSpPr/>
      </dsp:nvSpPr>
      <dsp:spPr>
        <a:xfrm>
          <a:off x="0" y="2188609"/>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F576B-8F0C-4B9E-BEDA-067486871E47}">
      <dsp:nvSpPr>
        <dsp:cNvPr id="0" name=""/>
        <dsp:cNvSpPr/>
      </dsp:nvSpPr>
      <dsp:spPr>
        <a:xfrm>
          <a:off x="264325" y="2385215"/>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B36830-1C38-48DC-99DB-2EFF03CF5EC6}">
      <dsp:nvSpPr>
        <dsp:cNvPr id="0" name=""/>
        <dsp:cNvSpPr/>
      </dsp:nvSpPr>
      <dsp:spPr>
        <a:xfrm>
          <a:off x="1009242" y="2188609"/>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LSTM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Mitigates temporal sequence tracking challenges, keeping a persistent memory across changing step states.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sp:txBody>
      <dsp:txXfrm>
        <a:off x="1009242" y="2188609"/>
        <a:ext cx="5277477" cy="873802"/>
      </dsp:txXfrm>
    </dsp:sp>
    <dsp:sp modelId="{A3566696-41CC-487A-BAD1-AF5599FAD316}">
      <dsp:nvSpPr>
        <dsp:cNvPr id="0" name=""/>
        <dsp:cNvSpPr/>
      </dsp:nvSpPr>
      <dsp:spPr>
        <a:xfrm>
          <a:off x="0" y="3280863"/>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C4D26-A036-4BA6-81CA-8B4E9AB11D5F}">
      <dsp:nvSpPr>
        <dsp:cNvPr id="0" name=""/>
        <dsp:cNvSpPr/>
      </dsp:nvSpPr>
      <dsp:spPr>
        <a:xfrm>
          <a:off x="264325" y="3477468"/>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DE2F49-2B4A-429F-9F6A-0D171E2023B1}">
      <dsp:nvSpPr>
        <dsp:cNvPr id="0" name=""/>
        <dsp:cNvSpPr/>
      </dsp:nvSpPr>
      <dsp:spPr>
        <a:xfrm>
          <a:off x="1009242" y="3280863"/>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Transformer Block: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Applies self-attention mechanisms to understand long-range global market context, significantly cutting down on multi-step error propagation</a:t>
          </a:r>
          <a:r>
            <a:rPr lang="en-SG" sz="1400" kern="1200" dirty="0">
              <a:latin typeface="Calibri" panose="020F0502020204030204" pitchFamily="34" charset="0"/>
              <a:cs typeface="Calibri" panose="020F0502020204030204" pitchFamily="34" charset="0"/>
            </a:rPr>
            <a:t>.</a:t>
          </a:r>
          <a:endParaRPr lang="en-US" sz="1400" kern="1200" dirty="0">
            <a:latin typeface="Calibri" panose="020F0502020204030204" pitchFamily="34" charset="0"/>
            <a:cs typeface="Calibri" panose="020F0502020204030204" pitchFamily="34" charset="0"/>
          </a:endParaRPr>
        </a:p>
      </dsp:txBody>
      <dsp:txXfrm>
        <a:off x="1009242" y="3280863"/>
        <a:ext cx="5277477" cy="873802"/>
      </dsp:txXfrm>
    </dsp:sp>
    <dsp:sp modelId="{5B503393-C86A-4FD1-A0D6-BFABE703ED79}">
      <dsp:nvSpPr>
        <dsp:cNvPr id="0" name=""/>
        <dsp:cNvSpPr/>
      </dsp:nvSpPr>
      <dsp:spPr>
        <a:xfrm>
          <a:off x="0" y="4373116"/>
          <a:ext cx="6286720" cy="87380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8DDBEB-48E0-4A1B-B915-CF43C6F79F25}">
      <dsp:nvSpPr>
        <dsp:cNvPr id="0" name=""/>
        <dsp:cNvSpPr/>
      </dsp:nvSpPr>
      <dsp:spPr>
        <a:xfrm>
          <a:off x="264325" y="4569722"/>
          <a:ext cx="480591" cy="4805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DCD460-C19B-4473-AA55-E8D84B4B5B2E}">
      <dsp:nvSpPr>
        <dsp:cNvPr id="0" name=""/>
        <dsp:cNvSpPr/>
      </dsp:nvSpPr>
      <dsp:spPr>
        <a:xfrm>
          <a:off x="1009242" y="4373116"/>
          <a:ext cx="5277477" cy="8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77" tIns="92477" rIns="92477" bIns="92477" numCol="1" spcCol="1270" anchor="ctr" anchorCtr="0">
          <a:noAutofit/>
        </a:bodyPr>
        <a:lstStyle/>
        <a:p>
          <a:pPr marL="0" lvl="0" indent="0" algn="l" defTabSz="622300">
            <a:lnSpc>
              <a:spcPct val="100000"/>
            </a:lnSpc>
            <a:spcBef>
              <a:spcPct val="0"/>
            </a:spcBef>
            <a:spcAft>
              <a:spcPct val="35000"/>
            </a:spcAft>
            <a:buNone/>
          </a:pPr>
          <a:r>
            <a:rPr lang="en-SG" sz="1400" kern="1200" dirty="0">
              <a:solidFill>
                <a:srgbClr val="7030A0"/>
              </a:solidFill>
              <a:latin typeface="Calibri" panose="020F0502020204030204" pitchFamily="34" charset="0"/>
              <a:ea typeface="Apple Symbols" panose="02000000000000000000" pitchFamily="2" charset="-79"/>
              <a:cs typeface="Calibri" panose="020F0502020204030204" pitchFamily="34" charset="0"/>
            </a:rPr>
            <a:t>Regime-Aware Layer: </a:t>
          </a:r>
          <a:r>
            <a:rPr lang="en-SG"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rPr>
            <a:t>Stabilizes accuracy margins during black-swan or sudden macro-reversal events.</a:t>
          </a:r>
          <a:endParaRPr lang="en-US" sz="1400" kern="1200" dirty="0">
            <a:solidFill>
              <a:srgbClr val="000000">
                <a:hueOff val="0"/>
                <a:satOff val="0"/>
                <a:lumOff val="0"/>
                <a:alphaOff val="0"/>
              </a:srgbClr>
            </a:solidFill>
            <a:latin typeface="Calibri" panose="020F0502020204030204" pitchFamily="34" charset="0"/>
            <a:ea typeface="Apple Symbols" panose="02000000000000000000" pitchFamily="2" charset="-79"/>
            <a:cs typeface="Calibri" panose="020F0502020204030204" pitchFamily="34" charset="0"/>
          </a:endParaRPr>
        </a:p>
      </dsp:txBody>
      <dsp:txXfrm>
        <a:off x="1009242" y="4373116"/>
        <a:ext cx="5277477" cy="8738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bg1">
                <a:lumMod val="81604"/>
                <a:alpha val="31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0027F390-A853-AD11-AEFF-22B534AC6C89}"/>
              </a:ext>
            </a:extLst>
          </p:cNvPr>
          <p:cNvPicPr>
            <a:picLocks noChangeAspect="1"/>
          </p:cNvPicPr>
          <p:nvPr/>
        </p:nvPicPr>
        <p:blipFill>
          <a:blip r:embed="rId2"/>
          <a:srcRect b="15429"/>
          <a:stretch>
            <a:fillRect/>
          </a:stretch>
        </p:blipFill>
        <p:spPr>
          <a:xfrm>
            <a:off x="20" y="1282"/>
            <a:ext cx="12191980" cy="6856718"/>
          </a:xfrm>
          <a:prstGeom prst="rect">
            <a:avLst/>
          </a:prstGeom>
        </p:spPr>
      </p:pic>
      <p:sp>
        <p:nvSpPr>
          <p:cNvPr id="6" name="Title 1">
            <a:extLst>
              <a:ext uri="{FF2B5EF4-FFF2-40B4-BE49-F238E27FC236}">
                <a16:creationId xmlns:a16="http://schemas.microsoft.com/office/drawing/2014/main" id="{BB7FDEFC-D714-A474-5843-39CCA6BB5C0E}"/>
              </a:ext>
            </a:extLst>
          </p:cNvPr>
          <p:cNvSpPr>
            <a:spLocks noGrp="1"/>
          </p:cNvSpPr>
          <p:nvPr>
            <p:ph type="ctrTitle"/>
          </p:nvPr>
        </p:nvSpPr>
        <p:spPr>
          <a:xfrm>
            <a:off x="409157" y="2186580"/>
            <a:ext cx="5059826" cy="781379"/>
          </a:xfrm>
        </p:spPr>
        <p:txBody>
          <a:bodyPr>
            <a:normAutofit/>
          </a:bodyPr>
          <a:lstStyle/>
          <a:p>
            <a:r>
              <a:rPr lang="en-US" sz="3000" b="1" dirty="0">
                <a:solidFill>
                  <a:schemeClr val="tx2">
                    <a:lumMod val="25000"/>
                  </a:schemeClr>
                </a:solidFill>
                <a:latin typeface="Calibri" panose="020F0502020204030204" pitchFamily="34" charset="0"/>
                <a:cs typeface="Calibri" panose="020F0502020204030204" pitchFamily="34" charset="0"/>
              </a:rPr>
              <a:t>Decoding Currency Dynamics</a:t>
            </a:r>
          </a:p>
        </p:txBody>
      </p:sp>
      <p:sp>
        <p:nvSpPr>
          <p:cNvPr id="7" name="Subtitle 2">
            <a:extLst>
              <a:ext uri="{FF2B5EF4-FFF2-40B4-BE49-F238E27FC236}">
                <a16:creationId xmlns:a16="http://schemas.microsoft.com/office/drawing/2014/main" id="{A7D56B73-8C1A-2947-75D3-CC776C74E57A}"/>
              </a:ext>
            </a:extLst>
          </p:cNvPr>
          <p:cNvSpPr>
            <a:spLocks noGrp="1"/>
          </p:cNvSpPr>
          <p:nvPr>
            <p:ph type="subTitle" idx="1"/>
          </p:nvPr>
        </p:nvSpPr>
        <p:spPr>
          <a:xfrm>
            <a:off x="627695" y="3079209"/>
            <a:ext cx="4431162" cy="699582"/>
          </a:xfrm>
        </p:spPr>
        <p:txBody>
          <a:bodyPr>
            <a:normAutofit lnSpcReduction="10000"/>
          </a:bodyPr>
          <a:lstStyle/>
          <a:p>
            <a:pPr marL="0" lvl="0" indent="0">
              <a:lnSpc>
                <a:spcPct val="90000"/>
              </a:lnSpc>
              <a:spcBef>
                <a:spcPts val="0"/>
              </a:spcBef>
              <a:spcAft>
                <a:spcPts val="600"/>
              </a:spcAft>
            </a:pPr>
            <a:r>
              <a:rPr lang="en-US" sz="2000" dirty="0">
                <a:solidFill>
                  <a:schemeClr val="bg2">
                    <a:lumMod val="75000"/>
                  </a:schemeClr>
                </a:solidFill>
                <a:latin typeface="Calibri" panose="020F0502020204030204" pitchFamily="34" charset="0"/>
                <a:ea typeface="Inter Light"/>
                <a:cs typeface="Calibri" panose="020F0502020204030204" pitchFamily="34" charset="0"/>
                <a:sym typeface="Inter Light"/>
              </a:rPr>
              <a:t>AI-Driven Multi-Step Forecasting of Foreign Exchange Rates</a:t>
            </a:r>
            <a:endParaRPr lang="en-US" sz="2000" dirty="0">
              <a:solidFill>
                <a:schemeClr val="bg2">
                  <a:lumMod val="75000"/>
                </a:schemeClr>
              </a:solidFill>
              <a:latin typeface="Calibri" panose="020F0502020204030204" pitchFamily="34" charset="0"/>
              <a:cs typeface="Calibri" panose="020F0502020204030204" pitchFamily="34" charset="0"/>
            </a:endParaRPr>
          </a:p>
        </p:txBody>
      </p:sp>
      <p:sp>
        <p:nvSpPr>
          <p:cNvPr id="8" name="Subtitle 2">
            <a:extLst>
              <a:ext uri="{FF2B5EF4-FFF2-40B4-BE49-F238E27FC236}">
                <a16:creationId xmlns:a16="http://schemas.microsoft.com/office/drawing/2014/main" id="{83776408-F440-2EA1-CC97-F519A744C084}"/>
              </a:ext>
            </a:extLst>
          </p:cNvPr>
          <p:cNvSpPr txBox="1">
            <a:spLocks/>
          </p:cNvSpPr>
          <p:nvPr/>
        </p:nvSpPr>
        <p:spPr>
          <a:xfrm>
            <a:off x="296091" y="5357245"/>
            <a:ext cx="3126377" cy="60812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gn="l">
              <a:lnSpc>
                <a:spcPct val="90000"/>
              </a:lnSpc>
              <a:spcBef>
                <a:spcPts val="0"/>
              </a:spcBef>
              <a:spcAft>
                <a:spcPts val="600"/>
              </a:spcAft>
            </a:pPr>
            <a:r>
              <a:rPr lang="en-US" sz="1200" dirty="0">
                <a:solidFill>
                  <a:schemeClr val="bg2">
                    <a:lumMod val="75000"/>
                  </a:schemeClr>
                </a:solidFill>
                <a:latin typeface="Calibri" panose="020F0502020204030204" pitchFamily="34" charset="0"/>
                <a:ea typeface="Inter Light"/>
                <a:cs typeface="Calibri" panose="020F0502020204030204" pitchFamily="34" charset="0"/>
                <a:sym typeface="Inter Light"/>
              </a:rPr>
              <a:t>Student Name: PUPPALA V V SUDHAKAR</a:t>
            </a:r>
          </a:p>
          <a:p>
            <a:pPr marL="0" indent="0" algn="l">
              <a:lnSpc>
                <a:spcPct val="90000"/>
              </a:lnSpc>
              <a:spcBef>
                <a:spcPts val="0"/>
              </a:spcBef>
              <a:spcAft>
                <a:spcPts val="600"/>
              </a:spcAft>
            </a:pPr>
            <a:r>
              <a:rPr lang="en-US" sz="1200" dirty="0">
                <a:solidFill>
                  <a:schemeClr val="bg2">
                    <a:lumMod val="75000"/>
                  </a:schemeClr>
                </a:solidFill>
                <a:latin typeface="Calibri" panose="020F0502020204030204" pitchFamily="34" charset="0"/>
                <a:ea typeface="Inter Light"/>
                <a:cs typeface="Calibri" panose="020F0502020204030204" pitchFamily="34" charset="0"/>
                <a:sym typeface="Inter Light"/>
              </a:rPr>
              <a:t>BITS ID: 2024AA05488</a:t>
            </a:r>
            <a:endParaRPr lang="en-US" sz="1200" dirty="0">
              <a:solidFill>
                <a:schemeClr val="bg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3648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n abstract financial digital analysis">
            <a:extLst>
              <a:ext uri="{FF2B5EF4-FFF2-40B4-BE49-F238E27FC236}">
                <a16:creationId xmlns:a16="http://schemas.microsoft.com/office/drawing/2014/main" id="{FEDC2F3E-03ED-486D-C68B-7030FEB4D970}"/>
              </a:ext>
            </a:extLst>
          </p:cNvPr>
          <p:cNvPicPr>
            <a:picLocks noChangeAspect="1"/>
          </p:cNvPicPr>
          <p:nvPr/>
        </p:nvPicPr>
        <p:blipFill>
          <a:blip r:embed="rId2"/>
          <a:srcRect l="44033" r="22006"/>
          <a:stretch>
            <a:fillRect/>
          </a:stretch>
        </p:blipFill>
        <p:spPr>
          <a:xfrm>
            <a:off x="1" y="10"/>
            <a:ext cx="4196496" cy="6857990"/>
          </a:xfrm>
          <a:prstGeom prst="rect">
            <a:avLst/>
          </a:prstGeom>
          <a:effectLst/>
        </p:spPr>
      </p:pic>
      <p:sp>
        <p:nvSpPr>
          <p:cNvPr id="6" name="TextBox 5">
            <a:extLst>
              <a:ext uri="{FF2B5EF4-FFF2-40B4-BE49-F238E27FC236}">
                <a16:creationId xmlns:a16="http://schemas.microsoft.com/office/drawing/2014/main" id="{AB4653C2-19D9-3FFB-4EAC-C92F721A4147}"/>
              </a:ext>
            </a:extLst>
          </p:cNvPr>
          <p:cNvSpPr txBox="1"/>
          <p:nvPr/>
        </p:nvSpPr>
        <p:spPr>
          <a:xfrm>
            <a:off x="4488872" y="1786982"/>
            <a:ext cx="7056583" cy="4903753"/>
          </a:xfrm>
          <a:prstGeom prst="rect">
            <a:avLst/>
          </a:prstGeom>
        </p:spPr>
        <p:txBody>
          <a:bodyPr vert="horz" lIns="91440" tIns="45720" rIns="91440" bIns="45720" rtlCol="0">
            <a:normAutofit/>
          </a:bodyPr>
          <a:lstStyle/>
          <a:p>
            <a:pPr>
              <a:lnSpc>
                <a:spcPct val="90000"/>
              </a:lnSpc>
              <a:spcAft>
                <a:spcPts val="600"/>
              </a:spcAft>
            </a:pP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Foreign exchange markets are among the most liquid and volatile financial markets, influenced by macroeconomic indicators, geopolitical events, and market sentiment. Traditional forecasting approaches such as Autoregressive Integrated Moving Average (ARIMA) and Generalized Autoregressive Conditional Heteroskedasticity (GARCH) models often fail to capture non-linear patterns, and long-term dependencies present in FX data. Recent advancements in artificial intelligence, particularly deep learning models like Convolutional Neural Network (CNN), Long Short-Term Memory (LSTM), Gated Recurrent Units (GRU), and Transformer architectures, have shown promising capabilities in modelling sequential and temporal data. These methods provide an opportunity to improve forecasting accuracy, especially for multi-step ahead predictions, which are inherently more challenging due to error propagation.</a:t>
            </a:r>
          </a:p>
          <a:p>
            <a:pPr>
              <a:lnSpc>
                <a:spcPct val="90000"/>
              </a:lnSpc>
              <a:spcAft>
                <a:spcPts val="600"/>
              </a:spcAft>
            </a:pPr>
            <a:endParaRPr lang="en-US"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endParaRPr>
          </a:p>
          <a:p>
            <a:pPr>
              <a:lnSpc>
                <a:spcPct val="90000"/>
              </a:lnSpc>
              <a:spcAft>
                <a:spcPts val="600"/>
              </a:spcAft>
            </a:pP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This dissertation integrates concepts from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Financial Time Series Analysis</a:t>
            </a:r>
            <a:r>
              <a:rPr lang="en-US" sz="1700"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Artificial Intelligence</a:t>
            </a:r>
            <a:r>
              <a:rPr lang="en-US" sz="1700"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 </a:t>
            </a: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and </a:t>
            </a:r>
            <a:r>
              <a:rPr lang="en-US" sz="1700" i="1" kern="1200" spc="30" dirty="0">
                <a:solidFill>
                  <a:schemeClr val="accent4">
                    <a:lumMod val="75000"/>
                  </a:schemeClr>
                </a:solidFill>
                <a:effectLst/>
                <a:latin typeface="Calibri" panose="020F0502020204030204" pitchFamily="34" charset="0"/>
                <a:ea typeface="Apple Symbols" panose="02000000000000000000" pitchFamily="2" charset="-79"/>
                <a:cs typeface="Calibri" panose="020F0502020204030204" pitchFamily="34" charset="0"/>
              </a:rPr>
              <a:t>Computational Finance</a:t>
            </a:r>
            <a:r>
              <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a:t>
            </a:r>
          </a:p>
        </p:txBody>
      </p:sp>
      <p:sp>
        <p:nvSpPr>
          <p:cNvPr id="11" name="Title 1">
            <a:extLst>
              <a:ext uri="{FF2B5EF4-FFF2-40B4-BE49-F238E27FC236}">
                <a16:creationId xmlns:a16="http://schemas.microsoft.com/office/drawing/2014/main" id="{48ACC5F2-B9CE-AFCE-7189-B5855E0EEAD3}"/>
              </a:ext>
            </a:extLst>
          </p:cNvPr>
          <p:cNvSpPr txBox="1">
            <a:spLocks/>
          </p:cNvSpPr>
          <p:nvPr/>
        </p:nvSpPr>
        <p:spPr>
          <a:xfrm>
            <a:off x="4488872" y="854865"/>
            <a:ext cx="3749964"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Abstract</a:t>
            </a:r>
            <a:r>
              <a:rPr lang="en-US" sz="2400" dirty="0">
                <a:solidFill>
                  <a:schemeClr val="bg2">
                    <a:lumMod val="75000"/>
                  </a:schemeClr>
                </a:solidFill>
                <a:latin typeface="Calibri" panose="020F0502020204030204" pitchFamily="34" charset="0"/>
                <a:cs typeface="Calibri" panose="020F0502020204030204" pitchFamily="34" charset="0"/>
              </a:rPr>
              <a:t> </a:t>
            </a:r>
            <a:r>
              <a:rPr lang="en-US" sz="3200" dirty="0">
                <a:solidFill>
                  <a:schemeClr val="bg2">
                    <a:lumMod val="75000"/>
                  </a:schemeClr>
                </a:solidFill>
                <a:latin typeface="Calibri" panose="020F0502020204030204" pitchFamily="34" charset="0"/>
                <a:cs typeface="Calibri" panose="020F0502020204030204" pitchFamily="34" charset="0"/>
              </a:rPr>
              <a:t>Background</a:t>
            </a:r>
          </a:p>
        </p:txBody>
      </p:sp>
    </p:spTree>
    <p:extLst>
      <p:ext uri="{BB962C8B-B14F-4D97-AF65-F5344CB8AC3E}">
        <p14:creationId xmlns:p14="http://schemas.microsoft.com/office/powerpoint/2010/main" val="124433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6F2F-06C1-7182-B54B-EEB612B69DC3}"/>
            </a:ext>
          </a:extLst>
        </p:cNvPr>
        <p:cNvGrpSpPr/>
        <p:nvPr/>
      </p:nvGrpSpPr>
      <p:grpSpPr>
        <a:xfrm>
          <a:off x="0" y="0"/>
          <a:ext cx="0" cy="0"/>
          <a:chOff x="0" y="0"/>
          <a:chExt cx="0" cy="0"/>
        </a:xfrm>
      </p:grpSpPr>
      <p:pic>
        <p:nvPicPr>
          <p:cNvPr id="11" name="Picture 10" descr="Cubes connected with a red line">
            <a:extLst>
              <a:ext uri="{FF2B5EF4-FFF2-40B4-BE49-F238E27FC236}">
                <a16:creationId xmlns:a16="http://schemas.microsoft.com/office/drawing/2014/main" id="{29FF805D-68A1-2549-7527-E93A9F41AC77}"/>
              </a:ext>
            </a:extLst>
          </p:cNvPr>
          <p:cNvPicPr>
            <a:picLocks noChangeAspect="1"/>
          </p:cNvPicPr>
          <p:nvPr/>
        </p:nvPicPr>
        <p:blipFill>
          <a:blip r:embed="rId2"/>
          <a:srcRect l="26797" r="15367" b="-1"/>
          <a:stretch>
            <a:fillRect/>
          </a:stretch>
        </p:blipFill>
        <p:spPr>
          <a:xfrm>
            <a:off x="0" y="10"/>
            <a:ext cx="5006110" cy="6857990"/>
          </a:xfrm>
          <a:prstGeom prst="rect">
            <a:avLst/>
          </a:prstGeom>
        </p:spPr>
      </p:pic>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5974B699-E04B-F5B5-C36F-46B1F9C64675}"/>
              </a:ext>
            </a:extLst>
          </p:cNvPr>
          <p:cNvSpPr>
            <a:spLocks noGrp="1"/>
          </p:cNvSpPr>
          <p:nvPr>
            <p:ph type="ctrTitle"/>
          </p:nvPr>
        </p:nvSpPr>
        <p:spPr>
          <a:xfrm>
            <a:off x="5905502" y="871146"/>
            <a:ext cx="2863273" cy="781379"/>
          </a:xfrm>
        </p:spPr>
        <p:txBody>
          <a:bodyPr>
            <a:normAutofit/>
          </a:bodyPr>
          <a:lstStyle/>
          <a:p>
            <a:pPr algn="l"/>
            <a:r>
              <a:rPr lang="en-US" sz="2400" dirty="0">
                <a:solidFill>
                  <a:schemeClr val="bg2">
                    <a:lumMod val="75000"/>
                  </a:schemeClr>
                </a:solidFill>
                <a:latin typeface="Calibri" panose="020F0502020204030204" pitchFamily="34" charset="0"/>
                <a:cs typeface="Calibri" panose="020F0502020204030204" pitchFamily="34" charset="0"/>
              </a:rPr>
              <a:t>Objectives</a:t>
            </a:r>
          </a:p>
        </p:txBody>
      </p:sp>
      <p:sp>
        <p:nvSpPr>
          <p:cNvPr id="7" name="TextBox 6">
            <a:extLst>
              <a:ext uri="{FF2B5EF4-FFF2-40B4-BE49-F238E27FC236}">
                <a16:creationId xmlns:a16="http://schemas.microsoft.com/office/drawing/2014/main" id="{873DA35F-DEF7-C255-AA6E-1B98654D60B2}"/>
              </a:ext>
            </a:extLst>
          </p:cNvPr>
          <p:cNvSpPr txBox="1"/>
          <p:nvPr/>
        </p:nvSpPr>
        <p:spPr>
          <a:xfrm>
            <a:off x="6096000" y="1520288"/>
            <a:ext cx="4788667" cy="4903753"/>
          </a:xfrm>
          <a:prstGeom prst="rect">
            <a:avLst/>
          </a:prstGeom>
        </p:spPr>
        <p:txBody>
          <a:bodyPr vert="horz" lIns="91440" tIns="45720" rIns="91440" bIns="45720" rtlCol="0">
            <a:normAutofit/>
          </a:bodyPr>
          <a:lstStyle/>
          <a:p>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The objective of this dissertation project is to,</a:t>
            </a:r>
            <a:r>
              <a:rPr lang="en-SG" sz="1800" dirty="0">
                <a:latin typeface="Calibri" panose="020F0502020204030204" pitchFamily="34" charset="0"/>
                <a:cs typeface="Calibri" panose="020F0502020204030204" pitchFamily="34" charset="0"/>
              </a:rPr>
              <a:t>  </a:t>
            </a:r>
            <a:endPar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endParaRP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Design and implement a Hybrid CNN-LSTM-Transformer architecture for multi-step FX rate forecasting.</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Develop a multi-model feature fusion pipeline integrating technical, macroeconomic, and NLP-based sentiment features.</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Conduct systematic ablation studies to quantify the marginal contribution of each architectural component.</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Evaluate model performance across multiple currency pairs, forecasting horizons, and market volatility baselines.</a:t>
            </a:r>
          </a:p>
          <a:p>
            <a:pPr marL="285750" indent="-285750">
              <a:buFont typeface="Arial" panose="020B0604020202020204" pitchFamily="34" charset="0"/>
              <a:buChar char="•"/>
            </a:pPr>
            <a:r>
              <a:rPr lang="en-SG" sz="1700" kern="1200" spc="30" dirty="0">
                <a:solidFill>
                  <a:schemeClr val="tx1"/>
                </a:solidFill>
                <a:latin typeface="Calibri" panose="020F0502020204030204" pitchFamily="34" charset="0"/>
                <a:ea typeface="Apple Symbols" panose="02000000000000000000" pitchFamily="2" charset="-79"/>
                <a:cs typeface="Calibri" panose="020F0502020204030204" pitchFamily="34" charset="0"/>
              </a:rPr>
              <a:t>Compare the proposed model against ARIMA, Prophet, vanilla LSTM, and Temporal Fusion Transformer baselines.</a:t>
            </a:r>
          </a:p>
          <a:p>
            <a:pPr>
              <a:lnSpc>
                <a:spcPct val="90000"/>
              </a:lnSpc>
              <a:spcAft>
                <a:spcPts val="600"/>
              </a:spcAft>
            </a:pPr>
            <a:endParaRPr lang="en-US" sz="17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endParaRPr>
          </a:p>
        </p:txBody>
      </p:sp>
    </p:spTree>
    <p:extLst>
      <p:ext uri="{BB962C8B-B14F-4D97-AF65-F5344CB8AC3E}">
        <p14:creationId xmlns:p14="http://schemas.microsoft.com/office/powerpoint/2010/main" val="483014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571500" y="1552575"/>
            <a:ext cx="2583656" cy="3667125"/>
          </a:xfrm>
          <a:prstGeom prst="rect">
            <a:avLst/>
          </a:prstGeom>
          <a:solidFill>
            <a:schemeClr val="bg1">
              <a:lumMod val="85000"/>
            </a:schemeClr>
          </a:solidFill>
          <a:ln>
            <a:noFill/>
          </a:ln>
        </p:spPr>
      </p:pic>
      <p:pic>
        <p:nvPicPr>
          <p:cNvPr id="86" name="Google Shape;86;p13" descr="image.png"/>
          <p:cNvPicPr preferRelativeResize="0"/>
          <p:nvPr/>
        </p:nvPicPr>
        <p:blipFill rotWithShape="1">
          <a:blip r:embed="rId4">
            <a:alphaModFix/>
          </a:blip>
          <a:srcRect/>
          <a:stretch/>
        </p:blipFill>
        <p:spPr>
          <a:xfrm>
            <a:off x="3393281" y="1552575"/>
            <a:ext cx="2583656" cy="3667125"/>
          </a:xfrm>
          <a:prstGeom prst="rect">
            <a:avLst/>
          </a:prstGeom>
          <a:solidFill>
            <a:schemeClr val="bg1">
              <a:lumMod val="85000"/>
            </a:schemeClr>
          </a:solidFill>
          <a:ln>
            <a:noFill/>
          </a:ln>
        </p:spPr>
      </p:pic>
      <p:pic>
        <p:nvPicPr>
          <p:cNvPr id="87" name="Google Shape;87;p13" descr="image.png"/>
          <p:cNvPicPr preferRelativeResize="0"/>
          <p:nvPr/>
        </p:nvPicPr>
        <p:blipFill rotWithShape="1">
          <a:blip r:embed="rId5">
            <a:alphaModFix/>
          </a:blip>
          <a:srcRect/>
          <a:stretch/>
        </p:blipFill>
        <p:spPr>
          <a:xfrm>
            <a:off x="6215062" y="1552575"/>
            <a:ext cx="2583656" cy="3667125"/>
          </a:xfrm>
          <a:prstGeom prst="rect">
            <a:avLst/>
          </a:prstGeom>
          <a:solidFill>
            <a:schemeClr val="bg1">
              <a:lumMod val="85000"/>
            </a:schemeClr>
          </a:solidFill>
          <a:ln>
            <a:noFill/>
          </a:ln>
        </p:spPr>
      </p:pic>
      <p:pic>
        <p:nvPicPr>
          <p:cNvPr id="88" name="Google Shape;88;p13" descr="image.png"/>
          <p:cNvPicPr preferRelativeResize="0"/>
          <p:nvPr/>
        </p:nvPicPr>
        <p:blipFill rotWithShape="1">
          <a:blip r:embed="rId5">
            <a:alphaModFix/>
          </a:blip>
          <a:srcRect/>
          <a:stretch/>
        </p:blipFill>
        <p:spPr>
          <a:xfrm>
            <a:off x="9036843" y="1552575"/>
            <a:ext cx="2583656" cy="3667125"/>
          </a:xfrm>
          <a:prstGeom prst="rect">
            <a:avLst/>
          </a:prstGeom>
          <a:solidFill>
            <a:schemeClr val="bg1">
              <a:lumMod val="85000"/>
            </a:schemeClr>
          </a:solidFill>
          <a:ln>
            <a:noFill/>
          </a:ln>
        </p:spPr>
      </p:pic>
      <p:sp>
        <p:nvSpPr>
          <p:cNvPr id="90" name="Google Shape;90;p13"/>
          <p:cNvSpPr/>
          <p:nvPr/>
        </p:nvSpPr>
        <p:spPr>
          <a:xfrm>
            <a:off x="571500" y="571500"/>
            <a:ext cx="57150" cy="504825"/>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0" name="Google Shape;100;p13" descr="image.png"/>
          <p:cNvPicPr preferRelativeResize="0"/>
          <p:nvPr/>
        </p:nvPicPr>
        <p:blipFill rotWithShape="1">
          <a:blip r:embed="rId6">
            <a:alphaModFix/>
          </a:blip>
          <a:srcRect/>
          <a:stretch/>
        </p:blipFill>
        <p:spPr>
          <a:xfrm>
            <a:off x="1482328" y="1943100"/>
            <a:ext cx="762000" cy="762000"/>
          </a:xfrm>
          <a:prstGeom prst="rect">
            <a:avLst/>
          </a:prstGeom>
          <a:noFill/>
          <a:ln>
            <a:noFill/>
          </a:ln>
        </p:spPr>
      </p:pic>
      <p:sp>
        <p:nvSpPr>
          <p:cNvPr id="101" name="Google Shape;101;p13"/>
          <p:cNvSpPr txBox="1"/>
          <p:nvPr/>
        </p:nvSpPr>
        <p:spPr>
          <a:xfrm>
            <a:off x="816947" y="2943225"/>
            <a:ext cx="2092761" cy="7715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dirty="0">
                <a:solidFill>
                  <a:srgbClr val="2DD4BF"/>
                </a:solidFill>
                <a:latin typeface="Urbanist"/>
                <a:ea typeface="Urbanist"/>
                <a:cs typeface="Urbanist"/>
                <a:sym typeface="Urbanist"/>
              </a:rPr>
              <a:t>NATURAL LANGUAGE PROCESSING</a:t>
            </a:r>
            <a:endParaRPr dirty="0"/>
          </a:p>
        </p:txBody>
      </p:sp>
      <p:sp>
        <p:nvSpPr>
          <p:cNvPr id="102" name="Google Shape;102;p13"/>
          <p:cNvSpPr txBox="1"/>
          <p:nvPr/>
        </p:nvSpPr>
        <p:spPr>
          <a:xfrm>
            <a:off x="866775" y="3857625"/>
            <a:ext cx="1993106"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Advanced sentiment extraction from market headlines and financial news sources.</a:t>
            </a:r>
            <a:endParaRPr dirty="0"/>
          </a:p>
        </p:txBody>
      </p:sp>
      <p:pic>
        <p:nvPicPr>
          <p:cNvPr id="104" name="Google Shape;104;p13" descr="image.png"/>
          <p:cNvPicPr preferRelativeResize="0"/>
          <p:nvPr/>
        </p:nvPicPr>
        <p:blipFill rotWithShape="1">
          <a:blip r:embed="rId7">
            <a:alphaModFix/>
          </a:blip>
          <a:srcRect/>
          <a:stretch/>
        </p:blipFill>
        <p:spPr>
          <a:xfrm>
            <a:off x="4304109" y="1943100"/>
            <a:ext cx="762000" cy="762000"/>
          </a:xfrm>
          <a:prstGeom prst="rect">
            <a:avLst/>
          </a:prstGeom>
          <a:noFill/>
          <a:ln>
            <a:noFill/>
          </a:ln>
        </p:spPr>
      </p:pic>
      <p:sp>
        <p:nvSpPr>
          <p:cNvPr id="105" name="Google Shape;105;p13"/>
          <p:cNvSpPr txBox="1"/>
          <p:nvPr/>
        </p:nvSpPr>
        <p:spPr>
          <a:xfrm>
            <a:off x="3638728" y="2943225"/>
            <a:ext cx="2092761" cy="514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KNOWLEDGE REPRESENTATION</a:t>
            </a:r>
            <a:endParaRPr/>
          </a:p>
        </p:txBody>
      </p:sp>
      <p:sp>
        <p:nvSpPr>
          <p:cNvPr id="106" name="Google Shape;106;p13"/>
          <p:cNvSpPr txBox="1"/>
          <p:nvPr/>
        </p:nvSpPr>
        <p:spPr>
          <a:xfrm>
            <a:off x="3688556" y="3600450"/>
            <a:ext cx="1993106" cy="1177245"/>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Integration of technical indicators (RSI, MACD, Volume) into the knowledge base.</a:t>
            </a:r>
            <a:endParaRPr dirty="0"/>
          </a:p>
        </p:txBody>
      </p:sp>
      <p:pic>
        <p:nvPicPr>
          <p:cNvPr id="108" name="Google Shape;108;p13" descr="image.png"/>
          <p:cNvPicPr preferRelativeResize="0"/>
          <p:nvPr/>
        </p:nvPicPr>
        <p:blipFill rotWithShape="1">
          <a:blip r:embed="rId8">
            <a:alphaModFix/>
          </a:blip>
          <a:srcRect/>
          <a:stretch/>
        </p:blipFill>
        <p:spPr>
          <a:xfrm>
            <a:off x="7125890" y="1943100"/>
            <a:ext cx="762000" cy="762000"/>
          </a:xfrm>
          <a:prstGeom prst="rect">
            <a:avLst/>
          </a:prstGeom>
          <a:noFill/>
          <a:ln>
            <a:noFill/>
          </a:ln>
        </p:spPr>
      </p:pic>
      <p:sp>
        <p:nvSpPr>
          <p:cNvPr id="109" name="Google Shape;109;p13"/>
          <p:cNvSpPr txBox="1"/>
          <p:nvPr/>
        </p:nvSpPr>
        <p:spPr>
          <a:xfrm>
            <a:off x="6631781" y="2943225"/>
            <a:ext cx="1750218"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DATA MODELING</a:t>
            </a:r>
            <a:endParaRPr/>
          </a:p>
        </p:txBody>
      </p:sp>
      <p:sp>
        <p:nvSpPr>
          <p:cNvPr id="110" name="Google Shape;110;p13"/>
          <p:cNvSpPr txBox="1"/>
          <p:nvPr/>
        </p:nvSpPr>
        <p:spPr>
          <a:xfrm>
            <a:off x="6510337" y="3343275"/>
            <a:ext cx="1993106" cy="971550"/>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Automated pipeline for feature engineering, cleaning, and normalization.</a:t>
            </a:r>
            <a:endParaRPr dirty="0"/>
          </a:p>
        </p:txBody>
      </p:sp>
      <p:pic>
        <p:nvPicPr>
          <p:cNvPr id="111" name="Google Shape;111;p13" descr="image.png"/>
          <p:cNvPicPr preferRelativeResize="0"/>
          <p:nvPr/>
        </p:nvPicPr>
        <p:blipFill rotWithShape="1">
          <a:blip r:embed="rId9">
            <a:alphaModFix/>
          </a:blip>
          <a:srcRect/>
          <a:stretch/>
        </p:blipFill>
        <p:spPr>
          <a:xfrm>
            <a:off x="9947671" y="1943100"/>
            <a:ext cx="762000" cy="762000"/>
          </a:xfrm>
          <a:prstGeom prst="rect">
            <a:avLst/>
          </a:prstGeom>
          <a:noFill/>
          <a:ln>
            <a:noFill/>
          </a:ln>
        </p:spPr>
      </p:pic>
      <p:sp>
        <p:nvSpPr>
          <p:cNvPr id="112" name="Google Shape;112;p13"/>
          <p:cNvSpPr txBox="1"/>
          <p:nvPr/>
        </p:nvSpPr>
        <p:spPr>
          <a:xfrm>
            <a:off x="9518570" y="2943225"/>
            <a:ext cx="162020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2DD4BF"/>
                </a:solidFill>
                <a:latin typeface="Urbanist"/>
                <a:ea typeface="Urbanist"/>
                <a:cs typeface="Urbanist"/>
                <a:sym typeface="Urbanist"/>
              </a:rPr>
              <a:t>DEEP LEARNING</a:t>
            </a:r>
            <a:endParaRPr/>
          </a:p>
        </p:txBody>
      </p:sp>
      <p:sp>
        <p:nvSpPr>
          <p:cNvPr id="113" name="Google Shape;113;p13"/>
          <p:cNvSpPr txBox="1"/>
          <p:nvPr/>
        </p:nvSpPr>
        <p:spPr>
          <a:xfrm>
            <a:off x="9332118" y="3343275"/>
            <a:ext cx="1993106" cy="728662"/>
          </a:xfrm>
          <a:prstGeom prst="rect">
            <a:avLst/>
          </a:prstGeom>
          <a:noFill/>
          <a:ln>
            <a:noFill/>
          </a:ln>
        </p:spPr>
        <p:txBody>
          <a:bodyPr spcFirstLastPara="1" wrap="square" lIns="0" tIns="0" rIns="0" bIns="0" anchor="t" anchorCtr="0">
            <a:spAutoFit/>
          </a:bodyPr>
          <a:lstStyle/>
          <a:p>
            <a:pPr marL="0" marR="0" lvl="0" indent="0" algn="ctr" rtl="0">
              <a:lnSpc>
                <a:spcPct val="149960"/>
              </a:lnSpc>
              <a:spcBef>
                <a:spcPts val="0"/>
              </a:spcBef>
              <a:spcAft>
                <a:spcPts val="0"/>
              </a:spcAft>
              <a:buNone/>
            </a:pPr>
            <a:r>
              <a:rPr lang="en-US" sz="1275" b="0" i="0" u="none" strike="noStrike" cap="none" dirty="0">
                <a:solidFill>
                  <a:srgbClr val="94A3B8"/>
                </a:solidFill>
                <a:latin typeface="Inter"/>
                <a:ea typeface="Inter"/>
                <a:cs typeface="Inter"/>
                <a:sym typeface="Inter"/>
              </a:rPr>
              <a:t>Implementation of Hybrid CNN-LSTM-Transformer architecture.</a:t>
            </a:r>
            <a:endParaRPr dirty="0"/>
          </a:p>
        </p:txBody>
      </p:sp>
      <p:pic>
        <p:nvPicPr>
          <p:cNvPr id="114" name="Google Shape;114;p13" descr="image.png"/>
          <p:cNvPicPr preferRelativeResize="0"/>
          <p:nvPr/>
        </p:nvPicPr>
        <p:blipFill rotWithShape="1">
          <a:blip r:embed="rId10">
            <a:alphaModFix/>
          </a:blip>
          <a:srcRect/>
          <a:stretch/>
        </p:blipFill>
        <p:spPr>
          <a:xfrm>
            <a:off x="1710928" y="2171700"/>
            <a:ext cx="304800" cy="304800"/>
          </a:xfrm>
          <a:prstGeom prst="rect">
            <a:avLst/>
          </a:prstGeom>
          <a:noFill/>
          <a:ln>
            <a:noFill/>
          </a:ln>
        </p:spPr>
      </p:pic>
      <p:pic>
        <p:nvPicPr>
          <p:cNvPr id="115" name="Google Shape;115;p13" descr="image.png"/>
          <p:cNvPicPr preferRelativeResize="0"/>
          <p:nvPr/>
        </p:nvPicPr>
        <p:blipFill rotWithShape="1">
          <a:blip r:embed="rId11">
            <a:alphaModFix/>
          </a:blip>
          <a:srcRect/>
          <a:stretch/>
        </p:blipFill>
        <p:spPr>
          <a:xfrm>
            <a:off x="4532709" y="2171700"/>
            <a:ext cx="304800" cy="304800"/>
          </a:xfrm>
          <a:prstGeom prst="rect">
            <a:avLst/>
          </a:prstGeom>
          <a:noFill/>
          <a:ln>
            <a:noFill/>
          </a:ln>
        </p:spPr>
      </p:pic>
      <p:pic>
        <p:nvPicPr>
          <p:cNvPr id="116" name="Google Shape;116;p13" descr="image.png"/>
          <p:cNvPicPr preferRelativeResize="0"/>
          <p:nvPr/>
        </p:nvPicPr>
        <p:blipFill rotWithShape="1">
          <a:blip r:embed="rId12">
            <a:alphaModFix/>
          </a:blip>
          <a:srcRect/>
          <a:stretch/>
        </p:blipFill>
        <p:spPr>
          <a:xfrm>
            <a:off x="7373540" y="2171700"/>
            <a:ext cx="266700" cy="304800"/>
          </a:xfrm>
          <a:prstGeom prst="rect">
            <a:avLst/>
          </a:prstGeom>
          <a:noFill/>
          <a:ln>
            <a:noFill/>
          </a:ln>
        </p:spPr>
      </p:pic>
      <p:pic>
        <p:nvPicPr>
          <p:cNvPr id="117" name="Google Shape;117;p13" descr="image.png"/>
          <p:cNvPicPr preferRelativeResize="0"/>
          <p:nvPr/>
        </p:nvPicPr>
        <p:blipFill rotWithShape="1">
          <a:blip r:embed="rId13">
            <a:alphaModFix/>
          </a:blip>
          <a:srcRect/>
          <a:stretch/>
        </p:blipFill>
        <p:spPr>
          <a:xfrm>
            <a:off x="10176271" y="2171700"/>
            <a:ext cx="304800" cy="304800"/>
          </a:xfrm>
          <a:prstGeom prst="rect">
            <a:avLst/>
          </a:prstGeom>
          <a:noFill/>
          <a:ln>
            <a:noFill/>
          </a:ln>
        </p:spPr>
      </p:pic>
      <p:sp>
        <p:nvSpPr>
          <p:cNvPr id="2" name="Title 1">
            <a:extLst>
              <a:ext uri="{FF2B5EF4-FFF2-40B4-BE49-F238E27FC236}">
                <a16:creationId xmlns:a16="http://schemas.microsoft.com/office/drawing/2014/main" id="{4B0508FB-52F0-3759-75D5-F543D45C086F}"/>
              </a:ext>
            </a:extLst>
          </p:cNvPr>
          <p:cNvSpPr txBox="1">
            <a:spLocks/>
          </p:cNvSpPr>
          <p:nvPr/>
        </p:nvSpPr>
        <p:spPr>
          <a:xfrm>
            <a:off x="816947" y="391858"/>
            <a:ext cx="3749964"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Scope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43EB-EC0F-A660-4814-BF86B0141665}"/>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3D2E9521-ED34-0638-4BE4-58C34CC45889}"/>
              </a:ext>
            </a:extLst>
          </p:cNvPr>
          <p:cNvPicPr>
            <a:picLocks noChangeAspect="1"/>
          </p:cNvPicPr>
          <p:nvPr/>
        </p:nvPicPr>
        <p:blipFill>
          <a:blip r:embed="rId2"/>
          <a:stretch>
            <a:fillRect/>
          </a:stretch>
        </p:blipFill>
        <p:spPr>
          <a:xfrm>
            <a:off x="7492861" y="467138"/>
            <a:ext cx="4087368" cy="5923723"/>
          </a:xfrm>
          <a:prstGeom prst="rect">
            <a:avLst/>
          </a:prstGeom>
        </p:spPr>
      </p:pic>
      <p:graphicFrame>
        <p:nvGraphicFramePr>
          <p:cNvPr id="19" name="TextBox 8">
            <a:extLst>
              <a:ext uri="{FF2B5EF4-FFF2-40B4-BE49-F238E27FC236}">
                <a16:creationId xmlns:a16="http://schemas.microsoft.com/office/drawing/2014/main" id="{46BD764A-9497-E7A4-3428-AF32E542CBA0}"/>
              </a:ext>
            </a:extLst>
          </p:cNvPr>
          <p:cNvGraphicFramePr/>
          <p:nvPr>
            <p:extLst>
              <p:ext uri="{D42A27DB-BD31-4B8C-83A1-F6EECF244321}">
                <p14:modId xmlns:p14="http://schemas.microsoft.com/office/powerpoint/2010/main" val="4062163260"/>
              </p:ext>
            </p:extLst>
          </p:nvPr>
        </p:nvGraphicFramePr>
        <p:xfrm>
          <a:off x="594371" y="1021602"/>
          <a:ext cx="6286720" cy="5251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 name="Title 1">
            <a:extLst>
              <a:ext uri="{FF2B5EF4-FFF2-40B4-BE49-F238E27FC236}">
                <a16:creationId xmlns:a16="http://schemas.microsoft.com/office/drawing/2014/main" id="{52C4BC54-8597-6259-0A52-0A59E95F58A4}"/>
              </a:ext>
            </a:extLst>
          </p:cNvPr>
          <p:cNvSpPr txBox="1">
            <a:spLocks/>
          </p:cNvSpPr>
          <p:nvPr/>
        </p:nvSpPr>
        <p:spPr>
          <a:xfrm>
            <a:off x="515994" y="119317"/>
            <a:ext cx="3749964" cy="79508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Methodology</a:t>
            </a:r>
          </a:p>
        </p:txBody>
      </p:sp>
    </p:spTree>
    <p:extLst>
      <p:ext uri="{BB962C8B-B14F-4D97-AF65-F5344CB8AC3E}">
        <p14:creationId xmlns:p14="http://schemas.microsoft.com/office/powerpoint/2010/main" val="805720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8" name="Google Shape;108;p13"/>
          <p:cNvSpPr txBox="1"/>
          <p:nvPr/>
        </p:nvSpPr>
        <p:spPr>
          <a:xfrm>
            <a:off x="577454" y="471704"/>
            <a:ext cx="4775596"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450" b="1" i="0" u="none" strike="noStrike" cap="none" dirty="0">
                <a:solidFill>
                  <a:schemeClr val="bg2">
                    <a:lumMod val="75000"/>
                  </a:schemeClr>
                </a:solidFill>
                <a:latin typeface="Calibri" panose="020F0502020204030204" pitchFamily="34" charset="0"/>
                <a:ea typeface="Urbanist"/>
                <a:cs typeface="Calibri" panose="020F0502020204030204" pitchFamily="34" charset="0"/>
                <a:sym typeface="Urbanist"/>
              </a:rPr>
              <a:t>Progress &amp; Key Findings</a:t>
            </a:r>
            <a:endParaRPr dirty="0">
              <a:solidFill>
                <a:schemeClr val="bg2">
                  <a:lumMod val="75000"/>
                </a:schemeClr>
              </a:solidFill>
              <a:latin typeface="Calibri" panose="020F0502020204030204" pitchFamily="34" charset="0"/>
              <a:cs typeface="Calibri" panose="020F0502020204030204" pitchFamily="34" charset="0"/>
            </a:endParaRPr>
          </a:p>
        </p:txBody>
      </p:sp>
      <p:pic>
        <p:nvPicPr>
          <p:cNvPr id="112" name="Google Shape;112;p13" descr="image.png"/>
          <p:cNvPicPr preferRelativeResize="0"/>
          <p:nvPr/>
        </p:nvPicPr>
        <p:blipFill rotWithShape="1">
          <a:blip r:embed="rId3">
            <a:alphaModFix/>
          </a:blip>
          <a:srcRect/>
          <a:stretch/>
        </p:blipFill>
        <p:spPr>
          <a:xfrm>
            <a:off x="11082337" y="1420284"/>
            <a:ext cx="171450" cy="228600"/>
          </a:xfrm>
          <a:prstGeom prst="rect">
            <a:avLst/>
          </a:prstGeom>
          <a:noFill/>
          <a:ln>
            <a:noFill/>
          </a:ln>
        </p:spPr>
      </p:pic>
      <p:sp>
        <p:nvSpPr>
          <p:cNvPr id="113" name="Google Shape;113;p13"/>
          <p:cNvSpPr txBox="1"/>
          <p:nvPr/>
        </p:nvSpPr>
        <p:spPr>
          <a:xfrm>
            <a:off x="8396288" y="1371885"/>
            <a:ext cx="2271712"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i="0" u="none" strike="noStrike" cap="none"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NLP Sentiment Analysis</a:t>
            </a:r>
            <a:endParaRPr sz="1500" dirty="0">
              <a:latin typeface="Calibri" panose="020F0502020204030204" pitchFamily="34" charset="0"/>
              <a:ea typeface="Apple Symbols" panose="02000000000000000000" pitchFamily="2" charset="-79"/>
              <a:cs typeface="Calibri" panose="020F0502020204030204" pitchFamily="34" charset="0"/>
            </a:endParaRPr>
          </a:p>
        </p:txBody>
      </p:sp>
      <p:pic>
        <p:nvPicPr>
          <p:cNvPr id="116" name="Google Shape;116;p13" descr="image.png"/>
          <p:cNvPicPr preferRelativeResize="0"/>
          <p:nvPr/>
        </p:nvPicPr>
        <p:blipFill rotWithShape="1">
          <a:blip r:embed="rId4">
            <a:alphaModFix/>
          </a:blip>
          <a:srcRect/>
          <a:stretch/>
        </p:blipFill>
        <p:spPr>
          <a:xfrm>
            <a:off x="11082337" y="2957711"/>
            <a:ext cx="257175" cy="228600"/>
          </a:xfrm>
          <a:prstGeom prst="rect">
            <a:avLst/>
          </a:prstGeom>
          <a:noFill/>
          <a:ln>
            <a:noFill/>
          </a:ln>
        </p:spPr>
      </p:pic>
      <p:pic>
        <p:nvPicPr>
          <p:cNvPr id="120" name="Google Shape;120;p13" descr="image.png"/>
          <p:cNvPicPr preferRelativeResize="0"/>
          <p:nvPr/>
        </p:nvPicPr>
        <p:blipFill rotWithShape="1">
          <a:blip r:embed="rId5">
            <a:alphaModFix/>
          </a:blip>
          <a:srcRect/>
          <a:stretch/>
        </p:blipFill>
        <p:spPr>
          <a:xfrm>
            <a:off x="11125200" y="4667287"/>
            <a:ext cx="257175" cy="228600"/>
          </a:xfrm>
          <a:prstGeom prst="rect">
            <a:avLst/>
          </a:prstGeom>
          <a:noFill/>
          <a:ln>
            <a:noFill/>
          </a:ln>
        </p:spPr>
      </p:pic>
      <p:grpSp>
        <p:nvGrpSpPr>
          <p:cNvPr id="11" name="Group 10">
            <a:extLst>
              <a:ext uri="{FF2B5EF4-FFF2-40B4-BE49-F238E27FC236}">
                <a16:creationId xmlns:a16="http://schemas.microsoft.com/office/drawing/2014/main" id="{0AB82A1E-A592-66F5-B051-AC4458086F8C}"/>
              </a:ext>
            </a:extLst>
          </p:cNvPr>
          <p:cNvGrpSpPr/>
          <p:nvPr/>
        </p:nvGrpSpPr>
        <p:grpSpPr>
          <a:xfrm>
            <a:off x="449120" y="1246335"/>
            <a:ext cx="7429500" cy="5038725"/>
            <a:chOff x="476828" y="1338695"/>
            <a:chExt cx="7429500" cy="5038725"/>
          </a:xfrm>
        </p:grpSpPr>
        <p:pic>
          <p:nvPicPr>
            <p:cNvPr id="85" name="Google Shape;85;p13" descr="image.png"/>
            <p:cNvPicPr preferRelativeResize="0"/>
            <p:nvPr/>
          </p:nvPicPr>
          <p:blipFill rotWithShape="1">
            <a:blip r:embed="rId6">
              <a:alphaModFix/>
            </a:blip>
            <a:srcRect/>
            <a:stretch/>
          </p:blipFill>
          <p:spPr>
            <a:xfrm>
              <a:off x="476828" y="1338695"/>
              <a:ext cx="7429500" cy="5038725"/>
            </a:xfrm>
            <a:prstGeom prst="rect">
              <a:avLst/>
            </a:prstGeom>
            <a:noFill/>
            <a:ln>
              <a:noFill/>
            </a:ln>
          </p:spPr>
        </p:pic>
        <p:pic>
          <p:nvPicPr>
            <p:cNvPr id="89" name="Google Shape;89;p13" descr="image.png"/>
            <p:cNvPicPr preferRelativeResize="0"/>
            <p:nvPr/>
          </p:nvPicPr>
          <p:blipFill rotWithShape="1">
            <a:blip r:embed="rId7">
              <a:alphaModFix/>
            </a:blip>
            <a:srcRect/>
            <a:stretch/>
          </p:blipFill>
          <p:spPr>
            <a:xfrm>
              <a:off x="3058103" y="2229282"/>
              <a:ext cx="4552950" cy="228600"/>
            </a:xfrm>
            <a:prstGeom prst="rect">
              <a:avLst/>
            </a:prstGeom>
            <a:noFill/>
            <a:ln>
              <a:noFill/>
            </a:ln>
          </p:spPr>
        </p:pic>
        <p:pic>
          <p:nvPicPr>
            <p:cNvPr id="90" name="Google Shape;90;p13" descr="image.png"/>
            <p:cNvPicPr preferRelativeResize="0"/>
            <p:nvPr/>
          </p:nvPicPr>
          <p:blipFill rotWithShape="1">
            <a:blip r:embed="rId8">
              <a:alphaModFix/>
            </a:blip>
            <a:srcRect/>
            <a:stretch/>
          </p:blipFill>
          <p:spPr>
            <a:xfrm>
              <a:off x="3058103" y="2753157"/>
              <a:ext cx="4552950" cy="228600"/>
            </a:xfrm>
            <a:prstGeom prst="rect">
              <a:avLst/>
            </a:prstGeom>
            <a:noFill/>
            <a:ln>
              <a:noFill/>
            </a:ln>
          </p:spPr>
        </p:pic>
        <p:pic>
          <p:nvPicPr>
            <p:cNvPr id="91" name="Google Shape;91;p13" descr="image.png"/>
            <p:cNvPicPr preferRelativeResize="0"/>
            <p:nvPr/>
          </p:nvPicPr>
          <p:blipFill rotWithShape="1">
            <a:blip r:embed="rId8">
              <a:alphaModFix/>
            </a:blip>
            <a:srcRect/>
            <a:stretch/>
          </p:blipFill>
          <p:spPr>
            <a:xfrm>
              <a:off x="3058103" y="3277032"/>
              <a:ext cx="4552950" cy="228600"/>
            </a:xfrm>
            <a:prstGeom prst="rect">
              <a:avLst/>
            </a:prstGeom>
            <a:noFill/>
            <a:ln>
              <a:noFill/>
            </a:ln>
          </p:spPr>
        </p:pic>
        <p:pic>
          <p:nvPicPr>
            <p:cNvPr id="92" name="Google Shape;92;p13" descr="image.png"/>
            <p:cNvPicPr preferRelativeResize="0"/>
            <p:nvPr/>
          </p:nvPicPr>
          <p:blipFill rotWithShape="1">
            <a:blip r:embed="rId8">
              <a:alphaModFix/>
            </a:blip>
            <a:srcRect/>
            <a:stretch/>
          </p:blipFill>
          <p:spPr>
            <a:xfrm>
              <a:off x="3058103" y="3800907"/>
              <a:ext cx="4552950" cy="228600"/>
            </a:xfrm>
            <a:prstGeom prst="rect">
              <a:avLst/>
            </a:prstGeom>
            <a:noFill/>
            <a:ln>
              <a:noFill/>
            </a:ln>
          </p:spPr>
        </p:pic>
        <p:pic>
          <p:nvPicPr>
            <p:cNvPr id="93" name="Google Shape;93;p13" descr="image.png"/>
            <p:cNvPicPr preferRelativeResize="0"/>
            <p:nvPr/>
          </p:nvPicPr>
          <p:blipFill rotWithShape="1">
            <a:blip r:embed="rId8">
              <a:alphaModFix/>
            </a:blip>
            <a:srcRect/>
            <a:stretch/>
          </p:blipFill>
          <p:spPr>
            <a:xfrm>
              <a:off x="3058103" y="4324782"/>
              <a:ext cx="4552950" cy="228600"/>
            </a:xfrm>
            <a:prstGeom prst="rect">
              <a:avLst/>
            </a:prstGeom>
            <a:noFill/>
            <a:ln>
              <a:noFill/>
            </a:ln>
          </p:spPr>
        </p:pic>
        <p:pic>
          <p:nvPicPr>
            <p:cNvPr id="94" name="Google Shape;94;p13" descr="image.png"/>
            <p:cNvPicPr preferRelativeResize="0"/>
            <p:nvPr/>
          </p:nvPicPr>
          <p:blipFill rotWithShape="1">
            <a:blip r:embed="rId8">
              <a:alphaModFix/>
            </a:blip>
            <a:srcRect/>
            <a:stretch/>
          </p:blipFill>
          <p:spPr>
            <a:xfrm>
              <a:off x="3058103" y="4848657"/>
              <a:ext cx="4552950" cy="228600"/>
            </a:xfrm>
            <a:prstGeom prst="rect">
              <a:avLst/>
            </a:prstGeom>
            <a:noFill/>
            <a:ln>
              <a:noFill/>
            </a:ln>
          </p:spPr>
        </p:pic>
        <p:pic>
          <p:nvPicPr>
            <p:cNvPr id="95" name="Google Shape;95;p13" descr="image.png"/>
            <p:cNvPicPr preferRelativeResize="0"/>
            <p:nvPr/>
          </p:nvPicPr>
          <p:blipFill rotWithShape="1">
            <a:blip r:embed="rId9">
              <a:alphaModFix/>
            </a:blip>
            <a:srcRect/>
            <a:stretch/>
          </p:blipFill>
          <p:spPr>
            <a:xfrm>
              <a:off x="772103" y="2229282"/>
              <a:ext cx="228600" cy="228600"/>
            </a:xfrm>
            <a:prstGeom prst="rect">
              <a:avLst/>
            </a:prstGeom>
            <a:noFill/>
            <a:ln>
              <a:noFill/>
            </a:ln>
          </p:spPr>
        </p:pic>
        <p:pic>
          <p:nvPicPr>
            <p:cNvPr id="97" name="Google Shape;97;p13" descr="image.png"/>
            <p:cNvPicPr preferRelativeResize="0"/>
            <p:nvPr/>
          </p:nvPicPr>
          <p:blipFill rotWithShape="1">
            <a:blip r:embed="rId10">
              <a:alphaModFix/>
            </a:blip>
            <a:srcRect/>
            <a:stretch/>
          </p:blipFill>
          <p:spPr>
            <a:xfrm>
              <a:off x="772103" y="2753157"/>
              <a:ext cx="228600" cy="228600"/>
            </a:xfrm>
            <a:prstGeom prst="rect">
              <a:avLst/>
            </a:prstGeom>
            <a:noFill/>
            <a:ln>
              <a:noFill/>
            </a:ln>
          </p:spPr>
        </p:pic>
        <p:pic>
          <p:nvPicPr>
            <p:cNvPr id="99" name="Google Shape;99;p13" descr="image.png"/>
            <p:cNvPicPr preferRelativeResize="0"/>
            <p:nvPr/>
          </p:nvPicPr>
          <p:blipFill rotWithShape="1">
            <a:blip r:embed="rId11">
              <a:alphaModFix/>
            </a:blip>
            <a:srcRect/>
            <a:stretch/>
          </p:blipFill>
          <p:spPr>
            <a:xfrm>
              <a:off x="772103" y="3277032"/>
              <a:ext cx="228600" cy="228600"/>
            </a:xfrm>
            <a:prstGeom prst="rect">
              <a:avLst/>
            </a:prstGeom>
            <a:noFill/>
            <a:ln>
              <a:noFill/>
            </a:ln>
          </p:spPr>
        </p:pic>
        <p:pic>
          <p:nvPicPr>
            <p:cNvPr id="101" name="Google Shape;101;p13" descr="image.png"/>
            <p:cNvPicPr preferRelativeResize="0"/>
            <p:nvPr/>
          </p:nvPicPr>
          <p:blipFill rotWithShape="1">
            <a:blip r:embed="rId12">
              <a:alphaModFix/>
            </a:blip>
            <a:srcRect/>
            <a:stretch/>
          </p:blipFill>
          <p:spPr>
            <a:xfrm>
              <a:off x="772103" y="3800907"/>
              <a:ext cx="228600" cy="228600"/>
            </a:xfrm>
            <a:prstGeom prst="rect">
              <a:avLst/>
            </a:prstGeom>
            <a:noFill/>
            <a:ln>
              <a:noFill/>
            </a:ln>
          </p:spPr>
        </p:pic>
        <p:pic>
          <p:nvPicPr>
            <p:cNvPr id="103" name="Google Shape;103;p13" descr="image.png"/>
            <p:cNvPicPr preferRelativeResize="0"/>
            <p:nvPr/>
          </p:nvPicPr>
          <p:blipFill rotWithShape="1">
            <a:blip r:embed="rId13">
              <a:alphaModFix/>
            </a:blip>
            <a:srcRect/>
            <a:stretch/>
          </p:blipFill>
          <p:spPr>
            <a:xfrm>
              <a:off x="772103" y="4324782"/>
              <a:ext cx="228600" cy="228600"/>
            </a:xfrm>
            <a:prstGeom prst="rect">
              <a:avLst/>
            </a:prstGeom>
            <a:noFill/>
            <a:ln>
              <a:noFill/>
            </a:ln>
          </p:spPr>
        </p:pic>
        <p:pic>
          <p:nvPicPr>
            <p:cNvPr id="105" name="Google Shape;105;p13" descr="image.png"/>
            <p:cNvPicPr preferRelativeResize="0"/>
            <p:nvPr/>
          </p:nvPicPr>
          <p:blipFill rotWithShape="1">
            <a:blip r:embed="rId14">
              <a:alphaModFix/>
            </a:blip>
            <a:srcRect/>
            <a:stretch/>
          </p:blipFill>
          <p:spPr>
            <a:xfrm>
              <a:off x="772103" y="4848657"/>
              <a:ext cx="228600" cy="228600"/>
            </a:xfrm>
            <a:prstGeom prst="rect">
              <a:avLst/>
            </a:prstGeom>
            <a:noFill/>
            <a:ln>
              <a:noFill/>
            </a:ln>
          </p:spPr>
        </p:pic>
        <p:sp>
          <p:nvSpPr>
            <p:cNvPr id="110" name="Google Shape;110;p13"/>
            <p:cNvSpPr txBox="1"/>
            <p:nvPr/>
          </p:nvSpPr>
          <p:spPr>
            <a:xfrm>
              <a:off x="3058103" y="1633970"/>
              <a:ext cx="45529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dirty="0">
                  <a:solidFill>
                    <a:srgbClr val="64748B"/>
                  </a:solidFill>
                  <a:latin typeface="Apple Symbols" panose="02000000000000000000" pitchFamily="2" charset="-79"/>
                  <a:ea typeface="Apple Symbols" panose="02000000000000000000" pitchFamily="2" charset="-79"/>
                  <a:cs typeface="Apple Symbols" panose="02000000000000000000" pitchFamily="2" charset="-79"/>
                  <a:sym typeface="Inter SemiBold"/>
                </a:rPr>
                <a:t>APRIL 	MAY 	JUNE 	JULY 	AUGUST</a:t>
              </a:r>
              <a:endParaRPr sz="1000" b="1" dirty="0">
                <a:latin typeface="Apple Symbols" panose="02000000000000000000" pitchFamily="2" charset="-79"/>
                <a:ea typeface="Apple Symbols" panose="02000000000000000000" pitchFamily="2" charset="-79"/>
                <a:cs typeface="Apple Symbols" panose="02000000000000000000" pitchFamily="2" charset="-79"/>
              </a:endParaRPr>
            </a:p>
          </p:txBody>
        </p:sp>
        <p:sp>
          <p:nvSpPr>
            <p:cNvPr id="5" name="Bar1">
              <a:extLst>
                <a:ext uri="{FF2B5EF4-FFF2-40B4-BE49-F238E27FC236}">
                  <a16:creationId xmlns:a16="http://schemas.microsoft.com/office/drawing/2014/main" id="{B3F66CDF-CC6A-C97B-88D9-768D0FA4DAB3}"/>
                </a:ext>
              </a:extLst>
            </p:cNvPr>
            <p:cNvSpPr/>
            <p:nvPr/>
          </p:nvSpPr>
          <p:spPr>
            <a:xfrm>
              <a:off x="3203103" y="2251110"/>
              <a:ext cx="905745" cy="184944"/>
            </a:xfrm>
            <a:prstGeom prst="roundRect">
              <a:avLst>
                <a:gd name="adj" fmla="val 12000"/>
              </a:avLst>
            </a:prstGeom>
            <a:solidFill>
              <a:srgbClr val="2563EB">
                <a:alpha val="85000"/>
              </a:srgbClr>
            </a:solidFill>
            <a:ln w="0">
              <a:noFill/>
            </a:ln>
          </p:spPr>
          <p:txBody>
            <a:bodyPr wrap="square" lIns="72000" tIns="36000" rIns="36000" bIns="36000" anchor="ctr"/>
            <a:lstStyle/>
            <a:p>
              <a:pPr algn="ctr">
                <a:buNone/>
              </a:pPr>
              <a:r>
                <a:rPr lang="en-US" sz="900" b="1" dirty="0">
                  <a:solidFill>
                    <a:schemeClr val="bg1"/>
                  </a:solidFill>
                  <a:latin typeface="Calibri"/>
                  <a:cs typeface="Calibri"/>
                </a:rPr>
                <a:t>COMPLETED</a:t>
              </a:r>
            </a:p>
          </p:txBody>
        </p:sp>
        <p:sp>
          <p:nvSpPr>
            <p:cNvPr id="6" name="Bar1">
              <a:extLst>
                <a:ext uri="{FF2B5EF4-FFF2-40B4-BE49-F238E27FC236}">
                  <a16:creationId xmlns:a16="http://schemas.microsoft.com/office/drawing/2014/main" id="{022066CE-01B1-E817-F12A-8005654EB5C0}"/>
                </a:ext>
              </a:extLst>
            </p:cNvPr>
            <p:cNvSpPr/>
            <p:nvPr/>
          </p:nvSpPr>
          <p:spPr>
            <a:xfrm>
              <a:off x="3790758" y="2778519"/>
              <a:ext cx="1095952" cy="203237"/>
            </a:xfrm>
            <a:prstGeom prst="roundRect">
              <a:avLst>
                <a:gd name="adj" fmla="val 12000"/>
              </a:avLst>
            </a:prstGeom>
            <a:solidFill>
              <a:schemeClr val="accent5">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sp>
          <p:nvSpPr>
            <p:cNvPr id="7" name="Bar1">
              <a:extLst>
                <a:ext uri="{FF2B5EF4-FFF2-40B4-BE49-F238E27FC236}">
                  <a16:creationId xmlns:a16="http://schemas.microsoft.com/office/drawing/2014/main" id="{64093017-FDB0-61EC-DD92-188F068498D3}"/>
                </a:ext>
              </a:extLst>
            </p:cNvPr>
            <p:cNvSpPr/>
            <p:nvPr/>
          </p:nvSpPr>
          <p:spPr>
            <a:xfrm>
              <a:off x="4198047" y="3293159"/>
              <a:ext cx="1326102" cy="203237"/>
            </a:xfrm>
            <a:prstGeom prst="roundRect">
              <a:avLst>
                <a:gd name="adj" fmla="val 12000"/>
              </a:avLst>
            </a:prstGeom>
            <a:solidFill>
              <a:schemeClr val="accent3">
                <a:lumMod val="75000"/>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IN PROGRESS</a:t>
              </a:r>
            </a:p>
          </p:txBody>
        </p:sp>
        <p:sp>
          <p:nvSpPr>
            <p:cNvPr id="8" name="Bar1">
              <a:extLst>
                <a:ext uri="{FF2B5EF4-FFF2-40B4-BE49-F238E27FC236}">
                  <a16:creationId xmlns:a16="http://schemas.microsoft.com/office/drawing/2014/main" id="{E191E68D-E1C2-BDFC-D65E-A1937DD9EC57}"/>
                </a:ext>
              </a:extLst>
            </p:cNvPr>
            <p:cNvSpPr/>
            <p:nvPr/>
          </p:nvSpPr>
          <p:spPr>
            <a:xfrm>
              <a:off x="5321158" y="3821075"/>
              <a:ext cx="1095952" cy="203237"/>
            </a:xfrm>
            <a:prstGeom prst="roundRect">
              <a:avLst>
                <a:gd name="adj" fmla="val 12000"/>
              </a:avLst>
            </a:prstGeom>
            <a:solidFill>
              <a:schemeClr val="accent6">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PENDING</a:t>
              </a:r>
            </a:p>
          </p:txBody>
        </p:sp>
        <p:sp>
          <p:nvSpPr>
            <p:cNvPr id="9" name="Bar1">
              <a:extLst>
                <a:ext uri="{FF2B5EF4-FFF2-40B4-BE49-F238E27FC236}">
                  <a16:creationId xmlns:a16="http://schemas.microsoft.com/office/drawing/2014/main" id="{7EF60A02-EAA9-08DD-E0FD-94987616213C}"/>
                </a:ext>
              </a:extLst>
            </p:cNvPr>
            <p:cNvSpPr/>
            <p:nvPr/>
          </p:nvSpPr>
          <p:spPr>
            <a:xfrm>
              <a:off x="6680385" y="4876366"/>
              <a:ext cx="680500" cy="203237"/>
            </a:xfrm>
            <a:prstGeom prst="roundRect">
              <a:avLst>
                <a:gd name="adj" fmla="val 12000"/>
              </a:avLst>
            </a:prstGeom>
            <a:solidFill>
              <a:schemeClr val="accent2">
                <a:alpha val="85000"/>
              </a:schemeClr>
            </a:solidFill>
            <a:ln w="0">
              <a:noFill/>
            </a:ln>
          </p:spPr>
          <p:txBody>
            <a:bodyPr wrap="square" lIns="72000" tIns="36000" rIns="36000" bIns="36000" anchor="ctr"/>
            <a:lstStyle/>
            <a:p>
              <a:pPr algn="ctr">
                <a:buNone/>
              </a:pPr>
              <a:r>
                <a:rPr lang="en-US" sz="900" b="1" dirty="0">
                  <a:solidFill>
                    <a:schemeClr val="bg1"/>
                  </a:solidFill>
                  <a:latin typeface="Calibri"/>
                  <a:cs typeface="Calibri"/>
                </a:rPr>
                <a:t>PENDING</a:t>
              </a:r>
            </a:p>
          </p:txBody>
        </p:sp>
        <p:sp>
          <p:nvSpPr>
            <p:cNvPr id="10" name="Bar1">
              <a:extLst>
                <a:ext uri="{FF2B5EF4-FFF2-40B4-BE49-F238E27FC236}">
                  <a16:creationId xmlns:a16="http://schemas.microsoft.com/office/drawing/2014/main" id="{236FCACB-7BC9-3BF5-A36F-0F56D34255EF}"/>
                </a:ext>
              </a:extLst>
            </p:cNvPr>
            <p:cNvSpPr/>
            <p:nvPr/>
          </p:nvSpPr>
          <p:spPr>
            <a:xfrm>
              <a:off x="5964237" y="4340457"/>
              <a:ext cx="905745" cy="203237"/>
            </a:xfrm>
            <a:prstGeom prst="roundRect">
              <a:avLst>
                <a:gd name="adj" fmla="val 12000"/>
              </a:avLst>
            </a:prstGeom>
            <a:solidFill>
              <a:srgbClr val="643AE9">
                <a:alpha val="85000"/>
              </a:srgbClr>
            </a:solidFill>
            <a:ln w="0">
              <a:noFill/>
            </a:ln>
          </p:spPr>
          <p:txBody>
            <a:bodyPr wrap="square" lIns="72000" tIns="36000" rIns="36000" bIns="36000" anchor="ctr"/>
            <a:lstStyle/>
            <a:p>
              <a:pPr algn="ctr">
                <a:buNone/>
              </a:pPr>
              <a:r>
                <a:rPr lang="en-US" sz="900" b="1" dirty="0">
                  <a:solidFill>
                    <a:schemeClr val="bg1"/>
                  </a:solidFill>
                  <a:latin typeface="Calibri"/>
                  <a:cs typeface="Calibri"/>
                </a:rPr>
                <a:t>PENDING</a:t>
              </a:r>
            </a:p>
          </p:txBody>
        </p:sp>
      </p:grpSp>
      <p:sp>
        <p:nvSpPr>
          <p:cNvPr id="14" name="TextBox 13">
            <a:extLst>
              <a:ext uri="{FF2B5EF4-FFF2-40B4-BE49-F238E27FC236}">
                <a16:creationId xmlns:a16="http://schemas.microsoft.com/office/drawing/2014/main" id="{F1082811-CDAE-2C17-17D6-80A9A2CCC2B3}"/>
              </a:ext>
            </a:extLst>
          </p:cNvPr>
          <p:cNvSpPr txBox="1"/>
          <p:nvPr/>
        </p:nvSpPr>
        <p:spPr>
          <a:xfrm>
            <a:off x="8335720" y="1726138"/>
            <a:ext cx="2875205" cy="1050167"/>
          </a:xfrm>
          <a:prstGeom prst="rect">
            <a:avLst/>
          </a:prstGeom>
        </p:spPr>
        <p:txBody>
          <a:bodyPr vert="horz" lIns="91440" tIns="45720" rIns="91440" bIns="45720" rtlCol="0">
            <a:norm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NLP text-based sentiment score alongside traditional technical and macroeconomic indicators significantly stabilizes multi-step predictions.</a:t>
            </a:r>
          </a:p>
        </p:txBody>
      </p:sp>
      <p:sp>
        <p:nvSpPr>
          <p:cNvPr id="15" name="Google Shape;113;p13">
            <a:extLst>
              <a:ext uri="{FF2B5EF4-FFF2-40B4-BE49-F238E27FC236}">
                <a16:creationId xmlns:a16="http://schemas.microsoft.com/office/drawing/2014/main" id="{8B01436E-EB95-A7E5-8E67-FA02B464C873}"/>
              </a:ext>
            </a:extLst>
          </p:cNvPr>
          <p:cNvSpPr txBox="1"/>
          <p:nvPr/>
        </p:nvSpPr>
        <p:spPr>
          <a:xfrm>
            <a:off x="8409344" y="2917665"/>
            <a:ext cx="2258656"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Model Architecture lift</a:t>
            </a:r>
            <a:endParaRPr sz="1500" dirty="0">
              <a:latin typeface="Calibri" panose="020F0502020204030204" pitchFamily="34" charset="0"/>
              <a:ea typeface="Apple Symbols" panose="02000000000000000000" pitchFamily="2" charset="-79"/>
              <a:cs typeface="Calibri" panose="020F0502020204030204" pitchFamily="34" charset="0"/>
            </a:endParaRPr>
          </a:p>
        </p:txBody>
      </p:sp>
      <p:sp>
        <p:nvSpPr>
          <p:cNvPr id="16" name="TextBox 15">
            <a:extLst>
              <a:ext uri="{FF2B5EF4-FFF2-40B4-BE49-F238E27FC236}">
                <a16:creationId xmlns:a16="http://schemas.microsoft.com/office/drawing/2014/main" id="{A9C2D527-8AB6-A56E-5058-84773FAF353D}"/>
              </a:ext>
            </a:extLst>
          </p:cNvPr>
          <p:cNvSpPr txBox="1"/>
          <p:nvPr/>
        </p:nvSpPr>
        <p:spPr>
          <a:xfrm>
            <a:off x="8348776" y="3271918"/>
            <a:ext cx="2875205" cy="1200795"/>
          </a:xfrm>
          <a:prstGeom prst="rect">
            <a:avLst/>
          </a:prstGeom>
        </p:spPr>
        <p:txBody>
          <a:bodyPr vert="horz" lIns="91440" tIns="45720" rIns="91440" bIns="45720" rtlCol="0">
            <a:no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The Hybrid CNN-LSTM-Transformer architecture demonstrates a significant improvement in analyzing spatial, temporal and contextual features in the financial time series data over extended forecasting horizons.</a:t>
            </a:r>
          </a:p>
        </p:txBody>
      </p:sp>
      <p:sp>
        <p:nvSpPr>
          <p:cNvPr id="17" name="Google Shape;113;p13">
            <a:extLst>
              <a:ext uri="{FF2B5EF4-FFF2-40B4-BE49-F238E27FC236}">
                <a16:creationId xmlns:a16="http://schemas.microsoft.com/office/drawing/2014/main" id="{569783E9-1D89-B8D5-9015-907D1547F436}"/>
              </a:ext>
            </a:extLst>
          </p:cNvPr>
          <p:cNvSpPr txBox="1"/>
          <p:nvPr/>
        </p:nvSpPr>
        <p:spPr>
          <a:xfrm>
            <a:off x="8422400" y="4637624"/>
            <a:ext cx="2258656" cy="2308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500" b="1" dirty="0">
                <a:solidFill>
                  <a:srgbClr val="0F172A"/>
                </a:solidFill>
                <a:latin typeface="Calibri" panose="020F0502020204030204" pitchFamily="34" charset="0"/>
                <a:ea typeface="Apple Symbols" panose="02000000000000000000" pitchFamily="2" charset="-79"/>
                <a:cs typeface="Calibri" panose="020F0502020204030204" pitchFamily="34" charset="0"/>
                <a:sym typeface="Urbanist"/>
              </a:rPr>
              <a:t>High-Volatility Resilience</a:t>
            </a:r>
            <a:endParaRPr sz="1500" dirty="0">
              <a:latin typeface="Calibri" panose="020F0502020204030204" pitchFamily="34" charset="0"/>
              <a:ea typeface="Apple Symbols" panose="02000000000000000000" pitchFamily="2" charset="-79"/>
              <a:cs typeface="Calibri" panose="020F0502020204030204" pitchFamily="34" charset="0"/>
            </a:endParaRPr>
          </a:p>
        </p:txBody>
      </p:sp>
      <p:sp>
        <p:nvSpPr>
          <p:cNvPr id="18" name="TextBox 17">
            <a:extLst>
              <a:ext uri="{FF2B5EF4-FFF2-40B4-BE49-F238E27FC236}">
                <a16:creationId xmlns:a16="http://schemas.microsoft.com/office/drawing/2014/main" id="{97BDBC68-33AD-C816-F2CC-3DF71A6D3828}"/>
              </a:ext>
            </a:extLst>
          </p:cNvPr>
          <p:cNvSpPr txBox="1"/>
          <p:nvPr/>
        </p:nvSpPr>
        <p:spPr>
          <a:xfrm>
            <a:off x="8361832" y="4991877"/>
            <a:ext cx="2875205" cy="1200795"/>
          </a:xfrm>
          <a:prstGeom prst="rect">
            <a:avLst/>
          </a:prstGeom>
        </p:spPr>
        <p:txBody>
          <a:bodyPr vert="horz" lIns="91440" tIns="45720" rIns="91440" bIns="45720" rtlCol="0">
            <a:normAutofit/>
          </a:bodyPr>
          <a:lstStyle/>
          <a:p>
            <a:pPr>
              <a:lnSpc>
                <a:spcPct val="90000"/>
              </a:lnSpc>
              <a:spcAft>
                <a:spcPts val="600"/>
              </a:spcAft>
            </a:pPr>
            <a:r>
              <a:rPr lang="en-US" sz="1300" kern="1200" spc="30" dirty="0">
                <a:solidFill>
                  <a:schemeClr val="tx1"/>
                </a:solidFill>
                <a:effectLst/>
                <a:latin typeface="Calibri" panose="020F0502020204030204" pitchFamily="34" charset="0"/>
                <a:ea typeface="Apple Symbols" panose="02000000000000000000" pitchFamily="2" charset="-79"/>
                <a:cs typeface="Calibri" panose="020F0502020204030204" pitchFamily="34" charset="0"/>
              </a:rPr>
              <a:t>The implementation of regime-aware evaluation framework allows the AI model to maintain directional forecasting accuracy during the high-volatility market transitions.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E37C-6B54-4762-35DD-CF96B577C02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DA18051-7663-83F2-E0A2-D2B45D259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60FD637E-58D0-BEEE-42C1-474D2BA3000E}"/>
              </a:ext>
            </a:extLst>
          </p:cNvPr>
          <p:cNvSpPr txBox="1">
            <a:spLocks/>
          </p:cNvSpPr>
          <p:nvPr/>
        </p:nvSpPr>
        <p:spPr>
          <a:xfrm>
            <a:off x="406400" y="255512"/>
            <a:ext cx="2659017" cy="9321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3200" dirty="0">
                <a:solidFill>
                  <a:schemeClr val="bg2">
                    <a:lumMod val="75000"/>
                  </a:schemeClr>
                </a:solidFill>
                <a:latin typeface="Calibri" panose="020F0502020204030204" pitchFamily="34" charset="0"/>
                <a:cs typeface="Calibri" panose="020F0502020204030204" pitchFamily="34" charset="0"/>
              </a:rPr>
              <a:t>Future Work</a:t>
            </a:r>
          </a:p>
        </p:txBody>
      </p:sp>
      <p:sp>
        <p:nvSpPr>
          <p:cNvPr id="2" name="Card01">
            <a:extLst>
              <a:ext uri="{FF2B5EF4-FFF2-40B4-BE49-F238E27FC236}">
                <a16:creationId xmlns:a16="http://schemas.microsoft.com/office/drawing/2014/main" id="{A9B8B056-0DC1-202A-9BA6-6C98713DC8AC}"/>
              </a:ext>
            </a:extLst>
          </p:cNvPr>
          <p:cNvSpPr/>
          <p:nvPr/>
        </p:nvSpPr>
        <p:spPr>
          <a:xfrm>
            <a:off x="571000" y="1453214"/>
            <a:ext cx="3197436" cy="4096228"/>
          </a:xfrm>
          <a:prstGeom prst="roundRect">
            <a:avLst>
              <a:gd name="adj" fmla="val 4000"/>
            </a:avLst>
          </a:prstGeom>
          <a:solidFill>
            <a:srgbClr val="F0F0F0"/>
          </a:solidFill>
          <a:ln w="0">
            <a:noFill/>
          </a:ln>
        </p:spPr>
        <p:txBody>
          <a:bodyPr/>
          <a:lstStyle/>
          <a:p>
            <a:endParaRPr lang="en-US"/>
          </a:p>
        </p:txBody>
      </p:sp>
      <p:sp>
        <p:nvSpPr>
          <p:cNvPr id="3" name="Num01">
            <a:extLst>
              <a:ext uri="{FF2B5EF4-FFF2-40B4-BE49-F238E27FC236}">
                <a16:creationId xmlns:a16="http://schemas.microsoft.com/office/drawing/2014/main" id="{4D050DF8-C601-2809-2FA3-5F03A1A80212}"/>
              </a:ext>
            </a:extLst>
          </p:cNvPr>
          <p:cNvSpPr txBox="1"/>
          <p:nvPr/>
        </p:nvSpPr>
        <p:spPr>
          <a:xfrm>
            <a:off x="1945103" y="1539454"/>
            <a:ext cx="423697" cy="500000"/>
          </a:xfrm>
          <a:prstGeom prst="rect">
            <a:avLst/>
          </a:prstGeom>
          <a:noFill/>
        </p:spPr>
        <p:txBody>
          <a:bodyPr wrap="square" lIns="0" tIns="0" rIns="0" bIns="0" anchor="t"/>
          <a:lstStyle/>
          <a:p>
            <a:pPr algn="l">
              <a:buNone/>
            </a:pPr>
            <a:r>
              <a:rPr lang="en-US" sz="3600" b="1" dirty="0">
                <a:solidFill>
                  <a:srgbClr val="2563EB">
                    <a:alpha val="40000"/>
                  </a:srgbClr>
                </a:solidFill>
                <a:latin typeface="Trebuchet MS"/>
                <a:cs typeface="Trebuchet MS"/>
              </a:rPr>
              <a:t>1</a:t>
            </a:r>
          </a:p>
        </p:txBody>
      </p:sp>
      <p:sp>
        <p:nvSpPr>
          <p:cNvPr id="4" name="Title01">
            <a:extLst>
              <a:ext uri="{FF2B5EF4-FFF2-40B4-BE49-F238E27FC236}">
                <a16:creationId xmlns:a16="http://schemas.microsoft.com/office/drawing/2014/main" id="{343769B4-DC18-02DC-0BEF-688339F44B8B}"/>
              </a:ext>
            </a:extLst>
          </p:cNvPr>
          <p:cNvSpPr txBox="1"/>
          <p:nvPr/>
        </p:nvSpPr>
        <p:spPr>
          <a:xfrm>
            <a:off x="690999" y="2151129"/>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Integration of Explainable AI (XAI) for Model Interpretability</a:t>
            </a:r>
            <a:endParaRPr lang="en-US" sz="1500" b="1" dirty="0">
              <a:solidFill>
                <a:srgbClr val="333333"/>
              </a:solidFill>
              <a:latin typeface="Calibri" panose="020F0502020204030204" pitchFamily="34" charset="0"/>
              <a:cs typeface="Calibri" panose="020F0502020204030204" pitchFamily="34" charset="0"/>
            </a:endParaRPr>
          </a:p>
        </p:txBody>
      </p:sp>
      <p:sp>
        <p:nvSpPr>
          <p:cNvPr id="5" name="Desc01">
            <a:extLst>
              <a:ext uri="{FF2B5EF4-FFF2-40B4-BE49-F238E27FC236}">
                <a16:creationId xmlns:a16="http://schemas.microsoft.com/office/drawing/2014/main" id="{F6849A84-76B1-E928-403A-F2565F4CAF0F}"/>
              </a:ext>
            </a:extLst>
          </p:cNvPr>
          <p:cNvSpPr txBox="1"/>
          <p:nvPr/>
        </p:nvSpPr>
        <p:spPr>
          <a:xfrm>
            <a:off x="809390" y="2770982"/>
            <a:ext cx="2695124" cy="2685282"/>
          </a:xfrm>
          <a:prstGeom prst="rect">
            <a:avLst/>
          </a:prstGeom>
          <a:noFill/>
        </p:spPr>
        <p:txBody>
          <a:bodyPr wrap="square" lIns="0" tIns="0" rIns="0" bIns="0" anchor="t"/>
          <a:lstStyle/>
          <a:p>
            <a:r>
              <a:rPr lang="en-SG" sz="1300" dirty="0">
                <a:latin typeface="Calibri" panose="020F0502020204030204" pitchFamily="34" charset="0"/>
                <a:ea typeface="Apple Symbols" panose="02000000000000000000" pitchFamily="2" charset="-79"/>
                <a:cs typeface="Calibri" panose="020F0502020204030204" pitchFamily="34" charset="0"/>
              </a:rPr>
              <a:t>While the Hybrid CNN-LSTM-Transformer architecture delivers high predictive accuracy, deep learning frameworks operate largely as "black boxes." Implementing techniques like </a:t>
            </a:r>
            <a:r>
              <a:rPr lang="en-SG" sz="1300" b="1" dirty="0">
                <a:latin typeface="Calibri" panose="020F0502020204030204" pitchFamily="34" charset="0"/>
                <a:ea typeface="Apple Symbols" panose="02000000000000000000" pitchFamily="2" charset="-79"/>
                <a:cs typeface="Calibri" panose="020F0502020204030204" pitchFamily="34" charset="0"/>
              </a:rPr>
              <a:t>SHAP (</a:t>
            </a:r>
            <a:r>
              <a:rPr lang="en-SG" sz="1300" b="1" dirty="0" err="1">
                <a:latin typeface="Calibri" panose="020F0502020204030204" pitchFamily="34" charset="0"/>
                <a:ea typeface="Apple Symbols" panose="02000000000000000000" pitchFamily="2" charset="-79"/>
                <a:cs typeface="Calibri" panose="020F0502020204030204" pitchFamily="34" charset="0"/>
              </a:rPr>
              <a:t>SHapley</a:t>
            </a:r>
            <a:r>
              <a:rPr lang="en-SG" sz="1300" b="1" dirty="0">
                <a:latin typeface="Calibri" panose="020F0502020204030204" pitchFamily="34" charset="0"/>
                <a:ea typeface="Apple Symbols" panose="02000000000000000000" pitchFamily="2" charset="-79"/>
                <a:cs typeface="Calibri" panose="020F0502020204030204" pitchFamily="34" charset="0"/>
              </a:rPr>
              <a:t> Additive </a:t>
            </a:r>
            <a:r>
              <a:rPr lang="en-SG" sz="1300" b="1" dirty="0" err="1">
                <a:latin typeface="Calibri" panose="020F0502020204030204" pitchFamily="34" charset="0"/>
                <a:ea typeface="Apple Symbols" panose="02000000000000000000" pitchFamily="2" charset="-79"/>
                <a:cs typeface="Calibri" panose="020F0502020204030204" pitchFamily="34" charset="0"/>
              </a:rPr>
              <a:t>exPlanations</a:t>
            </a:r>
            <a:r>
              <a:rPr lang="en-SG" sz="1300" b="1" dirty="0">
                <a:latin typeface="Calibri" panose="020F0502020204030204" pitchFamily="34" charset="0"/>
                <a:ea typeface="Apple Symbols" panose="02000000000000000000" pitchFamily="2" charset="-79"/>
                <a:cs typeface="Calibri" panose="020F0502020204030204" pitchFamily="34" charset="0"/>
              </a:rPr>
              <a:t>)</a:t>
            </a:r>
            <a:r>
              <a:rPr lang="en-SG" sz="1300" dirty="0">
                <a:latin typeface="Calibri" panose="020F0502020204030204" pitchFamily="34" charset="0"/>
                <a:ea typeface="Apple Symbols" panose="02000000000000000000" pitchFamily="2" charset="-79"/>
                <a:cs typeface="Calibri" panose="020F0502020204030204" pitchFamily="34" charset="0"/>
              </a:rPr>
              <a:t> or visualizing the </a:t>
            </a:r>
            <a:r>
              <a:rPr lang="en-SG" sz="1300" b="1" dirty="0">
                <a:latin typeface="Calibri" panose="020F0502020204030204" pitchFamily="34" charset="0"/>
                <a:ea typeface="Apple Symbols" panose="02000000000000000000" pitchFamily="2" charset="-79"/>
                <a:cs typeface="Calibri" panose="020F0502020204030204" pitchFamily="34" charset="0"/>
              </a:rPr>
              <a:t>Transformer's Self-Attention weights</a:t>
            </a:r>
            <a:r>
              <a:rPr lang="en-SG" sz="1300" dirty="0">
                <a:latin typeface="Calibri" panose="020F0502020204030204" pitchFamily="34" charset="0"/>
                <a:ea typeface="Apple Symbols" panose="02000000000000000000" pitchFamily="2" charset="-79"/>
                <a:cs typeface="Calibri" panose="020F0502020204030204" pitchFamily="34" charset="0"/>
              </a:rPr>
              <a:t> can map exactly which technical or sentiment features drive a specific multi-step prediction.</a:t>
            </a:r>
          </a:p>
        </p:txBody>
      </p:sp>
      <p:sp>
        <p:nvSpPr>
          <p:cNvPr id="6" name="Card02">
            <a:extLst>
              <a:ext uri="{FF2B5EF4-FFF2-40B4-BE49-F238E27FC236}">
                <a16:creationId xmlns:a16="http://schemas.microsoft.com/office/drawing/2014/main" id="{3907D473-B7BE-BA16-1F78-E1016FF9160E}"/>
              </a:ext>
            </a:extLst>
          </p:cNvPr>
          <p:cNvSpPr/>
          <p:nvPr/>
        </p:nvSpPr>
        <p:spPr>
          <a:xfrm>
            <a:off x="4339437" y="1453216"/>
            <a:ext cx="3197436" cy="4096227"/>
          </a:xfrm>
          <a:prstGeom prst="roundRect">
            <a:avLst>
              <a:gd name="adj" fmla="val 4000"/>
            </a:avLst>
          </a:prstGeom>
          <a:solidFill>
            <a:srgbClr val="F0F0F0"/>
          </a:solidFill>
          <a:ln w="0">
            <a:noFill/>
          </a:ln>
        </p:spPr>
        <p:txBody>
          <a:bodyPr/>
          <a:lstStyle/>
          <a:p>
            <a:endParaRPr lang="en-US"/>
          </a:p>
        </p:txBody>
      </p:sp>
      <p:sp>
        <p:nvSpPr>
          <p:cNvPr id="7" name="Num02">
            <a:extLst>
              <a:ext uri="{FF2B5EF4-FFF2-40B4-BE49-F238E27FC236}">
                <a16:creationId xmlns:a16="http://schemas.microsoft.com/office/drawing/2014/main" id="{485FD224-D9A6-5E2E-C08B-2D5C4CDDCDD5}"/>
              </a:ext>
            </a:extLst>
          </p:cNvPr>
          <p:cNvSpPr txBox="1"/>
          <p:nvPr/>
        </p:nvSpPr>
        <p:spPr>
          <a:xfrm>
            <a:off x="5688277" y="1539454"/>
            <a:ext cx="499756" cy="500000"/>
          </a:xfrm>
          <a:prstGeom prst="rect">
            <a:avLst/>
          </a:prstGeom>
          <a:noFill/>
        </p:spPr>
        <p:txBody>
          <a:bodyPr wrap="square" lIns="0" tIns="0" rIns="0" bIns="0" anchor="t"/>
          <a:lstStyle/>
          <a:p>
            <a:pPr algn="l">
              <a:buNone/>
            </a:pPr>
            <a:r>
              <a:rPr lang="en-US" sz="3600" b="1" dirty="0">
                <a:solidFill>
                  <a:srgbClr val="0891B2">
                    <a:alpha val="40000"/>
                  </a:srgbClr>
                </a:solidFill>
                <a:latin typeface="Trebuchet MS"/>
                <a:cs typeface="Trebuchet MS"/>
              </a:rPr>
              <a:t>2</a:t>
            </a:r>
          </a:p>
        </p:txBody>
      </p:sp>
      <p:sp>
        <p:nvSpPr>
          <p:cNvPr id="17" name="Title01">
            <a:extLst>
              <a:ext uri="{FF2B5EF4-FFF2-40B4-BE49-F238E27FC236}">
                <a16:creationId xmlns:a16="http://schemas.microsoft.com/office/drawing/2014/main" id="{7290AA33-65E8-C354-912B-A419EFAEDF51}"/>
              </a:ext>
            </a:extLst>
          </p:cNvPr>
          <p:cNvSpPr txBox="1"/>
          <p:nvPr/>
        </p:nvSpPr>
        <p:spPr>
          <a:xfrm>
            <a:off x="4492309" y="2146767"/>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Advanced NLP Features via Large Language Models (LLMs)</a:t>
            </a:r>
          </a:p>
        </p:txBody>
      </p:sp>
      <p:sp>
        <p:nvSpPr>
          <p:cNvPr id="18" name="Desc01">
            <a:extLst>
              <a:ext uri="{FF2B5EF4-FFF2-40B4-BE49-F238E27FC236}">
                <a16:creationId xmlns:a16="http://schemas.microsoft.com/office/drawing/2014/main" id="{567383D2-9ED4-9449-92A2-F3F5C5E14D98}"/>
              </a:ext>
            </a:extLst>
          </p:cNvPr>
          <p:cNvSpPr txBox="1"/>
          <p:nvPr/>
        </p:nvSpPr>
        <p:spPr>
          <a:xfrm>
            <a:off x="4610700" y="2766620"/>
            <a:ext cx="2695124" cy="2685282"/>
          </a:xfrm>
          <a:prstGeom prst="rect">
            <a:avLst/>
          </a:prstGeom>
          <a:noFill/>
        </p:spPr>
        <p:txBody>
          <a:bodyPr wrap="square" lIns="0" tIns="0" rIns="0" bIns="0" anchor="t"/>
          <a:lstStyle/>
          <a:p>
            <a:r>
              <a:rPr lang="en-SG" sz="1300" dirty="0">
                <a:latin typeface="Calibri" panose="020F0502020204030204" pitchFamily="34" charset="0"/>
                <a:ea typeface="Apple Symbols" panose="02000000000000000000" pitchFamily="2" charset="-79"/>
                <a:cs typeface="Calibri" panose="020F0502020204030204" pitchFamily="34" charset="0"/>
              </a:rPr>
              <a:t>Upgrade the current transformer-based news sentiment extraction pipeline by utilizing specialized financial LLMs (like </a:t>
            </a:r>
            <a:r>
              <a:rPr lang="en-SG" sz="1300" dirty="0" err="1">
                <a:latin typeface="Calibri" panose="020F0502020204030204" pitchFamily="34" charset="0"/>
                <a:ea typeface="Apple Symbols" panose="02000000000000000000" pitchFamily="2" charset="-79"/>
                <a:cs typeface="Calibri" panose="020F0502020204030204" pitchFamily="34" charset="0"/>
              </a:rPr>
              <a:t>FinBERT</a:t>
            </a:r>
            <a:r>
              <a:rPr lang="en-SG" sz="1300" dirty="0">
                <a:latin typeface="Calibri" panose="020F0502020204030204" pitchFamily="34" charset="0"/>
                <a:ea typeface="Apple Symbols" panose="02000000000000000000" pitchFamily="2" charset="-79"/>
                <a:cs typeface="Calibri" panose="020F0502020204030204" pitchFamily="34" charset="0"/>
              </a:rPr>
              <a:t> or Llama-3-Finance). This would allow the model to capture deeper contextual nuances, such as macro-economic implications in central bank speeches (e.g., Federal Reserve minutes), rather than relying solely on surface-level headline sentiment.</a:t>
            </a:r>
          </a:p>
        </p:txBody>
      </p:sp>
      <p:sp>
        <p:nvSpPr>
          <p:cNvPr id="19" name="Card02">
            <a:extLst>
              <a:ext uri="{FF2B5EF4-FFF2-40B4-BE49-F238E27FC236}">
                <a16:creationId xmlns:a16="http://schemas.microsoft.com/office/drawing/2014/main" id="{EF7C3B3A-3601-125E-24F5-CB2CA431DAAA}"/>
              </a:ext>
            </a:extLst>
          </p:cNvPr>
          <p:cNvSpPr/>
          <p:nvPr/>
        </p:nvSpPr>
        <p:spPr>
          <a:xfrm>
            <a:off x="8107874" y="1453215"/>
            <a:ext cx="3197436" cy="4096227"/>
          </a:xfrm>
          <a:prstGeom prst="roundRect">
            <a:avLst>
              <a:gd name="adj" fmla="val 4000"/>
            </a:avLst>
          </a:prstGeom>
          <a:solidFill>
            <a:srgbClr val="F0F0F0"/>
          </a:solidFill>
          <a:ln w="0">
            <a:noFill/>
          </a:ln>
        </p:spPr>
        <p:txBody>
          <a:bodyPr/>
          <a:lstStyle/>
          <a:p>
            <a:endParaRPr lang="en-US"/>
          </a:p>
        </p:txBody>
      </p:sp>
      <p:sp>
        <p:nvSpPr>
          <p:cNvPr id="20" name="Num03">
            <a:extLst>
              <a:ext uri="{FF2B5EF4-FFF2-40B4-BE49-F238E27FC236}">
                <a16:creationId xmlns:a16="http://schemas.microsoft.com/office/drawing/2014/main" id="{E80AA5AB-4AD3-A725-8813-18B981F3341B}"/>
              </a:ext>
            </a:extLst>
          </p:cNvPr>
          <p:cNvSpPr txBox="1"/>
          <p:nvPr/>
        </p:nvSpPr>
        <p:spPr>
          <a:xfrm>
            <a:off x="9506558" y="1527225"/>
            <a:ext cx="356353" cy="500000"/>
          </a:xfrm>
          <a:prstGeom prst="rect">
            <a:avLst/>
          </a:prstGeom>
          <a:noFill/>
        </p:spPr>
        <p:txBody>
          <a:bodyPr wrap="square" lIns="0" tIns="0" rIns="0" bIns="0" anchor="t"/>
          <a:lstStyle/>
          <a:p>
            <a:pPr algn="l">
              <a:buNone/>
            </a:pPr>
            <a:r>
              <a:rPr lang="en-US" sz="3600" b="1" dirty="0">
                <a:solidFill>
                  <a:srgbClr val="059669">
                    <a:alpha val="40000"/>
                  </a:srgbClr>
                </a:solidFill>
                <a:latin typeface="Trebuchet MS"/>
                <a:cs typeface="Trebuchet MS"/>
              </a:rPr>
              <a:t>3</a:t>
            </a:r>
          </a:p>
        </p:txBody>
      </p:sp>
      <p:sp>
        <p:nvSpPr>
          <p:cNvPr id="21" name="Title01">
            <a:extLst>
              <a:ext uri="{FF2B5EF4-FFF2-40B4-BE49-F238E27FC236}">
                <a16:creationId xmlns:a16="http://schemas.microsoft.com/office/drawing/2014/main" id="{701A17A0-6F11-C950-AE9D-601DED9E7B44}"/>
              </a:ext>
            </a:extLst>
          </p:cNvPr>
          <p:cNvSpPr txBox="1"/>
          <p:nvPr/>
        </p:nvSpPr>
        <p:spPr>
          <a:xfrm>
            <a:off x="8267475" y="2147078"/>
            <a:ext cx="2975309" cy="500000"/>
          </a:xfrm>
          <a:prstGeom prst="rect">
            <a:avLst/>
          </a:prstGeom>
          <a:noFill/>
        </p:spPr>
        <p:txBody>
          <a:bodyPr wrap="square" lIns="0" tIns="0" rIns="0" bIns="0" anchor="t"/>
          <a:lstStyle/>
          <a:p>
            <a:r>
              <a:rPr lang="en-SG" sz="1500" b="1" dirty="0">
                <a:latin typeface="Calibri" panose="020F0502020204030204" pitchFamily="34" charset="0"/>
                <a:ea typeface="Apple Symbols" panose="02000000000000000000" pitchFamily="2" charset="-79"/>
                <a:cs typeface="Calibri" panose="020F0502020204030204" pitchFamily="34" charset="0"/>
              </a:rPr>
              <a:t>Reinforcement Learning (RL) Framework for Automated Execution</a:t>
            </a:r>
          </a:p>
        </p:txBody>
      </p:sp>
      <p:sp>
        <p:nvSpPr>
          <p:cNvPr id="22" name="Desc01">
            <a:extLst>
              <a:ext uri="{FF2B5EF4-FFF2-40B4-BE49-F238E27FC236}">
                <a16:creationId xmlns:a16="http://schemas.microsoft.com/office/drawing/2014/main" id="{F146FF03-D7C8-8259-40CD-2EFC23AE3B86}"/>
              </a:ext>
            </a:extLst>
          </p:cNvPr>
          <p:cNvSpPr txBox="1"/>
          <p:nvPr/>
        </p:nvSpPr>
        <p:spPr>
          <a:xfrm>
            <a:off x="8385866" y="2766931"/>
            <a:ext cx="2695124" cy="2685282"/>
          </a:xfrm>
          <a:prstGeom prst="rect">
            <a:avLst/>
          </a:prstGeom>
          <a:noFill/>
        </p:spPr>
        <p:txBody>
          <a:bodyPr wrap="square" lIns="0" tIns="0" rIns="0" bIns="0" anchor="t"/>
          <a:lstStyle/>
          <a:p>
            <a:pPr lvl="1"/>
            <a:r>
              <a:rPr lang="en-SG" sz="1300" dirty="0">
                <a:latin typeface="Calibri" panose="020F0502020204030204" pitchFamily="34" charset="0"/>
                <a:ea typeface="Apple Symbols" panose="02000000000000000000" pitchFamily="2" charset="-79"/>
                <a:cs typeface="Calibri" panose="020F0502020204030204" pitchFamily="34" charset="0"/>
              </a:rPr>
              <a:t>Transition from purely predicting price action (supervised learning) to an action-based framework. By wrapping the Hybrid model inside a </a:t>
            </a:r>
            <a:r>
              <a:rPr lang="en-SG" sz="1300" b="1" dirty="0">
                <a:latin typeface="Calibri" panose="020F0502020204030204" pitchFamily="34" charset="0"/>
                <a:ea typeface="Apple Symbols" panose="02000000000000000000" pitchFamily="2" charset="-79"/>
                <a:cs typeface="Calibri" panose="020F0502020204030204" pitchFamily="34" charset="0"/>
              </a:rPr>
              <a:t>Deep Reinforcement Learning (DRL)</a:t>
            </a:r>
            <a:r>
              <a:rPr lang="en-SG" sz="1300" dirty="0">
                <a:latin typeface="Calibri" panose="020F0502020204030204" pitchFamily="34" charset="0"/>
                <a:ea typeface="Apple Symbols" panose="02000000000000000000" pitchFamily="2" charset="-79"/>
                <a:cs typeface="Calibri" panose="020F0502020204030204" pitchFamily="34" charset="0"/>
              </a:rPr>
              <a:t> agent, the system can learn optimized trading policies, dynamically adjusting stop-loss margins and position sizing based on the model's multi-step volatility forecasts.</a:t>
            </a:r>
          </a:p>
        </p:txBody>
      </p:sp>
    </p:spTree>
    <p:extLst>
      <p:ext uri="{BB962C8B-B14F-4D97-AF65-F5344CB8AC3E}">
        <p14:creationId xmlns:p14="http://schemas.microsoft.com/office/powerpoint/2010/main" val="338093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20D1-567B-4554-FEA6-9A0BA01B4838}"/>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E04197-0A26-8E72-E7A3-CB63323F7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F3312D1-D387-A1BB-CC5C-1C031ED274A7}"/>
              </a:ext>
            </a:extLst>
          </p:cNvPr>
          <p:cNvSpPr txBox="1">
            <a:spLocks/>
          </p:cNvSpPr>
          <p:nvPr/>
        </p:nvSpPr>
        <p:spPr>
          <a:xfrm>
            <a:off x="4220753" y="2711329"/>
            <a:ext cx="3991430" cy="9321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chemeClr val="bg2">
                    <a:lumMod val="75000"/>
                  </a:schemeClr>
                </a:solidFill>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2489288790"/>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Literature Survey</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Progression from linear econometrics to multi-modal deep learning — four IEEE-indexed precedents</a:t>
            </a:r>
          </a:p>
        </p:txBody>
      </p:sp>
      <p:sp>
        <p:nvSpPr>
          <p:cNvPr id="5" name="Rounded Rectangle 4"/>
          <p:cNvSpPr/>
          <p:nvPr/>
        </p:nvSpPr>
        <p:spPr>
          <a:xfrm>
            <a:off x="566928" y="1600200"/>
            <a:ext cx="5394960" cy="21488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856232"/>
            <a:ext cx="4754880" cy="54864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LSTM vs XGBoost vs Transformer (2025)</a:t>
            </a:r>
          </a:p>
        </p:txBody>
      </p:sp>
      <p:sp>
        <p:nvSpPr>
          <p:cNvPr id="7" name="TextBox 6"/>
          <p:cNvSpPr txBox="1"/>
          <p:nvPr/>
        </p:nvSpPr>
        <p:spPr>
          <a:xfrm>
            <a:off x="886968" y="2441448"/>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CBD5E1"/>
                </a:solidFill>
                <a:latin typeface="Calibri"/>
              </a:rPr>
              <a:t>Benchmarks the three architectures on EUR/USD, NZD/USD and others.</a:t>
            </a:r>
          </a:p>
        </p:txBody>
      </p:sp>
      <p:sp>
        <p:nvSpPr>
          <p:cNvPr id="8" name="TextBox 7"/>
          <p:cNvSpPr txBox="1"/>
          <p:nvPr/>
        </p:nvSpPr>
        <p:spPr>
          <a:xfrm>
            <a:off x="886968" y="3017520"/>
            <a:ext cx="4754880" cy="457200"/>
          </a:xfrm>
          <a:prstGeom prst="rect">
            <a:avLst/>
          </a:prstGeom>
          <a:noFill/>
        </p:spPr>
        <p:txBody>
          <a:bodyPr wrap="square" anchor="t" lIns="0" rIns="0" tIns="0" bIns="0">
            <a:spAutoFit/>
          </a:bodyPr>
          <a:lstStyle/>
          <a:p>
            <a:pPr algn="l">
              <a:spcBef>
                <a:spcPts val="0"/>
              </a:spcBef>
              <a:spcAft>
                <a:spcPts val="200"/>
              </a:spcAft>
            </a:pPr>
            <a:r>
              <a:rPr sz="1150" b="1" i="0">
                <a:solidFill>
                  <a:srgbClr val="FFFFFF"/>
                </a:solidFill>
                <a:latin typeface="Calibri"/>
              </a:rPr>
              <a:t>Finding:  </a:t>
            </a:r>
            <a:r>
              <a:rPr sz="1150" b="0" i="0">
                <a:solidFill>
                  <a:srgbClr val="CBD5E1"/>
                </a:solidFill>
                <a:latin typeface="Calibri"/>
              </a:rPr>
              <a:t>No single model dominates all regimes → an ensemble balances accuracy and reliability.</a:t>
            </a:r>
          </a:p>
        </p:txBody>
      </p:sp>
      <p:sp>
        <p:nvSpPr>
          <p:cNvPr id="9" name="TextBox 8"/>
          <p:cNvSpPr txBox="1"/>
          <p:nvPr/>
        </p:nvSpPr>
        <p:spPr>
          <a:xfrm>
            <a:off x="886968" y="3447288"/>
            <a:ext cx="4754880" cy="274320"/>
          </a:xfrm>
          <a:prstGeom prst="rect">
            <a:avLst/>
          </a:prstGeom>
          <a:noFill/>
        </p:spPr>
        <p:txBody>
          <a:bodyPr wrap="square" anchor="t" lIns="0" rIns="0" tIns="0" bIns="0">
            <a:spAutoFit/>
          </a:bodyPr>
          <a:lstStyle/>
          <a:p>
            <a:pPr algn="l">
              <a:spcBef>
                <a:spcPts val="0"/>
              </a:spcBef>
              <a:spcAft>
                <a:spcPts val="200"/>
              </a:spcAft>
            </a:pPr>
            <a:r>
              <a:rPr sz="1100" b="1" i="0">
                <a:solidFill>
                  <a:srgbClr val="2563EB"/>
                </a:solidFill>
                <a:latin typeface="Calibri"/>
              </a:rPr>
              <a:t>▸ Motivates a HYBRID design</a:t>
            </a:r>
          </a:p>
        </p:txBody>
      </p:sp>
      <p:sp>
        <p:nvSpPr>
          <p:cNvPr id="10" name="Rounded Rectangle 9"/>
          <p:cNvSpPr/>
          <p:nvPr/>
        </p:nvSpPr>
        <p:spPr>
          <a:xfrm>
            <a:off x="6217920" y="1600200"/>
            <a:ext cx="5394960" cy="21488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856232"/>
            <a:ext cx="4754880" cy="54864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Sequential Deep Learning – LSTM (2025)</a:t>
            </a:r>
          </a:p>
        </p:txBody>
      </p:sp>
      <p:sp>
        <p:nvSpPr>
          <p:cNvPr id="12" name="TextBox 11"/>
          <p:cNvSpPr txBox="1"/>
          <p:nvPr/>
        </p:nvSpPr>
        <p:spPr>
          <a:xfrm>
            <a:off x="6537960" y="2441448"/>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CBD5E1"/>
                </a:solidFill>
                <a:latin typeface="Calibri"/>
              </a:rPr>
              <a:t>Windowed LSTM encoders fused with financial-news sentiment scores.</a:t>
            </a:r>
          </a:p>
        </p:txBody>
      </p:sp>
      <p:sp>
        <p:nvSpPr>
          <p:cNvPr id="13" name="TextBox 12"/>
          <p:cNvSpPr txBox="1"/>
          <p:nvPr/>
        </p:nvSpPr>
        <p:spPr>
          <a:xfrm>
            <a:off x="6537960" y="3017520"/>
            <a:ext cx="4754880" cy="457200"/>
          </a:xfrm>
          <a:prstGeom prst="rect">
            <a:avLst/>
          </a:prstGeom>
          <a:noFill/>
        </p:spPr>
        <p:txBody>
          <a:bodyPr wrap="square" anchor="t" lIns="0" rIns="0" tIns="0" bIns="0">
            <a:spAutoFit/>
          </a:bodyPr>
          <a:lstStyle/>
          <a:p>
            <a:pPr algn="l">
              <a:spcBef>
                <a:spcPts val="0"/>
              </a:spcBef>
              <a:spcAft>
                <a:spcPts val="200"/>
              </a:spcAft>
            </a:pPr>
            <a:r>
              <a:rPr sz="1150" b="1" i="0">
                <a:solidFill>
                  <a:srgbClr val="FFFFFF"/>
                </a:solidFill>
                <a:latin typeface="Calibri"/>
              </a:rPr>
              <a:t>Finding:  </a:t>
            </a:r>
            <a:r>
              <a:rPr sz="1150" b="0" i="0">
                <a:solidFill>
                  <a:srgbClr val="CBD5E1"/>
                </a:solidFill>
                <a:latin typeface="Calibri"/>
              </a:rPr>
              <a:t>Substantially outperforms ARIMA on closing-price prediction.</a:t>
            </a:r>
          </a:p>
        </p:txBody>
      </p:sp>
      <p:sp>
        <p:nvSpPr>
          <p:cNvPr id="14" name="TextBox 13"/>
          <p:cNvSpPr txBox="1"/>
          <p:nvPr/>
        </p:nvSpPr>
        <p:spPr>
          <a:xfrm>
            <a:off x="6537960" y="3447288"/>
            <a:ext cx="4754880" cy="274320"/>
          </a:xfrm>
          <a:prstGeom prst="rect">
            <a:avLst/>
          </a:prstGeom>
          <a:noFill/>
        </p:spPr>
        <p:txBody>
          <a:bodyPr wrap="square" anchor="t" lIns="0" rIns="0" tIns="0" bIns="0">
            <a:spAutoFit/>
          </a:bodyPr>
          <a:lstStyle/>
          <a:p>
            <a:pPr algn="l">
              <a:spcBef>
                <a:spcPts val="0"/>
              </a:spcBef>
              <a:spcAft>
                <a:spcPts val="200"/>
              </a:spcAft>
            </a:pPr>
            <a:r>
              <a:rPr sz="1100" b="1" i="0">
                <a:solidFill>
                  <a:srgbClr val="0891B2"/>
                </a:solidFill>
                <a:latin typeface="Calibri"/>
              </a:rPr>
              <a:t>▸ Sentiment + sequence models win</a:t>
            </a:r>
          </a:p>
        </p:txBody>
      </p:sp>
      <p:sp>
        <p:nvSpPr>
          <p:cNvPr id="15" name="Rounded Rectangle 14"/>
          <p:cNvSpPr/>
          <p:nvPr/>
        </p:nvSpPr>
        <p:spPr>
          <a:xfrm>
            <a:off x="566928" y="3977639"/>
            <a:ext cx="5394960" cy="21488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4233672"/>
            <a:ext cx="4754880" cy="54864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Forex Trend Prediction with CNN (2023)</a:t>
            </a:r>
          </a:p>
        </p:txBody>
      </p:sp>
      <p:sp>
        <p:nvSpPr>
          <p:cNvPr id="17" name="TextBox 16"/>
          <p:cNvSpPr txBox="1"/>
          <p:nvPr/>
        </p:nvSpPr>
        <p:spPr>
          <a:xfrm>
            <a:off x="886968" y="4818888"/>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CBD5E1"/>
                </a:solidFill>
                <a:latin typeface="Calibri"/>
              </a:rPr>
              <a:t>Converts price sequences into image-like maps for a convolutional classifier.</a:t>
            </a:r>
          </a:p>
        </p:txBody>
      </p:sp>
      <p:sp>
        <p:nvSpPr>
          <p:cNvPr id="18" name="TextBox 17"/>
          <p:cNvSpPr txBox="1"/>
          <p:nvPr/>
        </p:nvSpPr>
        <p:spPr>
          <a:xfrm>
            <a:off x="886968" y="5394959"/>
            <a:ext cx="4754880" cy="457200"/>
          </a:xfrm>
          <a:prstGeom prst="rect">
            <a:avLst/>
          </a:prstGeom>
          <a:noFill/>
        </p:spPr>
        <p:txBody>
          <a:bodyPr wrap="square" anchor="t" lIns="0" rIns="0" tIns="0" bIns="0">
            <a:spAutoFit/>
          </a:bodyPr>
          <a:lstStyle/>
          <a:p>
            <a:pPr algn="l">
              <a:spcBef>
                <a:spcPts val="0"/>
              </a:spcBef>
              <a:spcAft>
                <a:spcPts val="200"/>
              </a:spcAft>
            </a:pPr>
            <a:r>
              <a:rPr sz="1150" b="1" i="0">
                <a:solidFill>
                  <a:srgbClr val="FFFFFF"/>
                </a:solidFill>
                <a:latin typeface="Calibri"/>
              </a:rPr>
              <a:t>Finding:  </a:t>
            </a:r>
            <a:r>
              <a:rPr sz="1150" b="0" i="0">
                <a:solidFill>
                  <a:srgbClr val="CBD5E1"/>
                </a:solidFill>
                <a:latin typeface="Calibri"/>
              </a:rPr>
              <a:t>≈ 93% directional accuracy (single-step, out-of-sample).</a:t>
            </a:r>
          </a:p>
        </p:txBody>
      </p:sp>
      <p:sp>
        <p:nvSpPr>
          <p:cNvPr id="19" name="TextBox 18"/>
          <p:cNvSpPr txBox="1"/>
          <p:nvPr/>
        </p:nvSpPr>
        <p:spPr>
          <a:xfrm>
            <a:off x="886968" y="5824727"/>
            <a:ext cx="4754880" cy="274320"/>
          </a:xfrm>
          <a:prstGeom prst="rect">
            <a:avLst/>
          </a:prstGeom>
          <a:noFill/>
        </p:spPr>
        <p:txBody>
          <a:bodyPr wrap="square" anchor="t" lIns="0" rIns="0" tIns="0" bIns="0">
            <a:spAutoFit/>
          </a:bodyPr>
          <a:lstStyle/>
          <a:p>
            <a:pPr algn="l">
              <a:spcBef>
                <a:spcPts val="0"/>
              </a:spcBef>
              <a:spcAft>
                <a:spcPts val="200"/>
              </a:spcAft>
            </a:pPr>
            <a:r>
              <a:rPr sz="1100" b="1" i="0">
                <a:solidFill>
                  <a:srgbClr val="059669"/>
                </a:solidFill>
                <a:latin typeface="Calibri"/>
              </a:rPr>
              <a:t>▸ Justifies a CNN local-feature stage</a:t>
            </a:r>
          </a:p>
        </p:txBody>
      </p:sp>
      <p:sp>
        <p:nvSpPr>
          <p:cNvPr id="20" name="Rounded Rectangle 19"/>
          <p:cNvSpPr/>
          <p:nvPr/>
        </p:nvSpPr>
        <p:spPr>
          <a:xfrm>
            <a:off x="6217920" y="3977639"/>
            <a:ext cx="5394960" cy="21488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4233672"/>
            <a:ext cx="4754880" cy="54864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News Sentiment on FX – FinBERT (2023)</a:t>
            </a:r>
          </a:p>
        </p:txBody>
      </p:sp>
      <p:sp>
        <p:nvSpPr>
          <p:cNvPr id="22" name="TextBox 21"/>
          <p:cNvSpPr txBox="1"/>
          <p:nvPr/>
        </p:nvSpPr>
        <p:spPr>
          <a:xfrm>
            <a:off x="6537960" y="4818888"/>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CBD5E1"/>
                </a:solidFill>
                <a:latin typeface="Calibri"/>
              </a:rPr>
              <a:t>Augments a USD/INR econometric model with a FinBERT sentiment index.</a:t>
            </a:r>
          </a:p>
        </p:txBody>
      </p:sp>
      <p:sp>
        <p:nvSpPr>
          <p:cNvPr id="23" name="TextBox 22"/>
          <p:cNvSpPr txBox="1"/>
          <p:nvPr/>
        </p:nvSpPr>
        <p:spPr>
          <a:xfrm>
            <a:off x="6537960" y="5394959"/>
            <a:ext cx="4754880" cy="457200"/>
          </a:xfrm>
          <a:prstGeom prst="rect">
            <a:avLst/>
          </a:prstGeom>
          <a:noFill/>
        </p:spPr>
        <p:txBody>
          <a:bodyPr wrap="square" anchor="t" lIns="0" rIns="0" tIns="0" bIns="0">
            <a:spAutoFit/>
          </a:bodyPr>
          <a:lstStyle/>
          <a:p>
            <a:pPr algn="l">
              <a:spcBef>
                <a:spcPts val="0"/>
              </a:spcBef>
              <a:spcAft>
                <a:spcPts val="200"/>
              </a:spcAft>
            </a:pPr>
            <a:r>
              <a:rPr sz="1150" b="1" i="0">
                <a:solidFill>
                  <a:srgbClr val="FFFFFF"/>
                </a:solidFill>
                <a:latin typeface="Calibri"/>
              </a:rPr>
              <a:t>Finding:  </a:t>
            </a:r>
            <a:r>
              <a:rPr sz="1150" b="0" i="0">
                <a:solidFill>
                  <a:srgbClr val="CBD5E1"/>
                </a:solidFill>
                <a:latin typeface="Calibri"/>
              </a:rPr>
              <a:t>The sentiment index behaves as a LEADING indicator of FX moves.</a:t>
            </a:r>
          </a:p>
        </p:txBody>
      </p:sp>
      <p:sp>
        <p:nvSpPr>
          <p:cNvPr id="24" name="TextBox 23"/>
          <p:cNvSpPr txBox="1"/>
          <p:nvPr/>
        </p:nvSpPr>
        <p:spPr>
          <a:xfrm>
            <a:off x="6537960" y="5824727"/>
            <a:ext cx="4754880" cy="274320"/>
          </a:xfrm>
          <a:prstGeom prst="rect">
            <a:avLst/>
          </a:prstGeom>
          <a:noFill/>
        </p:spPr>
        <p:txBody>
          <a:bodyPr wrap="square" anchor="t" lIns="0" rIns="0" tIns="0" bIns="0">
            <a:spAutoFit/>
          </a:bodyPr>
          <a:lstStyle/>
          <a:p>
            <a:pPr algn="l">
              <a:spcBef>
                <a:spcPts val="0"/>
              </a:spcBef>
              <a:spcAft>
                <a:spcPts val="200"/>
              </a:spcAft>
            </a:pPr>
            <a:r>
              <a:rPr sz="1100" b="1" i="0">
                <a:solidFill>
                  <a:srgbClr val="B45409"/>
                </a:solidFill>
                <a:latin typeface="Calibri"/>
              </a:rPr>
              <a:t>▸ Principal precedent for FinBERT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Data Extraction &amp; Collection</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Three real, incrementally-cached data streams aligned to a common daily trading calendar</a:t>
            </a:r>
          </a:p>
        </p:txBody>
      </p:sp>
      <p:sp>
        <p:nvSpPr>
          <p:cNvPr id="5" name="Rounded Rectangle 4"/>
          <p:cNvSpPr/>
          <p:nvPr/>
        </p:nvSpPr>
        <p:spPr>
          <a:xfrm>
            <a:off x="566928" y="1645920"/>
            <a:ext cx="3566160" cy="356616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86968" y="1965960"/>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 y="1920240"/>
            <a:ext cx="2743200" cy="548640"/>
          </a:xfrm>
          <a:prstGeom prst="rect">
            <a:avLst/>
          </a:prstGeom>
          <a:noFill/>
        </p:spPr>
        <p:txBody>
          <a:bodyPr wrap="square" anchor="t" lIns="0" rIns="0" tIns="0" bIns="0">
            <a:spAutoFit/>
          </a:bodyPr>
          <a:lstStyle/>
          <a:p>
            <a:pPr algn="l">
              <a:spcBef>
                <a:spcPts val="0"/>
              </a:spcBef>
              <a:spcAft>
                <a:spcPts val="200"/>
              </a:spcAft>
            </a:pPr>
            <a:r>
              <a:rPr sz="1350" b="1" i="0">
                <a:solidFill>
                  <a:srgbClr val="2DD4BF"/>
                </a:solidFill>
                <a:latin typeface="Calibri"/>
              </a:rPr>
              <a:t>PRICE — XAU/USD (Gold)</a:t>
            </a:r>
          </a:p>
        </p:txBody>
      </p:sp>
      <p:sp>
        <p:nvSpPr>
          <p:cNvPr id="8" name="TextBox 7"/>
          <p:cNvSpPr txBox="1"/>
          <p:nvPr/>
        </p:nvSpPr>
        <p:spPr>
          <a:xfrm>
            <a:off x="886968" y="2697480"/>
            <a:ext cx="3017520" cy="2377439"/>
          </a:xfrm>
          <a:prstGeom prst="rect">
            <a:avLst/>
          </a:prstGeom>
          <a:noFill/>
        </p:spPr>
        <p:txBody>
          <a:bodyPr wrap="square" anchor="t" lIns="0" rIns="0" tIns="0" bIns="0">
            <a:spAutoFit/>
          </a:bodyPr>
          <a:lstStyle/>
          <a:p>
            <a:pPr algn="l">
              <a:spcBef>
                <a:spcPts val="0"/>
              </a:spcBef>
              <a:spcAft>
                <a:spcPts val="900"/>
              </a:spcAft>
            </a:pPr>
            <a:r>
              <a:rPr sz="1200" b="0" i="0">
                <a:solidFill>
                  <a:srgbClr val="CBD5E1"/>
                </a:solidFill>
                <a:latin typeface="Calibri"/>
              </a:rPr>
              <a:t>Source: yfinance ticker GC=F (COMEX gold futures)</a:t>
            </a:r>
          </a:p>
          <a:p>
            <a:pPr algn="l">
              <a:spcBef>
                <a:spcPts val="0"/>
              </a:spcBef>
              <a:spcAft>
                <a:spcPts val="900"/>
              </a:spcAft>
            </a:pPr>
            <a:r>
              <a:rPr sz="1200" b="0" i="0">
                <a:solidFill>
                  <a:srgbClr val="CBD5E1"/>
                </a:solidFill>
                <a:latin typeface="Calibri"/>
              </a:rPr>
              <a:t>Daily OHLCV bars, 2000–2026 (≈ 25.9 years)</a:t>
            </a:r>
          </a:p>
          <a:p>
            <a:pPr algn="l">
              <a:spcBef>
                <a:spcPts val="0"/>
              </a:spcBef>
              <a:spcAft>
                <a:spcPts val="900"/>
              </a:spcAft>
            </a:pPr>
            <a:r>
              <a:rPr sz="1200" b="0" i="0">
                <a:solidFill>
                  <a:srgbClr val="CBD5E1"/>
                </a:solidFill>
                <a:latin typeface="Calibri"/>
              </a:rPr>
              <a:t>6,486 bars after cleaning &amp; alignment</a:t>
            </a:r>
          </a:p>
          <a:p>
            <a:pPr algn="l">
              <a:spcBef>
                <a:spcPts val="0"/>
              </a:spcBef>
              <a:spcAft>
                <a:spcPts val="900"/>
              </a:spcAft>
            </a:pPr>
            <a:r>
              <a:rPr sz="1200" b="0" i="0">
                <a:solidFill>
                  <a:srgbClr val="CBD5E1"/>
                </a:solidFill>
                <a:latin typeface="Calibri"/>
              </a:rPr>
              <a:t>Gold chosen as a liquid, macro-sensitive proxy</a:t>
            </a:r>
          </a:p>
        </p:txBody>
      </p:sp>
      <p:sp>
        <p:nvSpPr>
          <p:cNvPr id="9" name="Rounded Rectangle 8"/>
          <p:cNvSpPr/>
          <p:nvPr/>
        </p:nvSpPr>
        <p:spPr>
          <a:xfrm>
            <a:off x="4379976" y="1645920"/>
            <a:ext cx="3566160" cy="356616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00016" y="1965960"/>
            <a:ext cx="146304" cy="146304"/>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46904" y="1920240"/>
            <a:ext cx="2743200" cy="548640"/>
          </a:xfrm>
          <a:prstGeom prst="rect">
            <a:avLst/>
          </a:prstGeom>
          <a:noFill/>
        </p:spPr>
        <p:txBody>
          <a:bodyPr wrap="square" anchor="t" lIns="0" rIns="0" tIns="0" bIns="0">
            <a:spAutoFit/>
          </a:bodyPr>
          <a:lstStyle/>
          <a:p>
            <a:pPr algn="l">
              <a:spcBef>
                <a:spcPts val="0"/>
              </a:spcBef>
              <a:spcAft>
                <a:spcPts val="200"/>
              </a:spcAft>
            </a:pPr>
            <a:r>
              <a:rPr sz="1350" b="1" i="0">
                <a:solidFill>
                  <a:srgbClr val="0891B2"/>
                </a:solidFill>
                <a:latin typeface="Calibri"/>
              </a:rPr>
              <a:t>NEWS — Financial Headlines</a:t>
            </a:r>
          </a:p>
        </p:txBody>
      </p:sp>
      <p:sp>
        <p:nvSpPr>
          <p:cNvPr id="12" name="TextBox 11"/>
          <p:cNvSpPr txBox="1"/>
          <p:nvPr/>
        </p:nvSpPr>
        <p:spPr>
          <a:xfrm>
            <a:off x="4700016" y="2697480"/>
            <a:ext cx="3017520" cy="2377439"/>
          </a:xfrm>
          <a:prstGeom prst="rect">
            <a:avLst/>
          </a:prstGeom>
          <a:noFill/>
        </p:spPr>
        <p:txBody>
          <a:bodyPr wrap="square" anchor="t" lIns="0" rIns="0" tIns="0" bIns="0">
            <a:spAutoFit/>
          </a:bodyPr>
          <a:lstStyle/>
          <a:p>
            <a:pPr algn="l">
              <a:spcBef>
                <a:spcPts val="0"/>
              </a:spcBef>
              <a:spcAft>
                <a:spcPts val="900"/>
              </a:spcAft>
            </a:pPr>
            <a:r>
              <a:rPr sz="1200" b="0" i="0">
                <a:solidFill>
                  <a:srgbClr val="CBD5E1"/>
                </a:solidFill>
                <a:latin typeface="Calibri"/>
              </a:rPr>
              <a:t>Source: GDELT DOC 2.0 API (English, gold-relevant)</a:t>
            </a:r>
          </a:p>
          <a:p>
            <a:pPr algn="l">
              <a:spcBef>
                <a:spcPts val="0"/>
              </a:spcBef>
              <a:spcAft>
                <a:spcPts val="900"/>
              </a:spcAft>
            </a:pPr>
            <a:r>
              <a:rPr sz="1200" b="0" i="0">
                <a:solidFill>
                  <a:srgbClr val="CBD5E1"/>
                </a:solidFill>
                <a:latin typeface="Calibri"/>
              </a:rPr>
              <a:t>≈ 3,800 headlines archived (2021–2026)</a:t>
            </a:r>
          </a:p>
          <a:p>
            <a:pPr algn="l">
              <a:spcBef>
                <a:spcPts val="0"/>
              </a:spcBef>
              <a:spcAft>
                <a:spcPts val="900"/>
              </a:spcAft>
            </a:pPr>
            <a:r>
              <a:rPr sz="1200" b="0" i="0">
                <a:solidFill>
                  <a:srgbClr val="CBD5E1"/>
                </a:solidFill>
                <a:latin typeface="Calibri"/>
              </a:rPr>
              <a:t>Strict gold-relevance filter (drops cross-asset FX)</a:t>
            </a:r>
          </a:p>
          <a:p>
            <a:pPr algn="l">
              <a:spcBef>
                <a:spcPts val="0"/>
              </a:spcBef>
              <a:spcAft>
                <a:spcPts val="900"/>
              </a:spcAft>
            </a:pPr>
            <a:r>
              <a:rPr sz="1200" b="0" i="0">
                <a:solidFill>
                  <a:srgbClr val="CBD5E1"/>
                </a:solidFill>
                <a:latin typeface="Calibri"/>
              </a:rPr>
              <a:t>Incremental fetch — only new dates each run</a:t>
            </a:r>
          </a:p>
        </p:txBody>
      </p:sp>
      <p:sp>
        <p:nvSpPr>
          <p:cNvPr id="13" name="Rounded Rectangle 12"/>
          <p:cNvSpPr/>
          <p:nvPr/>
        </p:nvSpPr>
        <p:spPr>
          <a:xfrm>
            <a:off x="8193023" y="1645920"/>
            <a:ext cx="3566160" cy="356616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13063" y="1965960"/>
            <a:ext cx="146304" cy="14630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9951" y="1920240"/>
            <a:ext cx="2743200" cy="548640"/>
          </a:xfrm>
          <a:prstGeom prst="rect">
            <a:avLst/>
          </a:prstGeom>
          <a:noFill/>
        </p:spPr>
        <p:txBody>
          <a:bodyPr wrap="square" anchor="t" lIns="0" rIns="0" tIns="0" bIns="0">
            <a:spAutoFit/>
          </a:bodyPr>
          <a:lstStyle/>
          <a:p>
            <a:pPr algn="l">
              <a:spcBef>
                <a:spcPts val="0"/>
              </a:spcBef>
              <a:spcAft>
                <a:spcPts val="200"/>
              </a:spcAft>
            </a:pPr>
            <a:r>
              <a:rPr sz="1350" b="1" i="0">
                <a:solidFill>
                  <a:srgbClr val="2563EB"/>
                </a:solidFill>
                <a:latin typeface="Calibri"/>
              </a:rPr>
              <a:t>MACRO — Rates, Dollar, Inflation</a:t>
            </a:r>
          </a:p>
        </p:txBody>
      </p:sp>
      <p:sp>
        <p:nvSpPr>
          <p:cNvPr id="16" name="TextBox 15"/>
          <p:cNvSpPr txBox="1"/>
          <p:nvPr/>
        </p:nvSpPr>
        <p:spPr>
          <a:xfrm>
            <a:off x="8513063" y="2697480"/>
            <a:ext cx="3017520" cy="2377439"/>
          </a:xfrm>
          <a:prstGeom prst="rect">
            <a:avLst/>
          </a:prstGeom>
          <a:noFill/>
        </p:spPr>
        <p:txBody>
          <a:bodyPr wrap="square" anchor="t" lIns="0" rIns="0" tIns="0" bIns="0">
            <a:spAutoFit/>
          </a:bodyPr>
          <a:lstStyle/>
          <a:p>
            <a:pPr algn="l">
              <a:spcBef>
                <a:spcPts val="0"/>
              </a:spcBef>
              <a:spcAft>
                <a:spcPts val="900"/>
              </a:spcAft>
            </a:pPr>
            <a:r>
              <a:rPr sz="1200" b="0" i="0">
                <a:solidFill>
                  <a:srgbClr val="CBD5E1"/>
                </a:solidFill>
                <a:latin typeface="Calibri"/>
              </a:rPr>
              <a:t>Yahoo: ^IRX (13-wk T-bill), ^TNX (10-yr), DXY</a:t>
            </a:r>
          </a:p>
          <a:p>
            <a:pPr algn="l">
              <a:spcBef>
                <a:spcPts val="0"/>
              </a:spcBef>
              <a:spcAft>
                <a:spcPts val="900"/>
              </a:spcAft>
            </a:pPr>
            <a:r>
              <a:rPr sz="1200" b="0" i="0">
                <a:solidFill>
                  <a:srgbClr val="CBD5E1"/>
                </a:solidFill>
                <a:latin typeface="Calibri"/>
              </a:rPr>
              <a:t>BLS public API: monthly CPI (yoy / mom)</a:t>
            </a:r>
          </a:p>
          <a:p>
            <a:pPr algn="l">
              <a:spcBef>
                <a:spcPts val="0"/>
              </a:spcBef>
              <a:spcAft>
                <a:spcPts val="900"/>
              </a:spcAft>
            </a:pPr>
            <a:r>
              <a:rPr sz="1200" b="0" i="0">
                <a:solidFill>
                  <a:srgbClr val="CBD5E1"/>
                </a:solidFill>
                <a:latin typeface="Calibri"/>
              </a:rPr>
              <a:t>Forward-filled onto the daily grid</a:t>
            </a:r>
          </a:p>
          <a:p>
            <a:pPr algn="l">
              <a:spcBef>
                <a:spcPts val="0"/>
              </a:spcBef>
              <a:spcAft>
                <a:spcPts val="900"/>
              </a:spcAft>
            </a:pPr>
            <a:r>
              <a:rPr sz="1200" b="0" i="0">
                <a:solidFill>
                  <a:srgbClr val="CBD5E1"/>
                </a:solidFill>
                <a:latin typeface="Calibri"/>
              </a:rPr>
              <a:t>Stationary transforms (z-scores, changes)</a:t>
            </a:r>
          </a:p>
        </p:txBody>
      </p:sp>
      <p:sp>
        <p:nvSpPr>
          <p:cNvPr id="17" name="TextBox 16"/>
          <p:cNvSpPr txBox="1"/>
          <p:nvPr/>
        </p:nvSpPr>
        <p:spPr>
          <a:xfrm>
            <a:off x="566928" y="5440680"/>
            <a:ext cx="11064240" cy="457200"/>
          </a:xfrm>
          <a:prstGeom prst="rect">
            <a:avLst/>
          </a:prstGeom>
          <a:noFill/>
        </p:spPr>
        <p:txBody>
          <a:bodyPr wrap="square" anchor="t" lIns="0" rIns="0" tIns="0" bIns="0">
            <a:spAutoFit/>
          </a:bodyPr>
          <a:lstStyle/>
          <a:p>
            <a:pPr algn="l">
              <a:spcBef>
                <a:spcPts val="0"/>
              </a:spcBef>
              <a:spcAft>
                <a:spcPts val="200"/>
              </a:spcAft>
            </a:pPr>
            <a:r>
              <a:rPr sz="1200" b="1" i="0">
                <a:solidFill>
                  <a:srgbClr val="1F3759"/>
                </a:solidFill>
                <a:latin typeface="Calibri"/>
              </a:rPr>
              <a:t>Two-pipeline design:  </a:t>
            </a:r>
            <a:r>
              <a:rPr sz="1200" b="0" i="0">
                <a:solidFill>
                  <a:srgbClr val="334155"/>
                </a:solidFill>
                <a:latin typeface="Calibri"/>
              </a:rPr>
              <a:t>build_dataset.py verifies &amp; caches the feature panel  →  run_multi_seed.py trains only on verified data (no re-fetch, no re-scoring).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FinBERT Sentiment Analysis &amp; Scoring</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Domain-specific transformer converts raw headlines into a per-bar sentiment signal</a:t>
            </a:r>
          </a:p>
        </p:txBody>
      </p:sp>
      <p:sp>
        <p:nvSpPr>
          <p:cNvPr id="5" name="Oval 4"/>
          <p:cNvSpPr/>
          <p:nvPr/>
        </p:nvSpPr>
        <p:spPr>
          <a:xfrm>
            <a:off x="566928" y="1645920"/>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45920"/>
            <a:ext cx="457200" cy="457200"/>
          </a:xfrm>
          <a:prstGeom prst="rect">
            <a:avLst/>
          </a:prstGeom>
          <a:noFill/>
        </p:spPr>
        <p:txBody>
          <a:bodyPr wrap="square" anchor="ctr" lIns="0" rIns="0" tIns="0" bIns="0">
            <a:spAutoFit/>
          </a:bodyPr>
          <a:lstStyle/>
          <a:p>
            <a:pPr algn="ctr">
              <a:spcBef>
                <a:spcPts val="0"/>
              </a:spcBef>
              <a:spcAft>
                <a:spcPts val="200"/>
              </a:spcAft>
            </a:pPr>
            <a:r>
              <a:rPr sz="1800" b="1" i="0">
                <a:solidFill>
                  <a:srgbClr val="FFFFFF"/>
                </a:solidFill>
                <a:latin typeface="Calibri"/>
              </a:rPr>
              <a:t>1</a:t>
            </a:r>
          </a:p>
        </p:txBody>
      </p:sp>
      <p:sp>
        <p:nvSpPr>
          <p:cNvPr id="7" name="TextBox 6"/>
          <p:cNvSpPr txBox="1"/>
          <p:nvPr/>
        </p:nvSpPr>
        <p:spPr>
          <a:xfrm>
            <a:off x="1207007" y="1609344"/>
            <a:ext cx="4754880" cy="365760"/>
          </a:xfrm>
          <a:prstGeom prst="rect">
            <a:avLst/>
          </a:prstGeom>
          <a:noFill/>
        </p:spPr>
        <p:txBody>
          <a:bodyPr wrap="square" anchor="t" lIns="0" rIns="0" tIns="0" bIns="0">
            <a:spAutoFit/>
          </a:bodyPr>
          <a:lstStyle/>
          <a:p>
            <a:pPr algn="l">
              <a:spcBef>
                <a:spcPts val="0"/>
              </a:spcBef>
              <a:spcAft>
                <a:spcPts val="200"/>
              </a:spcAft>
            </a:pPr>
            <a:r>
              <a:rPr sz="1400" b="1" i="0">
                <a:solidFill>
                  <a:srgbClr val="1F3759"/>
                </a:solidFill>
                <a:latin typeface="Calibri"/>
              </a:rPr>
              <a:t>Ingest headlines</a:t>
            </a:r>
          </a:p>
        </p:txBody>
      </p:sp>
      <p:sp>
        <p:nvSpPr>
          <p:cNvPr id="8" name="TextBox 7"/>
          <p:cNvSpPr txBox="1"/>
          <p:nvPr/>
        </p:nvSpPr>
        <p:spPr>
          <a:xfrm>
            <a:off x="1207007" y="1956816"/>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334155"/>
                </a:solidFill>
                <a:latin typeface="Calibri"/>
              </a:rPr>
              <a:t>Gold-relevant news from the GDELT archive, de-duplicated and gold-filtered.</a:t>
            </a:r>
          </a:p>
        </p:txBody>
      </p:sp>
      <p:sp>
        <p:nvSpPr>
          <p:cNvPr id="9" name="Oval 8"/>
          <p:cNvSpPr/>
          <p:nvPr/>
        </p:nvSpPr>
        <p:spPr>
          <a:xfrm>
            <a:off x="566928" y="2724912"/>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724912"/>
            <a:ext cx="457200" cy="457200"/>
          </a:xfrm>
          <a:prstGeom prst="rect">
            <a:avLst/>
          </a:prstGeom>
          <a:noFill/>
        </p:spPr>
        <p:txBody>
          <a:bodyPr wrap="square" anchor="ctr" lIns="0" rIns="0" tIns="0" bIns="0">
            <a:spAutoFit/>
          </a:bodyPr>
          <a:lstStyle/>
          <a:p>
            <a:pPr algn="ctr">
              <a:spcBef>
                <a:spcPts val="0"/>
              </a:spcBef>
              <a:spcAft>
                <a:spcPts val="200"/>
              </a:spcAft>
            </a:pPr>
            <a:r>
              <a:rPr sz="1800" b="1" i="0">
                <a:solidFill>
                  <a:srgbClr val="FFFFFF"/>
                </a:solidFill>
                <a:latin typeface="Calibri"/>
              </a:rPr>
              <a:t>2</a:t>
            </a:r>
          </a:p>
        </p:txBody>
      </p:sp>
      <p:sp>
        <p:nvSpPr>
          <p:cNvPr id="11" name="TextBox 10"/>
          <p:cNvSpPr txBox="1"/>
          <p:nvPr/>
        </p:nvSpPr>
        <p:spPr>
          <a:xfrm>
            <a:off x="1207007" y="2688336"/>
            <a:ext cx="4754880" cy="365760"/>
          </a:xfrm>
          <a:prstGeom prst="rect">
            <a:avLst/>
          </a:prstGeom>
          <a:noFill/>
        </p:spPr>
        <p:txBody>
          <a:bodyPr wrap="square" anchor="t" lIns="0" rIns="0" tIns="0" bIns="0">
            <a:spAutoFit/>
          </a:bodyPr>
          <a:lstStyle/>
          <a:p>
            <a:pPr algn="l">
              <a:spcBef>
                <a:spcPts val="0"/>
              </a:spcBef>
              <a:spcAft>
                <a:spcPts val="200"/>
              </a:spcAft>
            </a:pPr>
            <a:r>
              <a:rPr sz="1400" b="1" i="0">
                <a:solidFill>
                  <a:srgbClr val="1F3759"/>
                </a:solidFill>
                <a:latin typeface="Calibri"/>
              </a:rPr>
              <a:t>FinBERT scoring</a:t>
            </a:r>
          </a:p>
        </p:txBody>
      </p:sp>
      <p:sp>
        <p:nvSpPr>
          <p:cNvPr id="12" name="TextBox 11"/>
          <p:cNvSpPr txBox="1"/>
          <p:nvPr/>
        </p:nvSpPr>
        <p:spPr>
          <a:xfrm>
            <a:off x="1207007" y="3035808"/>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334155"/>
                </a:solidFill>
                <a:latin typeface="Calibri"/>
              </a:rPr>
              <a:t>ProsusAI/finbert (BERT pretrained on financial text) emits a 3-way softmax: positive / neutral / negative.</a:t>
            </a:r>
          </a:p>
        </p:txBody>
      </p:sp>
      <p:sp>
        <p:nvSpPr>
          <p:cNvPr id="13" name="Oval 12"/>
          <p:cNvSpPr/>
          <p:nvPr/>
        </p:nvSpPr>
        <p:spPr>
          <a:xfrm>
            <a:off x="566928" y="3803904"/>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03904"/>
            <a:ext cx="457200" cy="457200"/>
          </a:xfrm>
          <a:prstGeom prst="rect">
            <a:avLst/>
          </a:prstGeom>
          <a:noFill/>
        </p:spPr>
        <p:txBody>
          <a:bodyPr wrap="square" anchor="ctr" lIns="0" rIns="0" tIns="0" bIns="0">
            <a:spAutoFit/>
          </a:bodyPr>
          <a:lstStyle/>
          <a:p>
            <a:pPr algn="ctr">
              <a:spcBef>
                <a:spcPts val="0"/>
              </a:spcBef>
              <a:spcAft>
                <a:spcPts val="200"/>
              </a:spcAft>
            </a:pPr>
            <a:r>
              <a:rPr sz="1800" b="1" i="0">
                <a:solidFill>
                  <a:srgbClr val="FFFFFF"/>
                </a:solidFill>
                <a:latin typeface="Calibri"/>
              </a:rPr>
              <a:t>3</a:t>
            </a:r>
          </a:p>
        </p:txBody>
      </p:sp>
      <p:sp>
        <p:nvSpPr>
          <p:cNvPr id="15" name="TextBox 14"/>
          <p:cNvSpPr txBox="1"/>
          <p:nvPr/>
        </p:nvSpPr>
        <p:spPr>
          <a:xfrm>
            <a:off x="1207007" y="3767328"/>
            <a:ext cx="4754880" cy="365760"/>
          </a:xfrm>
          <a:prstGeom prst="rect">
            <a:avLst/>
          </a:prstGeom>
          <a:noFill/>
        </p:spPr>
        <p:txBody>
          <a:bodyPr wrap="square" anchor="t" lIns="0" rIns="0" tIns="0" bIns="0">
            <a:spAutoFit/>
          </a:bodyPr>
          <a:lstStyle/>
          <a:p>
            <a:pPr algn="l">
              <a:spcBef>
                <a:spcPts val="0"/>
              </a:spcBef>
              <a:spcAft>
                <a:spcPts val="200"/>
              </a:spcAft>
            </a:pPr>
            <a:r>
              <a:rPr sz="1400" b="1" i="0">
                <a:solidFill>
                  <a:srgbClr val="1F3759"/>
                </a:solidFill>
                <a:latin typeface="Calibri"/>
              </a:rPr>
              <a:t>Cache polarity</a:t>
            </a:r>
          </a:p>
        </p:txBody>
      </p:sp>
      <p:sp>
        <p:nvSpPr>
          <p:cNvPr id="16" name="TextBox 15"/>
          <p:cNvSpPr txBox="1"/>
          <p:nvPr/>
        </p:nvSpPr>
        <p:spPr>
          <a:xfrm>
            <a:off x="1207007" y="4114800"/>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334155"/>
                </a:solidFill>
                <a:latin typeface="Calibri"/>
              </a:rPr>
              <a:t>polarity × confidence stored per headline — historical news is never re-scored.</a:t>
            </a:r>
          </a:p>
        </p:txBody>
      </p:sp>
      <p:sp>
        <p:nvSpPr>
          <p:cNvPr id="17" name="Oval 16"/>
          <p:cNvSpPr/>
          <p:nvPr/>
        </p:nvSpPr>
        <p:spPr>
          <a:xfrm>
            <a:off x="566928" y="4882896"/>
            <a:ext cx="457200" cy="45720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882896"/>
            <a:ext cx="457200" cy="457200"/>
          </a:xfrm>
          <a:prstGeom prst="rect">
            <a:avLst/>
          </a:prstGeom>
          <a:noFill/>
        </p:spPr>
        <p:txBody>
          <a:bodyPr wrap="square" anchor="ctr" lIns="0" rIns="0" tIns="0" bIns="0">
            <a:spAutoFit/>
          </a:bodyPr>
          <a:lstStyle/>
          <a:p>
            <a:pPr algn="ctr">
              <a:spcBef>
                <a:spcPts val="0"/>
              </a:spcBef>
              <a:spcAft>
                <a:spcPts val="200"/>
              </a:spcAft>
            </a:pPr>
            <a:r>
              <a:rPr sz="1800" b="1" i="0">
                <a:solidFill>
                  <a:srgbClr val="FFFFFF"/>
                </a:solidFill>
                <a:latin typeface="Calibri"/>
              </a:rPr>
              <a:t>4</a:t>
            </a:r>
          </a:p>
        </p:txBody>
      </p:sp>
      <p:sp>
        <p:nvSpPr>
          <p:cNvPr id="19" name="TextBox 18"/>
          <p:cNvSpPr txBox="1"/>
          <p:nvPr/>
        </p:nvSpPr>
        <p:spPr>
          <a:xfrm>
            <a:off x="1207007" y="4846320"/>
            <a:ext cx="4754880" cy="365760"/>
          </a:xfrm>
          <a:prstGeom prst="rect">
            <a:avLst/>
          </a:prstGeom>
          <a:noFill/>
        </p:spPr>
        <p:txBody>
          <a:bodyPr wrap="square" anchor="t" lIns="0" rIns="0" tIns="0" bIns="0">
            <a:spAutoFit/>
          </a:bodyPr>
          <a:lstStyle/>
          <a:p>
            <a:pPr algn="l">
              <a:spcBef>
                <a:spcPts val="0"/>
              </a:spcBef>
              <a:spcAft>
                <a:spcPts val="200"/>
              </a:spcAft>
            </a:pPr>
            <a:r>
              <a:rPr sz="1400" b="1" i="0">
                <a:solidFill>
                  <a:srgbClr val="1F3759"/>
                </a:solidFill>
                <a:latin typeface="Calibri"/>
              </a:rPr>
              <a:t>Align to bars</a:t>
            </a:r>
          </a:p>
        </p:txBody>
      </p:sp>
      <p:sp>
        <p:nvSpPr>
          <p:cNvPr id="20" name="TextBox 19"/>
          <p:cNvSpPr txBox="1"/>
          <p:nvPr/>
        </p:nvSpPr>
        <p:spPr>
          <a:xfrm>
            <a:off x="1207007" y="5193792"/>
            <a:ext cx="4754880" cy="640080"/>
          </a:xfrm>
          <a:prstGeom prst="rect">
            <a:avLst/>
          </a:prstGeom>
          <a:noFill/>
        </p:spPr>
        <p:txBody>
          <a:bodyPr wrap="square" anchor="t" lIns="0" rIns="0" tIns="0" bIns="0">
            <a:spAutoFit/>
          </a:bodyPr>
          <a:lstStyle/>
          <a:p>
            <a:pPr algn="l">
              <a:spcBef>
                <a:spcPts val="0"/>
              </a:spcBef>
              <a:spcAft>
                <a:spcPts val="200"/>
              </a:spcAft>
            </a:pPr>
            <a:r>
              <a:rPr sz="1150" b="0" i="0">
                <a:solidFill>
                  <a:srgbClr val="334155"/>
                </a:solidFill>
                <a:latin typeface="Calibri"/>
              </a:rPr>
              <a:t>Averaged over a 7-day trailing window (no look-ahead) into a per-bar daily score.</a:t>
            </a:r>
          </a:p>
        </p:txBody>
      </p:sp>
      <p:sp>
        <p:nvSpPr>
          <p:cNvPr id="21" name="Rounded Rectangle 20"/>
          <p:cNvSpPr/>
          <p:nvPr/>
        </p:nvSpPr>
        <p:spPr>
          <a:xfrm>
            <a:off x="6309360" y="1645920"/>
            <a:ext cx="5303520" cy="3977639"/>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1874519"/>
            <a:ext cx="4572000" cy="365760"/>
          </a:xfrm>
          <a:prstGeom prst="rect">
            <a:avLst/>
          </a:prstGeom>
          <a:noFill/>
        </p:spPr>
        <p:txBody>
          <a:bodyPr wrap="square" anchor="t" lIns="0" rIns="0" tIns="0" bIns="0">
            <a:spAutoFit/>
          </a:bodyPr>
          <a:lstStyle/>
          <a:p>
            <a:pPr algn="l">
              <a:spcBef>
                <a:spcPts val="0"/>
              </a:spcBef>
              <a:spcAft>
                <a:spcPts val="200"/>
              </a:spcAft>
            </a:pPr>
            <a:r>
              <a:rPr sz="1300" b="1" i="0">
                <a:solidFill>
                  <a:srgbClr val="2DD4BF"/>
                </a:solidFill>
                <a:latin typeface="Calibri"/>
              </a:rPr>
              <a:t>FROM SCORES TO MODEL FEATURES</a:t>
            </a:r>
          </a:p>
        </p:txBody>
      </p:sp>
      <p:sp>
        <p:nvSpPr>
          <p:cNvPr id="23" name="TextBox 22"/>
          <p:cNvSpPr txBox="1"/>
          <p:nvPr/>
        </p:nvSpPr>
        <p:spPr>
          <a:xfrm>
            <a:off x="6675120" y="2377440"/>
            <a:ext cx="4663440" cy="32004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 12 sentiment features</a:t>
            </a:r>
          </a:p>
        </p:txBody>
      </p:sp>
      <p:sp>
        <p:nvSpPr>
          <p:cNvPr id="24" name="TextBox 23"/>
          <p:cNvSpPr txBox="1"/>
          <p:nvPr/>
        </p:nvSpPr>
        <p:spPr>
          <a:xfrm>
            <a:off x="6876288" y="2660904"/>
            <a:ext cx="4480560" cy="45720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rolling mean/std/min/max, momentum, decay, volatility &amp; headline-count z-score</a:t>
            </a:r>
          </a:p>
        </p:txBody>
      </p:sp>
      <p:sp>
        <p:nvSpPr>
          <p:cNvPr id="25" name="TextBox 24"/>
          <p:cNvSpPr txBox="1"/>
          <p:nvPr/>
        </p:nvSpPr>
        <p:spPr>
          <a:xfrm>
            <a:off x="6675120" y="3163824"/>
            <a:ext cx="4663440" cy="32004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 Buy / Sell / Hold / None signal</a:t>
            </a:r>
          </a:p>
        </p:txBody>
      </p:sp>
      <p:sp>
        <p:nvSpPr>
          <p:cNvPr id="26" name="TextBox 25"/>
          <p:cNvSpPr txBox="1"/>
          <p:nvPr/>
        </p:nvSpPr>
        <p:spPr>
          <a:xfrm>
            <a:off x="6876288" y="3447288"/>
            <a:ext cx="4480560" cy="45720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one-hot trading signal derived from the smoothed polarity, fed to the CNN tower</a:t>
            </a:r>
          </a:p>
        </p:txBody>
      </p:sp>
      <p:sp>
        <p:nvSpPr>
          <p:cNvPr id="27" name="TextBox 26"/>
          <p:cNvSpPr txBox="1"/>
          <p:nvPr/>
        </p:nvSpPr>
        <p:spPr>
          <a:xfrm>
            <a:off x="6675120" y="3950208"/>
            <a:ext cx="4663440" cy="32004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 Test-set coverage ≈ 18%</a:t>
            </a:r>
          </a:p>
        </p:txBody>
      </p:sp>
      <p:sp>
        <p:nvSpPr>
          <p:cNvPr id="28" name="TextBox 27"/>
          <p:cNvSpPr txBox="1"/>
          <p:nvPr/>
        </p:nvSpPr>
        <p:spPr>
          <a:xfrm>
            <a:off x="6876288" y="4233672"/>
            <a:ext cx="4480560" cy="45720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bars carrying real news; the model is explicitly designed for sparse coverage</a:t>
            </a:r>
          </a:p>
        </p:txBody>
      </p:sp>
      <p:sp>
        <p:nvSpPr>
          <p:cNvPr id="29" name="TextBox 28"/>
          <p:cNvSpPr txBox="1"/>
          <p:nvPr/>
        </p:nvSpPr>
        <p:spPr>
          <a:xfrm>
            <a:off x="6675120" y="4736592"/>
            <a:ext cx="4663440" cy="32004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 Presence-gated fusion</a:t>
            </a:r>
          </a:p>
        </p:txBody>
      </p:sp>
      <p:sp>
        <p:nvSpPr>
          <p:cNvPr id="30" name="TextBox 29"/>
          <p:cNvSpPr txBox="1"/>
          <p:nvPr/>
        </p:nvSpPr>
        <p:spPr>
          <a:xfrm>
            <a:off x="6876288" y="5020055"/>
            <a:ext cx="4480560" cy="45720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a learned gate down-weights the text tower on news-less bars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Technical Indicators</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12 technical features per bar — computed from OHLCV, each capturing a distinct market facet</a:t>
            </a:r>
          </a:p>
        </p:txBody>
      </p:sp>
      <p:sp>
        <p:nvSpPr>
          <p:cNvPr id="5" name="Rounded Rectangle 4"/>
          <p:cNvSpPr/>
          <p:nvPr/>
        </p:nvSpPr>
        <p:spPr>
          <a:xfrm>
            <a:off x="566928" y="16459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68096" y="18470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764792"/>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OHLC returns</a:t>
            </a:r>
          </a:p>
        </p:txBody>
      </p:sp>
      <p:sp>
        <p:nvSpPr>
          <p:cNvPr id="8" name="TextBox 7"/>
          <p:cNvSpPr txBox="1"/>
          <p:nvPr/>
        </p:nvSpPr>
        <p:spPr>
          <a:xfrm>
            <a:off x="1024128" y="20574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Open/high/low/close log-returns — normalised price action.</a:t>
            </a:r>
          </a:p>
        </p:txBody>
      </p:sp>
      <p:sp>
        <p:nvSpPr>
          <p:cNvPr id="9" name="Rounded Rectangle 8"/>
          <p:cNvSpPr/>
          <p:nvPr/>
        </p:nvSpPr>
        <p:spPr>
          <a:xfrm>
            <a:off x="6254496" y="16459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55664" y="18470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11696" y="1764792"/>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RSI (14)</a:t>
            </a:r>
          </a:p>
        </p:txBody>
      </p:sp>
      <p:sp>
        <p:nvSpPr>
          <p:cNvPr id="12" name="TextBox 11"/>
          <p:cNvSpPr txBox="1"/>
          <p:nvPr/>
        </p:nvSpPr>
        <p:spPr>
          <a:xfrm>
            <a:off x="6711696" y="20574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Momentum oscillator; overbought / oversold in [0,100].</a:t>
            </a:r>
          </a:p>
        </p:txBody>
      </p:sp>
      <p:sp>
        <p:nvSpPr>
          <p:cNvPr id="13" name="Rounded Rectangle 12"/>
          <p:cNvSpPr/>
          <p:nvPr/>
        </p:nvSpPr>
        <p:spPr>
          <a:xfrm>
            <a:off x="566928" y="25603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 y="27614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2679191"/>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MACD (12/26/9)</a:t>
            </a:r>
          </a:p>
        </p:txBody>
      </p:sp>
      <p:sp>
        <p:nvSpPr>
          <p:cNvPr id="16" name="TextBox 15"/>
          <p:cNvSpPr txBox="1"/>
          <p:nvPr/>
        </p:nvSpPr>
        <p:spPr>
          <a:xfrm>
            <a:off x="1024128" y="29718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Trend &amp; acceleration: EMA gap, signal line, histogram.</a:t>
            </a:r>
          </a:p>
        </p:txBody>
      </p:sp>
      <p:sp>
        <p:nvSpPr>
          <p:cNvPr id="17" name="Rounded Rectangle 16"/>
          <p:cNvSpPr/>
          <p:nvPr/>
        </p:nvSpPr>
        <p:spPr>
          <a:xfrm>
            <a:off x="6254496" y="25603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55664" y="27614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11696" y="2679191"/>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Bollinger width</a:t>
            </a:r>
          </a:p>
        </p:txBody>
      </p:sp>
      <p:sp>
        <p:nvSpPr>
          <p:cNvPr id="20" name="TextBox 19"/>
          <p:cNvSpPr txBox="1"/>
          <p:nvPr/>
        </p:nvSpPr>
        <p:spPr>
          <a:xfrm>
            <a:off x="6711696" y="29718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±2σ band width — local volatility &amp; price position.</a:t>
            </a:r>
          </a:p>
        </p:txBody>
      </p:sp>
      <p:sp>
        <p:nvSpPr>
          <p:cNvPr id="21" name="Rounded Rectangle 20"/>
          <p:cNvSpPr/>
          <p:nvPr/>
        </p:nvSpPr>
        <p:spPr>
          <a:xfrm>
            <a:off x="566928" y="34747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8096" y="3675887"/>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3593591"/>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ATR %</a:t>
            </a:r>
          </a:p>
        </p:txBody>
      </p:sp>
      <p:sp>
        <p:nvSpPr>
          <p:cNvPr id="24" name="TextBox 23"/>
          <p:cNvSpPr txBox="1"/>
          <p:nvPr/>
        </p:nvSpPr>
        <p:spPr>
          <a:xfrm>
            <a:off x="1024128" y="38862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Average True Range / price — normalised volatility.</a:t>
            </a:r>
          </a:p>
        </p:txBody>
      </p:sp>
      <p:sp>
        <p:nvSpPr>
          <p:cNvPr id="25" name="Rounded Rectangle 24"/>
          <p:cNvSpPr/>
          <p:nvPr/>
        </p:nvSpPr>
        <p:spPr>
          <a:xfrm>
            <a:off x="6254496" y="34747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55664" y="3675887"/>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1696" y="3593591"/>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ROC (10)</a:t>
            </a:r>
          </a:p>
        </p:txBody>
      </p:sp>
      <p:sp>
        <p:nvSpPr>
          <p:cNvPr id="28" name="TextBox 27"/>
          <p:cNvSpPr txBox="1"/>
          <p:nvPr/>
        </p:nvSpPr>
        <p:spPr>
          <a:xfrm>
            <a:off x="6711696" y="38862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Rate of change — 10-bar momentum strength.</a:t>
            </a:r>
          </a:p>
        </p:txBody>
      </p:sp>
      <p:sp>
        <p:nvSpPr>
          <p:cNvPr id="29" name="Rounded Rectangle 28"/>
          <p:cNvSpPr/>
          <p:nvPr/>
        </p:nvSpPr>
        <p:spPr>
          <a:xfrm>
            <a:off x="566928" y="43891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8096" y="45902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4128" y="4507992"/>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Stochastic %K</a:t>
            </a:r>
          </a:p>
        </p:txBody>
      </p:sp>
      <p:sp>
        <p:nvSpPr>
          <p:cNvPr id="32" name="TextBox 31"/>
          <p:cNvSpPr txBox="1"/>
          <p:nvPr/>
        </p:nvSpPr>
        <p:spPr>
          <a:xfrm>
            <a:off x="1024128" y="48006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Close vs recent high-low range — turning points.</a:t>
            </a:r>
          </a:p>
        </p:txBody>
      </p:sp>
      <p:sp>
        <p:nvSpPr>
          <p:cNvPr id="33" name="Rounded Rectangle 32"/>
          <p:cNvSpPr/>
          <p:nvPr/>
        </p:nvSpPr>
        <p:spPr>
          <a:xfrm>
            <a:off x="6254496" y="43891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55664" y="45902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11696" y="4507992"/>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EMA ratio</a:t>
            </a:r>
          </a:p>
        </p:txBody>
      </p:sp>
      <p:sp>
        <p:nvSpPr>
          <p:cNvPr id="36" name="TextBox 35"/>
          <p:cNvSpPr txBox="1"/>
          <p:nvPr/>
        </p:nvSpPr>
        <p:spPr>
          <a:xfrm>
            <a:off x="6711696" y="48006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Fast/slow EMA ratio — trend direction &amp; strength.</a:t>
            </a:r>
          </a:p>
        </p:txBody>
      </p:sp>
      <p:sp>
        <p:nvSpPr>
          <p:cNvPr id="37" name="Rounded Rectangle 36"/>
          <p:cNvSpPr/>
          <p:nvPr/>
        </p:nvSpPr>
        <p:spPr>
          <a:xfrm>
            <a:off x="566928" y="53035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68096" y="55046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4128" y="5422392"/>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Volume z-score</a:t>
            </a:r>
          </a:p>
        </p:txBody>
      </p:sp>
      <p:sp>
        <p:nvSpPr>
          <p:cNvPr id="40" name="TextBox 39"/>
          <p:cNvSpPr txBox="1"/>
          <p:nvPr/>
        </p:nvSpPr>
        <p:spPr>
          <a:xfrm>
            <a:off x="1024128" y="57150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Log-volume standardised — liquidity &amp; conviction.</a:t>
            </a:r>
          </a:p>
        </p:txBody>
      </p:sp>
      <p:sp>
        <p:nvSpPr>
          <p:cNvPr id="41" name="Rounded Rectangle 40"/>
          <p:cNvSpPr/>
          <p:nvPr/>
        </p:nvSpPr>
        <p:spPr>
          <a:xfrm>
            <a:off x="6254496" y="5303520"/>
            <a:ext cx="5440680" cy="786384"/>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55664" y="5504688"/>
            <a:ext cx="82296" cy="38404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11696" y="5422392"/>
            <a:ext cx="4800600" cy="292608"/>
          </a:xfrm>
          <a:prstGeom prst="rect">
            <a:avLst/>
          </a:prstGeom>
          <a:noFill/>
        </p:spPr>
        <p:txBody>
          <a:bodyPr wrap="square" anchor="t" lIns="0" rIns="0" tIns="0" bIns="0">
            <a:spAutoFit/>
          </a:bodyPr>
          <a:lstStyle/>
          <a:p>
            <a:pPr algn="l">
              <a:spcBef>
                <a:spcPts val="0"/>
              </a:spcBef>
              <a:spcAft>
                <a:spcPts val="200"/>
              </a:spcAft>
            </a:pPr>
            <a:r>
              <a:rPr sz="1300" b="1" i="0">
                <a:solidFill>
                  <a:srgbClr val="1F3759"/>
                </a:solidFill>
                <a:latin typeface="Calibri"/>
              </a:rPr>
              <a:t>Realized volatility</a:t>
            </a:r>
          </a:p>
        </p:txBody>
      </p:sp>
      <p:sp>
        <p:nvSpPr>
          <p:cNvPr id="44" name="TextBox 43"/>
          <p:cNvSpPr txBox="1"/>
          <p:nvPr/>
        </p:nvSpPr>
        <p:spPr>
          <a:xfrm>
            <a:off x="6711696" y="5715000"/>
            <a:ext cx="4800600" cy="320040"/>
          </a:xfrm>
          <a:prstGeom prst="rect">
            <a:avLst/>
          </a:prstGeom>
          <a:noFill/>
        </p:spPr>
        <p:txBody>
          <a:bodyPr wrap="square" anchor="t" lIns="0" rIns="0" tIns="0" bIns="0">
            <a:spAutoFit/>
          </a:bodyPr>
          <a:lstStyle/>
          <a:p>
            <a:pPr algn="l">
              <a:spcBef>
                <a:spcPts val="0"/>
              </a:spcBef>
              <a:spcAft>
                <a:spcPts val="200"/>
              </a:spcAft>
            </a:pPr>
            <a:r>
              <a:rPr sz="1100" b="0" i="0">
                <a:solidFill>
                  <a:srgbClr val="334155"/>
                </a:solidFill>
                <a:latin typeface="Calibri"/>
              </a:rPr>
              <a:t>Rolling return std — drives the regime detector.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Data &amp; Feature Engineering</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Three parallel streams → 30 aligned features over a 60-bar lookback, split into a dual-tower contract</a:t>
            </a:r>
          </a:p>
        </p:txBody>
      </p:sp>
      <p:sp>
        <p:nvSpPr>
          <p:cNvPr id="5" name="Rounded Rectangle 4"/>
          <p:cNvSpPr/>
          <p:nvPr/>
        </p:nvSpPr>
        <p:spPr>
          <a:xfrm>
            <a:off x="566928" y="1645920"/>
            <a:ext cx="3566160" cy="30632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901952"/>
            <a:ext cx="3017520" cy="320040"/>
          </a:xfrm>
          <a:prstGeom prst="rect">
            <a:avLst/>
          </a:prstGeom>
          <a:noFill/>
        </p:spPr>
        <p:txBody>
          <a:bodyPr wrap="square" anchor="t" lIns="0" rIns="0" tIns="0" bIns="0">
            <a:spAutoFit/>
          </a:bodyPr>
          <a:lstStyle/>
          <a:p>
            <a:pPr algn="l">
              <a:spcBef>
                <a:spcPts val="0"/>
              </a:spcBef>
              <a:spcAft>
                <a:spcPts val="200"/>
              </a:spcAft>
            </a:pPr>
            <a:r>
              <a:rPr sz="1350" b="1" i="0">
                <a:solidFill>
                  <a:srgbClr val="2DD4BF"/>
                </a:solidFill>
                <a:latin typeface="Calibri"/>
              </a:rPr>
              <a:t>TECHNICAL STREAM</a:t>
            </a:r>
          </a:p>
        </p:txBody>
      </p:sp>
      <p:sp>
        <p:nvSpPr>
          <p:cNvPr id="7" name="TextBox 6"/>
          <p:cNvSpPr txBox="1"/>
          <p:nvPr/>
        </p:nvSpPr>
        <p:spPr>
          <a:xfrm>
            <a:off x="886968" y="2249424"/>
            <a:ext cx="3017520" cy="274320"/>
          </a:xfrm>
          <a:prstGeom prst="rect">
            <a:avLst/>
          </a:prstGeom>
          <a:noFill/>
        </p:spPr>
        <p:txBody>
          <a:bodyPr wrap="square" anchor="t" lIns="0" rIns="0" tIns="0" bIns="0">
            <a:spAutoFit/>
          </a:bodyPr>
          <a:lstStyle/>
          <a:p>
            <a:pPr algn="l">
              <a:spcBef>
                <a:spcPts val="0"/>
              </a:spcBef>
              <a:spcAft>
                <a:spcPts val="200"/>
              </a:spcAft>
            </a:pPr>
            <a:r>
              <a:rPr sz="1100" b="0" i="1">
                <a:solidFill>
                  <a:srgbClr val="64748B"/>
                </a:solidFill>
                <a:latin typeface="Calibri"/>
              </a:rPr>
              <a:t>12 features</a:t>
            </a:r>
          </a:p>
        </p:txBody>
      </p:sp>
      <p:sp>
        <p:nvSpPr>
          <p:cNvPr id="8" name="TextBox 7"/>
          <p:cNvSpPr txBox="1"/>
          <p:nvPr/>
        </p:nvSpPr>
        <p:spPr>
          <a:xfrm>
            <a:off x="886968" y="2697480"/>
            <a:ext cx="3017520" cy="1874519"/>
          </a:xfrm>
          <a:prstGeom prst="rect">
            <a:avLst/>
          </a:prstGeom>
          <a:noFill/>
        </p:spPr>
        <p:txBody>
          <a:bodyPr wrap="square" anchor="t" lIns="0" rIns="0" tIns="0" bIns="0">
            <a:spAutoFit/>
          </a:bodyPr>
          <a:lstStyle/>
          <a:p>
            <a:pPr algn="l">
              <a:spcBef>
                <a:spcPts val="0"/>
              </a:spcBef>
              <a:spcAft>
                <a:spcPts val="800"/>
              </a:spcAft>
            </a:pPr>
            <a:r>
              <a:rPr sz="1150" b="0" i="0">
                <a:solidFill>
                  <a:srgbClr val="CBD5E1"/>
                </a:solidFill>
                <a:latin typeface="Calibri"/>
              </a:rPr>
              <a:t>• OHLC log-returns, RSI, MACD×3</a:t>
            </a:r>
          </a:p>
          <a:p>
            <a:pPr algn="l">
              <a:spcBef>
                <a:spcPts val="0"/>
              </a:spcBef>
              <a:spcAft>
                <a:spcPts val="800"/>
              </a:spcAft>
            </a:pPr>
            <a:r>
              <a:rPr sz="1150" b="0" i="0">
                <a:solidFill>
                  <a:srgbClr val="CBD5E1"/>
                </a:solidFill>
                <a:latin typeface="Calibri"/>
              </a:rPr>
              <a:t>• Bollinger width, ATR%, ROC, %K</a:t>
            </a:r>
          </a:p>
          <a:p>
            <a:pPr algn="l">
              <a:spcBef>
                <a:spcPts val="0"/>
              </a:spcBef>
              <a:spcAft>
                <a:spcPts val="800"/>
              </a:spcAft>
            </a:pPr>
            <a:r>
              <a:rPr sz="1150" b="0" i="0">
                <a:solidFill>
                  <a:srgbClr val="CBD5E1"/>
                </a:solidFill>
                <a:latin typeface="Calibri"/>
              </a:rPr>
              <a:t>• EMA ratio, volume z, realized vol</a:t>
            </a:r>
          </a:p>
          <a:p>
            <a:pPr algn="l">
              <a:spcBef>
                <a:spcPts val="0"/>
              </a:spcBef>
              <a:spcAft>
                <a:spcPts val="800"/>
              </a:spcAft>
            </a:pPr>
            <a:r>
              <a:rPr sz="1150" b="0" i="0">
                <a:solidFill>
                  <a:srgbClr val="CBD5E1"/>
                </a:solidFill>
                <a:latin typeface="Calibri"/>
              </a:rPr>
              <a:t>• Min-max / z-scored within window</a:t>
            </a:r>
          </a:p>
        </p:txBody>
      </p:sp>
      <p:sp>
        <p:nvSpPr>
          <p:cNvPr id="9" name="Rounded Rectangle 8"/>
          <p:cNvSpPr/>
          <p:nvPr/>
        </p:nvSpPr>
        <p:spPr>
          <a:xfrm>
            <a:off x="4379976" y="1645920"/>
            <a:ext cx="3566160" cy="30632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0016" y="1901952"/>
            <a:ext cx="3017520" cy="320040"/>
          </a:xfrm>
          <a:prstGeom prst="rect">
            <a:avLst/>
          </a:prstGeom>
          <a:noFill/>
        </p:spPr>
        <p:txBody>
          <a:bodyPr wrap="square" anchor="t" lIns="0" rIns="0" tIns="0" bIns="0">
            <a:spAutoFit/>
          </a:bodyPr>
          <a:lstStyle/>
          <a:p>
            <a:pPr algn="l">
              <a:spcBef>
                <a:spcPts val="0"/>
              </a:spcBef>
              <a:spcAft>
                <a:spcPts val="200"/>
              </a:spcAft>
            </a:pPr>
            <a:r>
              <a:rPr sz="1350" b="1" i="0">
                <a:solidFill>
                  <a:srgbClr val="2563EB"/>
                </a:solidFill>
                <a:latin typeface="Calibri"/>
              </a:rPr>
              <a:t>MACRO STREAM</a:t>
            </a:r>
          </a:p>
        </p:txBody>
      </p:sp>
      <p:sp>
        <p:nvSpPr>
          <p:cNvPr id="11" name="TextBox 10"/>
          <p:cNvSpPr txBox="1"/>
          <p:nvPr/>
        </p:nvSpPr>
        <p:spPr>
          <a:xfrm>
            <a:off x="4700016" y="2249424"/>
            <a:ext cx="3017520" cy="274320"/>
          </a:xfrm>
          <a:prstGeom prst="rect">
            <a:avLst/>
          </a:prstGeom>
          <a:noFill/>
        </p:spPr>
        <p:txBody>
          <a:bodyPr wrap="square" anchor="t" lIns="0" rIns="0" tIns="0" bIns="0">
            <a:spAutoFit/>
          </a:bodyPr>
          <a:lstStyle/>
          <a:p>
            <a:pPr algn="l">
              <a:spcBef>
                <a:spcPts val="0"/>
              </a:spcBef>
              <a:spcAft>
                <a:spcPts val="200"/>
              </a:spcAft>
            </a:pPr>
            <a:r>
              <a:rPr sz="1100" b="0" i="1">
                <a:solidFill>
                  <a:srgbClr val="64748B"/>
                </a:solidFill>
                <a:latin typeface="Calibri"/>
              </a:rPr>
              <a:t>6 features</a:t>
            </a:r>
          </a:p>
        </p:txBody>
      </p:sp>
      <p:sp>
        <p:nvSpPr>
          <p:cNvPr id="12" name="TextBox 11"/>
          <p:cNvSpPr txBox="1"/>
          <p:nvPr/>
        </p:nvSpPr>
        <p:spPr>
          <a:xfrm>
            <a:off x="4700016" y="2697480"/>
            <a:ext cx="3017520" cy="1874519"/>
          </a:xfrm>
          <a:prstGeom prst="rect">
            <a:avLst/>
          </a:prstGeom>
          <a:noFill/>
        </p:spPr>
        <p:txBody>
          <a:bodyPr wrap="square" anchor="t" lIns="0" rIns="0" tIns="0" bIns="0">
            <a:spAutoFit/>
          </a:bodyPr>
          <a:lstStyle/>
          <a:p>
            <a:pPr algn="l">
              <a:spcBef>
                <a:spcPts val="0"/>
              </a:spcBef>
              <a:spcAft>
                <a:spcPts val="800"/>
              </a:spcAft>
            </a:pPr>
            <a:r>
              <a:rPr sz="1150" b="0" i="0">
                <a:solidFill>
                  <a:srgbClr val="CBD5E1"/>
                </a:solidFill>
                <a:latin typeface="Calibri"/>
              </a:rPr>
              <a:t>• Rate level z &amp; 10-yr yield change</a:t>
            </a:r>
          </a:p>
          <a:p>
            <a:pPr algn="l">
              <a:spcBef>
                <a:spcPts val="0"/>
              </a:spcBef>
              <a:spcAft>
                <a:spcPts val="800"/>
              </a:spcAft>
            </a:pPr>
            <a:r>
              <a:rPr sz="1150" b="0" i="0">
                <a:solidFill>
                  <a:srgbClr val="CBD5E1"/>
                </a:solidFill>
                <a:latin typeface="Calibri"/>
              </a:rPr>
              <a:t>• Dollar-index return (DXY)</a:t>
            </a:r>
          </a:p>
          <a:p>
            <a:pPr algn="l">
              <a:spcBef>
                <a:spcPts val="0"/>
              </a:spcBef>
              <a:spcAft>
                <a:spcPts val="800"/>
              </a:spcAft>
            </a:pPr>
            <a:r>
              <a:rPr sz="1150" b="0" i="0">
                <a:solidFill>
                  <a:srgbClr val="CBD5E1"/>
                </a:solidFill>
                <a:latin typeface="Calibri"/>
              </a:rPr>
              <a:t>• CPI year-over-year &amp; month-over-month</a:t>
            </a:r>
          </a:p>
          <a:p>
            <a:pPr algn="l">
              <a:spcBef>
                <a:spcPts val="0"/>
              </a:spcBef>
              <a:spcAft>
                <a:spcPts val="800"/>
              </a:spcAft>
            </a:pPr>
            <a:r>
              <a:rPr sz="1150" b="0" i="0">
                <a:solidFill>
                  <a:srgbClr val="CBD5E1"/>
                </a:solidFill>
                <a:latin typeface="Calibri"/>
              </a:rPr>
              <a:t>• Days-since-CPI recency</a:t>
            </a:r>
          </a:p>
        </p:txBody>
      </p:sp>
      <p:sp>
        <p:nvSpPr>
          <p:cNvPr id="13" name="Rounded Rectangle 12"/>
          <p:cNvSpPr/>
          <p:nvPr/>
        </p:nvSpPr>
        <p:spPr>
          <a:xfrm>
            <a:off x="8193023" y="1645920"/>
            <a:ext cx="3566160" cy="30632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13063" y="1901952"/>
            <a:ext cx="3017520" cy="320040"/>
          </a:xfrm>
          <a:prstGeom prst="rect">
            <a:avLst/>
          </a:prstGeom>
          <a:noFill/>
        </p:spPr>
        <p:txBody>
          <a:bodyPr wrap="square" anchor="t" lIns="0" rIns="0" tIns="0" bIns="0">
            <a:spAutoFit/>
          </a:bodyPr>
          <a:lstStyle/>
          <a:p>
            <a:pPr algn="l">
              <a:spcBef>
                <a:spcPts val="0"/>
              </a:spcBef>
              <a:spcAft>
                <a:spcPts val="200"/>
              </a:spcAft>
            </a:pPr>
            <a:r>
              <a:rPr sz="1350" b="1" i="0">
                <a:solidFill>
                  <a:srgbClr val="0891B2"/>
                </a:solidFill>
                <a:latin typeface="Calibri"/>
              </a:rPr>
              <a:t>SENTIMENT STREAM</a:t>
            </a:r>
          </a:p>
        </p:txBody>
      </p:sp>
      <p:sp>
        <p:nvSpPr>
          <p:cNvPr id="15" name="TextBox 14"/>
          <p:cNvSpPr txBox="1"/>
          <p:nvPr/>
        </p:nvSpPr>
        <p:spPr>
          <a:xfrm>
            <a:off x="8513063" y="2249424"/>
            <a:ext cx="3017520" cy="274320"/>
          </a:xfrm>
          <a:prstGeom prst="rect">
            <a:avLst/>
          </a:prstGeom>
          <a:noFill/>
        </p:spPr>
        <p:txBody>
          <a:bodyPr wrap="square" anchor="t" lIns="0" rIns="0" tIns="0" bIns="0">
            <a:spAutoFit/>
          </a:bodyPr>
          <a:lstStyle/>
          <a:p>
            <a:pPr algn="l">
              <a:spcBef>
                <a:spcPts val="0"/>
              </a:spcBef>
              <a:spcAft>
                <a:spcPts val="200"/>
              </a:spcAft>
            </a:pPr>
            <a:r>
              <a:rPr sz="1100" b="0" i="1">
                <a:solidFill>
                  <a:srgbClr val="64748B"/>
                </a:solidFill>
                <a:latin typeface="Calibri"/>
              </a:rPr>
              <a:t>12 features</a:t>
            </a:r>
          </a:p>
        </p:txBody>
      </p:sp>
      <p:sp>
        <p:nvSpPr>
          <p:cNvPr id="16" name="TextBox 15"/>
          <p:cNvSpPr txBox="1"/>
          <p:nvPr/>
        </p:nvSpPr>
        <p:spPr>
          <a:xfrm>
            <a:off x="8513063" y="2697480"/>
            <a:ext cx="3017520" cy="1874519"/>
          </a:xfrm>
          <a:prstGeom prst="rect">
            <a:avLst/>
          </a:prstGeom>
          <a:noFill/>
        </p:spPr>
        <p:txBody>
          <a:bodyPr wrap="square" anchor="t" lIns="0" rIns="0" tIns="0" bIns="0">
            <a:spAutoFit/>
          </a:bodyPr>
          <a:lstStyle/>
          <a:p>
            <a:pPr algn="l">
              <a:spcBef>
                <a:spcPts val="0"/>
              </a:spcBef>
              <a:spcAft>
                <a:spcPts val="800"/>
              </a:spcAft>
            </a:pPr>
            <a:r>
              <a:rPr sz="1150" b="0" i="0">
                <a:solidFill>
                  <a:srgbClr val="CBD5E1"/>
                </a:solidFill>
                <a:latin typeface="Calibri"/>
              </a:rPr>
              <a:t>• FinBERT rolling mean/std/min/max</a:t>
            </a:r>
          </a:p>
          <a:p>
            <a:pPr algn="l">
              <a:spcBef>
                <a:spcPts val="0"/>
              </a:spcBef>
              <a:spcAft>
                <a:spcPts val="800"/>
              </a:spcAft>
            </a:pPr>
            <a:r>
              <a:rPr sz="1150" b="0" i="0">
                <a:solidFill>
                  <a:srgbClr val="CBD5E1"/>
                </a:solidFill>
                <a:latin typeface="Calibri"/>
              </a:rPr>
              <a:t>• Sentiment momentum &amp; decay</a:t>
            </a:r>
          </a:p>
          <a:p>
            <a:pPr algn="l">
              <a:spcBef>
                <a:spcPts val="0"/>
              </a:spcBef>
              <a:spcAft>
                <a:spcPts val="800"/>
              </a:spcAft>
            </a:pPr>
            <a:r>
              <a:rPr sz="1150" b="0" i="0">
                <a:solidFill>
                  <a:srgbClr val="CBD5E1"/>
                </a:solidFill>
                <a:latin typeface="Calibri"/>
              </a:rPr>
              <a:t>• Headline-count z-score, volatility</a:t>
            </a:r>
          </a:p>
          <a:p>
            <a:pPr algn="l">
              <a:spcBef>
                <a:spcPts val="0"/>
              </a:spcBef>
              <a:spcAft>
                <a:spcPts val="800"/>
              </a:spcAft>
            </a:pPr>
            <a:r>
              <a:rPr sz="1150" b="0" i="0">
                <a:solidFill>
                  <a:srgbClr val="CBD5E1"/>
                </a:solidFill>
                <a:latin typeface="Calibri"/>
              </a:rPr>
              <a:t>• Buy/Sell/Hold/None one-hot signal</a:t>
            </a:r>
          </a:p>
        </p:txBody>
      </p:sp>
      <p:sp>
        <p:nvSpPr>
          <p:cNvPr id="17" name="Rounded Rectangle 16"/>
          <p:cNvSpPr/>
          <p:nvPr/>
        </p:nvSpPr>
        <p:spPr>
          <a:xfrm>
            <a:off x="566928" y="4983480"/>
            <a:ext cx="11064240" cy="96012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138928"/>
            <a:ext cx="10607040" cy="731520"/>
          </a:xfrm>
          <a:prstGeom prst="rect">
            <a:avLst/>
          </a:prstGeom>
          <a:noFill/>
        </p:spPr>
        <p:txBody>
          <a:bodyPr wrap="square" anchor="t" lIns="0" rIns="0" tIns="0" bIns="0">
            <a:spAutoFit/>
          </a:bodyPr>
          <a:lstStyle/>
          <a:p>
            <a:pPr algn="l">
              <a:spcBef>
                <a:spcPts val="0"/>
              </a:spcBef>
              <a:spcAft>
                <a:spcPts val="200"/>
              </a:spcAft>
            </a:pPr>
            <a:r>
              <a:rPr sz="1250" b="1" i="0">
                <a:solidFill>
                  <a:srgbClr val="1F3759"/>
                </a:solidFill>
                <a:latin typeface="Calibri"/>
              </a:rPr>
              <a:t>Fusion &amp; normalisation:  </a:t>
            </a:r>
            <a:r>
              <a:rPr sz="1200" b="0" i="0">
                <a:solidFill>
                  <a:srgbClr val="334155"/>
                </a:solidFill>
                <a:latin typeface="Calibri"/>
              </a:rPr>
              <a:t>stationary transforms remove price-level dependence; every stream shares one 60-bar time axis.</a:t>
            </a:r>
          </a:p>
          <a:p>
            <a:pPr algn="l">
              <a:spcBef>
                <a:spcPts val="400"/>
              </a:spcBef>
              <a:spcAft>
                <a:spcPts val="200"/>
              </a:spcAft>
            </a:pPr>
            <a:r>
              <a:rPr sz="1250" b="1" i="0">
                <a:solidFill>
                  <a:srgbClr val="1F3759"/>
                </a:solidFill>
                <a:latin typeface="Calibri"/>
              </a:rPr>
              <a:t>Dual-tower split:  </a:t>
            </a:r>
            <a:r>
              <a:rPr sz="1200" b="0" i="0">
                <a:solidFill>
                  <a:srgbClr val="334155"/>
                </a:solidFill>
                <a:latin typeface="Calibri"/>
              </a:rPr>
              <a:t>18 quantitative features (technical + macro) feed Tower A; 12 sentiment features feed Tower B — kept as separate tensors.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Hybrid Architecture — End-to-End Flow</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Dual-tower design; tensor shape shown at every hand-off (B = batch, 60 = lookback, 10 = horizons)</a:t>
            </a:r>
          </a:p>
        </p:txBody>
      </p:sp>
      <p:sp>
        <p:nvSpPr>
          <p:cNvPr id="5" name="Rectangle 4"/>
          <p:cNvSpPr/>
          <p:nvPr/>
        </p:nvSpPr>
        <p:spPr>
          <a:xfrm>
            <a:off x="566928" y="1600200"/>
            <a:ext cx="2514600" cy="86868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00200"/>
            <a:ext cx="2514600" cy="868680"/>
          </a:xfrm>
          <a:prstGeom prst="rect">
            <a:avLst/>
          </a:prstGeom>
          <a:noFill/>
        </p:spPr>
        <p:txBody>
          <a:bodyPr wrap="square" anchor="ctr" lIns="0" rIns="0" tIns="0" bIns="0">
            <a:spAutoFit/>
          </a:bodyPr>
          <a:lstStyle/>
          <a:p>
            <a:pPr algn="ctr">
              <a:spcBef>
                <a:spcPts val="0"/>
              </a:spcBef>
              <a:spcAft>
                <a:spcPts val="200"/>
              </a:spcAft>
            </a:pPr>
            <a:r>
              <a:rPr sz="1100" b="1" i="0">
                <a:solidFill>
                  <a:srgbClr val="334155"/>
                </a:solidFill>
                <a:latin typeface="Calibri"/>
              </a:rPr>
              <a:t>Quant input</a:t>
            </a:r>
          </a:p>
          <a:p>
            <a:pPr algn="ctr">
              <a:spcBef>
                <a:spcPts val="0"/>
              </a:spcBef>
              <a:spcAft>
                <a:spcPts val="200"/>
              </a:spcAft>
            </a:pPr>
            <a:r>
              <a:rPr sz="1100" b="1" i="0">
                <a:solidFill>
                  <a:srgbClr val="334155"/>
                </a:solidFill>
                <a:latin typeface="Calibri"/>
              </a:rPr>
              <a:t>(B, 60, 18)</a:t>
            </a:r>
          </a:p>
        </p:txBody>
      </p:sp>
      <p:sp>
        <p:nvSpPr>
          <p:cNvPr id="7" name="Rounded Rectangle 6"/>
          <p:cNvSpPr/>
          <p:nvPr/>
        </p:nvSpPr>
        <p:spPr>
          <a:xfrm>
            <a:off x="566928" y="2697480"/>
            <a:ext cx="2514600" cy="868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697480"/>
            <a:ext cx="2514600" cy="868680"/>
          </a:xfrm>
          <a:prstGeom prst="rect">
            <a:avLst/>
          </a:prstGeom>
          <a:noFill/>
        </p:spPr>
        <p:txBody>
          <a:bodyPr wrap="square" anchor="ctr" lIns="0" rIns="0" tIns="0" bIns="0">
            <a:spAutoFit/>
          </a:bodyPr>
          <a:lstStyle/>
          <a:p>
            <a:pPr algn="ctr">
              <a:spcBef>
                <a:spcPts val="0"/>
              </a:spcBef>
              <a:spcAft>
                <a:spcPts val="200"/>
              </a:spcAft>
            </a:pPr>
            <a:r>
              <a:rPr sz="1100" b="1" i="0">
                <a:solidFill>
                  <a:srgbClr val="FFFFFF"/>
                </a:solidFill>
                <a:latin typeface="Calibri"/>
              </a:rPr>
              <a:t>Dilated Causal CNN</a:t>
            </a:r>
          </a:p>
          <a:p>
            <a:pPr algn="ctr">
              <a:spcBef>
                <a:spcPts val="0"/>
              </a:spcBef>
              <a:spcAft>
                <a:spcPts val="200"/>
              </a:spcAft>
            </a:pPr>
            <a:r>
              <a:rPr sz="1100" b="1" i="0">
                <a:solidFill>
                  <a:srgbClr val="FFFFFF"/>
                </a:solidFill>
                <a:latin typeface="Calibri"/>
              </a:rPr>
              <a:t>→ (B, 60, 128)</a:t>
            </a:r>
          </a:p>
        </p:txBody>
      </p:sp>
      <p:sp>
        <p:nvSpPr>
          <p:cNvPr id="9" name="Rectangle 8"/>
          <p:cNvSpPr/>
          <p:nvPr/>
        </p:nvSpPr>
        <p:spPr>
          <a:xfrm>
            <a:off x="566928" y="4160520"/>
            <a:ext cx="2514600" cy="86868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160520"/>
            <a:ext cx="2514600" cy="868680"/>
          </a:xfrm>
          <a:prstGeom prst="rect">
            <a:avLst/>
          </a:prstGeom>
          <a:noFill/>
        </p:spPr>
        <p:txBody>
          <a:bodyPr wrap="square" anchor="ctr" lIns="0" rIns="0" tIns="0" bIns="0">
            <a:spAutoFit/>
          </a:bodyPr>
          <a:lstStyle/>
          <a:p>
            <a:pPr algn="ctr">
              <a:spcBef>
                <a:spcPts val="0"/>
              </a:spcBef>
              <a:spcAft>
                <a:spcPts val="200"/>
              </a:spcAft>
            </a:pPr>
            <a:r>
              <a:rPr sz="1100" b="1" i="0">
                <a:solidFill>
                  <a:srgbClr val="334155"/>
                </a:solidFill>
                <a:latin typeface="Calibri"/>
              </a:rPr>
              <a:t>Text input</a:t>
            </a:r>
          </a:p>
          <a:p>
            <a:pPr algn="ctr">
              <a:spcBef>
                <a:spcPts val="0"/>
              </a:spcBef>
              <a:spcAft>
                <a:spcPts val="200"/>
              </a:spcAft>
            </a:pPr>
            <a:r>
              <a:rPr sz="1100" b="1" i="0">
                <a:solidFill>
                  <a:srgbClr val="334155"/>
                </a:solidFill>
                <a:latin typeface="Calibri"/>
              </a:rPr>
              <a:t>(B, 60, 12)</a:t>
            </a:r>
          </a:p>
        </p:txBody>
      </p:sp>
      <p:sp>
        <p:nvSpPr>
          <p:cNvPr id="11" name="Rounded Rectangle 10"/>
          <p:cNvSpPr/>
          <p:nvPr/>
        </p:nvSpPr>
        <p:spPr>
          <a:xfrm>
            <a:off x="566928" y="5257800"/>
            <a:ext cx="2514600" cy="7772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257800"/>
            <a:ext cx="2514600" cy="777240"/>
          </a:xfrm>
          <a:prstGeom prst="rect">
            <a:avLst/>
          </a:prstGeom>
          <a:noFill/>
        </p:spPr>
        <p:txBody>
          <a:bodyPr wrap="square" anchor="ctr" lIns="0" rIns="0" tIns="0" bIns="0">
            <a:spAutoFit/>
          </a:bodyPr>
          <a:lstStyle/>
          <a:p>
            <a:pPr algn="ctr">
              <a:spcBef>
                <a:spcPts val="0"/>
              </a:spcBef>
              <a:spcAft>
                <a:spcPts val="200"/>
              </a:spcAft>
            </a:pPr>
            <a:r>
              <a:rPr sz="1100" b="1" i="0">
                <a:solidFill>
                  <a:srgbClr val="FFFFFF"/>
                </a:solidFill>
                <a:latin typeface="Calibri"/>
              </a:rPr>
              <a:t>Sentiment GRU</a:t>
            </a:r>
          </a:p>
          <a:p>
            <a:pPr algn="ctr">
              <a:spcBef>
                <a:spcPts val="0"/>
              </a:spcBef>
              <a:spcAft>
                <a:spcPts val="200"/>
              </a:spcAft>
            </a:pPr>
            <a:r>
              <a:rPr sz="1100" b="1" i="0">
                <a:solidFill>
                  <a:srgbClr val="FFFFFF"/>
                </a:solidFill>
                <a:latin typeface="Calibri"/>
              </a:rPr>
              <a:t>→ (B, 60, 128)</a:t>
            </a:r>
          </a:p>
        </p:txBody>
      </p:sp>
      <p:sp>
        <p:nvSpPr>
          <p:cNvPr id="13" name="Rounded Rectangle 12"/>
          <p:cNvSpPr/>
          <p:nvPr/>
        </p:nvSpPr>
        <p:spPr>
          <a:xfrm>
            <a:off x="3429000" y="3246120"/>
            <a:ext cx="2194560" cy="1280160"/>
          </a:xfrm>
          <a:prstGeom prst="roundRect">
            <a:avLst>
              <a:gd name="adj" fmla="val 8000"/>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3246120"/>
            <a:ext cx="2194560" cy="1280160"/>
          </a:xfrm>
          <a:prstGeom prst="rect">
            <a:avLst/>
          </a:prstGeom>
          <a:noFill/>
        </p:spPr>
        <p:txBody>
          <a:bodyPr wrap="square" anchor="ctr" lIns="0" rIns="0" tIns="0" bIns="0">
            <a:spAutoFit/>
          </a:bodyPr>
          <a:lstStyle/>
          <a:p>
            <a:pPr algn="ctr">
              <a:spcBef>
                <a:spcPts val="0"/>
              </a:spcBef>
              <a:spcAft>
                <a:spcPts val="200"/>
              </a:spcAft>
            </a:pPr>
            <a:r>
              <a:rPr sz="1100" b="1" i="0">
                <a:solidFill>
                  <a:srgbClr val="FFFFFF"/>
                </a:solidFill>
                <a:latin typeface="Calibri"/>
              </a:rPr>
              <a:t>Cross-Attention</a:t>
            </a:r>
          </a:p>
          <a:p>
            <a:pPr algn="ctr">
              <a:spcBef>
                <a:spcPts val="0"/>
              </a:spcBef>
              <a:spcAft>
                <a:spcPts val="200"/>
              </a:spcAft>
            </a:pPr>
            <a:r>
              <a:rPr sz="1100" b="1" i="0">
                <a:solidFill>
                  <a:srgbClr val="FFFFFF"/>
                </a:solidFill>
                <a:latin typeface="Calibri"/>
              </a:rPr>
              <a:t>Fusion</a:t>
            </a:r>
          </a:p>
          <a:p>
            <a:pPr algn="ctr">
              <a:spcBef>
                <a:spcPts val="0"/>
              </a:spcBef>
              <a:spcAft>
                <a:spcPts val="200"/>
              </a:spcAft>
            </a:pPr>
            <a:r>
              <a:rPr sz="1100" b="1" i="0">
                <a:solidFill>
                  <a:srgbClr val="FFFFFF"/>
                </a:solidFill>
                <a:latin typeface="Calibri"/>
              </a:rPr>
              <a:t>(quant Q, text K/V)</a:t>
            </a:r>
          </a:p>
          <a:p>
            <a:pPr algn="ctr">
              <a:spcBef>
                <a:spcPts val="0"/>
              </a:spcBef>
              <a:spcAft>
                <a:spcPts val="200"/>
              </a:spcAft>
            </a:pPr>
            <a:r>
              <a:rPr sz="1100" b="1" i="0">
                <a:solidFill>
                  <a:srgbClr val="FFFFFF"/>
                </a:solidFill>
                <a:latin typeface="Calibri"/>
              </a:rPr>
              <a:t>→ (B, 60, 128)</a:t>
            </a:r>
          </a:p>
        </p:txBody>
      </p:sp>
      <p:sp>
        <p:nvSpPr>
          <p:cNvPr id="15" name="Rounded Rectangle 14"/>
          <p:cNvSpPr/>
          <p:nvPr/>
        </p:nvSpPr>
        <p:spPr>
          <a:xfrm>
            <a:off x="5943600" y="3246120"/>
            <a:ext cx="2148840" cy="128016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0" y="3246120"/>
            <a:ext cx="2148840" cy="1280160"/>
          </a:xfrm>
          <a:prstGeom prst="rect">
            <a:avLst/>
          </a:prstGeom>
          <a:noFill/>
        </p:spPr>
        <p:txBody>
          <a:bodyPr wrap="square" anchor="ctr" lIns="0" rIns="0" tIns="0" bIns="0">
            <a:spAutoFit/>
          </a:bodyPr>
          <a:lstStyle/>
          <a:p>
            <a:pPr algn="ctr">
              <a:spcBef>
                <a:spcPts val="0"/>
              </a:spcBef>
              <a:spcAft>
                <a:spcPts val="200"/>
              </a:spcAft>
            </a:pPr>
            <a:r>
              <a:rPr sz="1100" b="1" i="0">
                <a:solidFill>
                  <a:srgbClr val="FFFFFF"/>
                </a:solidFill>
                <a:latin typeface="Calibri"/>
              </a:rPr>
              <a:t>Transformer</a:t>
            </a:r>
          </a:p>
          <a:p>
            <a:pPr algn="ctr">
              <a:spcBef>
                <a:spcPts val="0"/>
              </a:spcBef>
              <a:spcAft>
                <a:spcPts val="200"/>
              </a:spcAft>
            </a:pPr>
            <a:r>
              <a:rPr sz="1100" b="1" i="0">
                <a:solidFill>
                  <a:srgbClr val="FFFFFF"/>
                </a:solidFill>
                <a:latin typeface="Calibri"/>
              </a:rPr>
              <a:t>Encoder</a:t>
            </a:r>
          </a:p>
          <a:p>
            <a:pPr algn="ctr">
              <a:spcBef>
                <a:spcPts val="0"/>
              </a:spcBef>
              <a:spcAft>
                <a:spcPts val="200"/>
              </a:spcAft>
            </a:pPr>
            <a:r>
              <a:rPr sz="1100" b="1" i="0">
                <a:solidFill>
                  <a:srgbClr val="FFFFFF"/>
                </a:solidFill>
                <a:latin typeface="Calibri"/>
              </a:rPr>
              <a:t>self-attention</a:t>
            </a:r>
          </a:p>
          <a:p>
            <a:pPr algn="ctr">
              <a:spcBef>
                <a:spcPts val="0"/>
              </a:spcBef>
              <a:spcAft>
                <a:spcPts val="200"/>
              </a:spcAft>
            </a:pPr>
            <a:r>
              <a:rPr sz="1100" b="1" i="0">
                <a:solidFill>
                  <a:srgbClr val="FFFFFF"/>
                </a:solidFill>
                <a:latin typeface="Calibri"/>
              </a:rPr>
              <a:t>→ (B, 60, 256)</a:t>
            </a:r>
          </a:p>
        </p:txBody>
      </p:sp>
      <p:sp>
        <p:nvSpPr>
          <p:cNvPr id="17" name="Rounded Rectangle 16"/>
          <p:cNvSpPr/>
          <p:nvPr/>
        </p:nvSpPr>
        <p:spPr>
          <a:xfrm>
            <a:off x="8412480" y="3246120"/>
            <a:ext cx="2011680" cy="128016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3246120"/>
            <a:ext cx="2011680" cy="1280160"/>
          </a:xfrm>
          <a:prstGeom prst="rect">
            <a:avLst/>
          </a:prstGeom>
          <a:noFill/>
        </p:spPr>
        <p:txBody>
          <a:bodyPr wrap="square" anchor="ctr" lIns="0" rIns="0" tIns="0" bIns="0">
            <a:spAutoFit/>
          </a:bodyPr>
          <a:lstStyle/>
          <a:p>
            <a:pPr algn="ctr">
              <a:spcBef>
                <a:spcPts val="0"/>
              </a:spcBef>
              <a:spcAft>
                <a:spcPts val="200"/>
              </a:spcAft>
            </a:pPr>
            <a:r>
              <a:rPr sz="1100" b="1" i="0">
                <a:solidFill>
                  <a:srgbClr val="FFFFFF"/>
                </a:solidFill>
                <a:latin typeface="Calibri"/>
              </a:rPr>
              <a:t>Bi-LSTM ∥ Bi-GRU</a:t>
            </a:r>
          </a:p>
          <a:p>
            <a:pPr algn="ctr">
              <a:spcBef>
                <a:spcPts val="0"/>
              </a:spcBef>
              <a:spcAft>
                <a:spcPts val="200"/>
              </a:spcAft>
            </a:pPr>
            <a:r>
              <a:rPr sz="1100" b="1" i="0">
                <a:solidFill>
                  <a:srgbClr val="FFFFFF"/>
                </a:solidFill>
                <a:latin typeface="Calibri"/>
              </a:rPr>
              <a:t>gated blend</a:t>
            </a:r>
          </a:p>
          <a:p>
            <a:pPr algn="ctr">
              <a:spcBef>
                <a:spcPts val="0"/>
              </a:spcBef>
              <a:spcAft>
                <a:spcPts val="200"/>
              </a:spcAft>
            </a:pPr>
            <a:r>
              <a:rPr sz="1100" b="1" i="0">
                <a:solidFill>
                  <a:srgbClr val="FFFFFF"/>
                </a:solidFill>
                <a:latin typeface="Calibri"/>
              </a:rPr>
              <a:t>+ pooled context</a:t>
            </a:r>
          </a:p>
          <a:p>
            <a:pPr algn="ctr">
              <a:spcBef>
                <a:spcPts val="0"/>
              </a:spcBef>
              <a:spcAft>
                <a:spcPts val="200"/>
              </a:spcAft>
            </a:pPr>
            <a:r>
              <a:rPr sz="1100" b="1" i="0">
                <a:solidFill>
                  <a:srgbClr val="FFFFFF"/>
                </a:solidFill>
                <a:latin typeface="Calibri"/>
              </a:rPr>
              <a:t>→ (B, 256)</a:t>
            </a:r>
          </a:p>
        </p:txBody>
      </p:sp>
      <p:sp>
        <p:nvSpPr>
          <p:cNvPr id="19" name="Rounded Rectangle 18"/>
          <p:cNvSpPr/>
          <p:nvPr/>
        </p:nvSpPr>
        <p:spPr>
          <a:xfrm>
            <a:off x="10698480" y="3246120"/>
            <a:ext cx="1371600" cy="128016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0" y="3246120"/>
            <a:ext cx="1371600" cy="1280160"/>
          </a:xfrm>
          <a:prstGeom prst="rect">
            <a:avLst/>
          </a:prstGeom>
          <a:noFill/>
        </p:spPr>
        <p:txBody>
          <a:bodyPr wrap="square" anchor="ctr" lIns="0" rIns="0" tIns="0" bIns="0">
            <a:spAutoFit/>
          </a:bodyPr>
          <a:lstStyle/>
          <a:p>
            <a:pPr algn="ctr">
              <a:spcBef>
                <a:spcPts val="0"/>
              </a:spcBef>
              <a:spcAft>
                <a:spcPts val="200"/>
              </a:spcAft>
            </a:pPr>
            <a:r>
              <a:rPr sz="1100" b="1" i="0">
                <a:solidFill>
                  <a:srgbClr val="FFFFFF"/>
                </a:solidFill>
                <a:latin typeface="Calibri"/>
              </a:rPr>
              <a:t>Regime</a:t>
            </a:r>
          </a:p>
          <a:p>
            <a:pPr algn="ctr">
              <a:spcBef>
                <a:spcPts val="0"/>
              </a:spcBef>
              <a:spcAft>
                <a:spcPts val="200"/>
              </a:spcAft>
            </a:pPr>
            <a:r>
              <a:rPr sz="1100" b="1" i="0">
                <a:solidFill>
                  <a:srgbClr val="FFFFFF"/>
                </a:solidFill>
                <a:latin typeface="Calibri"/>
              </a:rPr>
              <a:t>heads</a:t>
            </a:r>
          </a:p>
          <a:p>
            <a:pPr algn="ctr">
              <a:spcBef>
                <a:spcPts val="0"/>
              </a:spcBef>
              <a:spcAft>
                <a:spcPts val="200"/>
              </a:spcAft>
            </a:pPr>
            <a:r>
              <a:rPr sz="1100" b="1" i="0">
                <a:solidFill>
                  <a:srgbClr val="FFFFFF"/>
                </a:solidFill>
                <a:latin typeface="Calibri"/>
              </a:rPr>
              <a:t>(μ, σ²)</a:t>
            </a:r>
          </a:p>
          <a:p>
            <a:pPr algn="ctr">
              <a:spcBef>
                <a:spcPts val="0"/>
              </a:spcBef>
              <a:spcAft>
                <a:spcPts val="200"/>
              </a:spcAft>
            </a:pPr>
            <a:r>
              <a:rPr sz="1100" b="1" i="0">
                <a:solidFill>
                  <a:srgbClr val="FFFFFF"/>
                </a:solidFill>
                <a:latin typeface="Calibri"/>
              </a:rPr>
              <a:t>× 10</a:t>
            </a:r>
          </a:p>
        </p:txBody>
      </p:sp>
      <p:sp>
        <p:nvSpPr>
          <p:cNvPr id="21" name="Right Arrow 20"/>
          <p:cNvSpPr/>
          <p:nvPr/>
        </p:nvSpPr>
        <p:spPr>
          <a:xfrm>
            <a:off x="3108960" y="3794760"/>
            <a:ext cx="292608" cy="20116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5623560" y="3794760"/>
            <a:ext cx="292608" cy="20116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8138160" y="3794760"/>
            <a:ext cx="292608" cy="20116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10424160" y="3794760"/>
            <a:ext cx="292608" cy="201168"/>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263640"/>
            <a:ext cx="11064240" cy="365760"/>
          </a:xfrm>
          <a:prstGeom prst="rect">
            <a:avLst/>
          </a:prstGeom>
          <a:noFill/>
        </p:spPr>
        <p:txBody>
          <a:bodyPr wrap="square" anchor="t" lIns="0" rIns="0" tIns="0" bIns="0">
            <a:spAutoFit/>
          </a:bodyPr>
          <a:lstStyle/>
          <a:p>
            <a:pPr algn="l">
              <a:spcBef>
                <a:spcPts val="0"/>
              </a:spcBef>
              <a:spcAft>
                <a:spcPts val="200"/>
              </a:spcAft>
            </a:pPr>
            <a:r>
              <a:rPr sz="1150" b="1" i="0">
                <a:solidFill>
                  <a:srgbClr val="1F3759"/>
                </a:solidFill>
                <a:latin typeface="Calibri"/>
              </a:rPr>
              <a:t>Fused expert:  </a:t>
            </a:r>
            <a:r>
              <a:rPr sz="1150" b="0" i="0">
                <a:solidFill>
                  <a:srgbClr val="334155"/>
                </a:solidFill>
                <a:latin typeface="Calibri"/>
              </a:rPr>
              <a:t>a frozen XGBoost forecast is blended in through a regime-driven per-horizon trust gate.  Total ≈ 4.39M parameters.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Hybrid Architecture — Layer-by-Layer</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Design intent, input → output, and role of each stage</a:t>
            </a:r>
          </a:p>
        </p:txBody>
      </p:sp>
      <p:sp>
        <p:nvSpPr>
          <p:cNvPr id="5" name="Rounded Rectangle 4"/>
          <p:cNvSpPr/>
          <p:nvPr/>
        </p:nvSpPr>
        <p:spPr>
          <a:xfrm>
            <a:off x="566928" y="1645920"/>
            <a:ext cx="544068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828800"/>
            <a:ext cx="3977639" cy="320040"/>
          </a:xfrm>
          <a:prstGeom prst="rect">
            <a:avLst/>
          </a:prstGeom>
          <a:noFill/>
        </p:spPr>
        <p:txBody>
          <a:bodyPr wrap="square" anchor="t" lIns="0" rIns="0" tIns="0" bIns="0">
            <a:spAutoFit/>
          </a:bodyPr>
          <a:lstStyle/>
          <a:p>
            <a:pPr algn="l">
              <a:spcBef>
                <a:spcPts val="0"/>
              </a:spcBef>
              <a:spcAft>
                <a:spcPts val="200"/>
              </a:spcAft>
            </a:pPr>
            <a:r>
              <a:rPr sz="1350" b="1" i="0">
                <a:solidFill>
                  <a:srgbClr val="2DD4BF"/>
                </a:solidFill>
                <a:latin typeface="Calibri"/>
              </a:rPr>
              <a:t>Dilated Causal CNN</a:t>
            </a:r>
          </a:p>
        </p:txBody>
      </p:sp>
      <p:sp>
        <p:nvSpPr>
          <p:cNvPr id="7" name="TextBox 6"/>
          <p:cNvSpPr txBox="1"/>
          <p:nvPr/>
        </p:nvSpPr>
        <p:spPr>
          <a:xfrm>
            <a:off x="886968" y="2157984"/>
            <a:ext cx="4800600" cy="320040"/>
          </a:xfrm>
          <a:prstGeom prst="rect">
            <a:avLst/>
          </a:prstGeom>
          <a:noFill/>
        </p:spPr>
        <p:txBody>
          <a:bodyPr wrap="square" anchor="t" lIns="0" rIns="0" tIns="0" bIns="0">
            <a:spAutoFit/>
          </a:bodyPr>
          <a:lstStyle/>
          <a:p>
            <a:pPr algn="l">
              <a:spcBef>
                <a:spcPts val="0"/>
              </a:spcBef>
              <a:spcAft>
                <a:spcPts val="200"/>
              </a:spcAft>
            </a:pPr>
            <a:r>
              <a:rPr sz="1050" b="0" i="0">
                <a:solidFill>
                  <a:srgbClr val="2DD4BF"/>
                </a:solidFill>
                <a:latin typeface="Consolas"/>
              </a:rPr>
              <a:t>(B,60,18) → (B,60,128)</a:t>
            </a:r>
          </a:p>
        </p:txBody>
      </p:sp>
      <p:sp>
        <p:nvSpPr>
          <p:cNvPr id="8" name="TextBox 7"/>
          <p:cNvSpPr txBox="1"/>
          <p:nvPr/>
        </p:nvSpPr>
        <p:spPr>
          <a:xfrm>
            <a:off x="886968" y="2468880"/>
            <a:ext cx="4800600" cy="50292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Left-padded dilations 1/2/4, no pooling — keeps full 60-bar resolution; extracts local breaks a recurrent net smooths over.</a:t>
            </a:r>
          </a:p>
        </p:txBody>
      </p:sp>
      <p:sp>
        <p:nvSpPr>
          <p:cNvPr id="9" name="Rounded Rectangle 8"/>
          <p:cNvSpPr/>
          <p:nvPr/>
        </p:nvSpPr>
        <p:spPr>
          <a:xfrm>
            <a:off x="6254496" y="1645920"/>
            <a:ext cx="544068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4536" y="1828800"/>
            <a:ext cx="3977639" cy="320040"/>
          </a:xfrm>
          <a:prstGeom prst="rect">
            <a:avLst/>
          </a:prstGeom>
          <a:noFill/>
        </p:spPr>
        <p:txBody>
          <a:bodyPr wrap="square" anchor="t" lIns="0" rIns="0" tIns="0" bIns="0">
            <a:spAutoFit/>
          </a:bodyPr>
          <a:lstStyle/>
          <a:p>
            <a:pPr algn="l">
              <a:spcBef>
                <a:spcPts val="0"/>
              </a:spcBef>
              <a:spcAft>
                <a:spcPts val="200"/>
              </a:spcAft>
            </a:pPr>
            <a:r>
              <a:rPr sz="1350" b="1" i="0">
                <a:solidFill>
                  <a:srgbClr val="0891B2"/>
                </a:solidFill>
                <a:latin typeface="Calibri"/>
              </a:rPr>
              <a:t>Text GRU + Cross-Attention</a:t>
            </a:r>
          </a:p>
        </p:txBody>
      </p:sp>
      <p:sp>
        <p:nvSpPr>
          <p:cNvPr id="11" name="TextBox 10"/>
          <p:cNvSpPr txBox="1"/>
          <p:nvPr/>
        </p:nvSpPr>
        <p:spPr>
          <a:xfrm>
            <a:off x="6574536" y="2157984"/>
            <a:ext cx="4800600" cy="320040"/>
          </a:xfrm>
          <a:prstGeom prst="rect">
            <a:avLst/>
          </a:prstGeom>
          <a:noFill/>
        </p:spPr>
        <p:txBody>
          <a:bodyPr wrap="square" anchor="t" lIns="0" rIns="0" tIns="0" bIns="0">
            <a:spAutoFit/>
          </a:bodyPr>
          <a:lstStyle/>
          <a:p>
            <a:pPr algn="l">
              <a:spcBef>
                <a:spcPts val="0"/>
              </a:spcBef>
              <a:spcAft>
                <a:spcPts val="200"/>
              </a:spcAft>
            </a:pPr>
            <a:r>
              <a:rPr sz="1050" b="0" i="0">
                <a:solidFill>
                  <a:srgbClr val="2DD4BF"/>
                </a:solidFill>
                <a:latin typeface="Consolas"/>
              </a:rPr>
              <a:t>(B,60,12) → (B,60,128)</a:t>
            </a:r>
          </a:p>
        </p:txBody>
      </p:sp>
      <p:sp>
        <p:nvSpPr>
          <p:cNvPr id="12" name="TextBox 11"/>
          <p:cNvSpPr txBox="1"/>
          <p:nvPr/>
        </p:nvSpPr>
        <p:spPr>
          <a:xfrm>
            <a:off x="6574536" y="2468880"/>
            <a:ext cx="4800600" cy="50292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News tower encodes sentiment; cross-attention lets price queries read the news, with a presence gate for sparse days.</a:t>
            </a:r>
          </a:p>
        </p:txBody>
      </p:sp>
      <p:sp>
        <p:nvSpPr>
          <p:cNvPr id="13" name="Rounded Rectangle 12"/>
          <p:cNvSpPr/>
          <p:nvPr/>
        </p:nvSpPr>
        <p:spPr>
          <a:xfrm>
            <a:off x="566928" y="3200400"/>
            <a:ext cx="544068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383280"/>
            <a:ext cx="3977639" cy="320040"/>
          </a:xfrm>
          <a:prstGeom prst="rect">
            <a:avLst/>
          </a:prstGeom>
          <a:noFill/>
        </p:spPr>
        <p:txBody>
          <a:bodyPr wrap="square" anchor="t" lIns="0" rIns="0" tIns="0" bIns="0">
            <a:spAutoFit/>
          </a:bodyPr>
          <a:lstStyle/>
          <a:p>
            <a:pPr algn="l">
              <a:spcBef>
                <a:spcPts val="0"/>
              </a:spcBef>
              <a:spcAft>
                <a:spcPts val="200"/>
              </a:spcAft>
            </a:pPr>
            <a:r>
              <a:rPr sz="1350" b="1" i="0">
                <a:solidFill>
                  <a:srgbClr val="2563EB"/>
                </a:solidFill>
                <a:latin typeface="Calibri"/>
              </a:rPr>
              <a:t>Transformer Encoder</a:t>
            </a:r>
          </a:p>
        </p:txBody>
      </p:sp>
      <p:sp>
        <p:nvSpPr>
          <p:cNvPr id="15" name="TextBox 14"/>
          <p:cNvSpPr txBox="1"/>
          <p:nvPr/>
        </p:nvSpPr>
        <p:spPr>
          <a:xfrm>
            <a:off x="886968" y="3712464"/>
            <a:ext cx="4800600" cy="320040"/>
          </a:xfrm>
          <a:prstGeom prst="rect">
            <a:avLst/>
          </a:prstGeom>
          <a:noFill/>
        </p:spPr>
        <p:txBody>
          <a:bodyPr wrap="square" anchor="t" lIns="0" rIns="0" tIns="0" bIns="0">
            <a:spAutoFit/>
          </a:bodyPr>
          <a:lstStyle/>
          <a:p>
            <a:pPr algn="l">
              <a:spcBef>
                <a:spcPts val="0"/>
              </a:spcBef>
              <a:spcAft>
                <a:spcPts val="200"/>
              </a:spcAft>
            </a:pPr>
            <a:r>
              <a:rPr sz="1050" b="0" i="0">
                <a:solidFill>
                  <a:srgbClr val="2DD4BF"/>
                </a:solidFill>
                <a:latin typeface="Consolas"/>
              </a:rPr>
              <a:t>(B,60,128) → (B,60,256)</a:t>
            </a:r>
          </a:p>
        </p:txBody>
      </p:sp>
      <p:sp>
        <p:nvSpPr>
          <p:cNvPr id="16" name="TextBox 15"/>
          <p:cNvSpPr txBox="1"/>
          <p:nvPr/>
        </p:nvSpPr>
        <p:spPr>
          <a:xfrm>
            <a:off x="886968" y="4023360"/>
            <a:ext cx="4800600" cy="50292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Multi-head self-attention with positional encoding &amp; causal mask — global, multi-scale dependencies without recency bias.</a:t>
            </a:r>
          </a:p>
        </p:txBody>
      </p:sp>
      <p:sp>
        <p:nvSpPr>
          <p:cNvPr id="17" name="Rounded Rectangle 16"/>
          <p:cNvSpPr/>
          <p:nvPr/>
        </p:nvSpPr>
        <p:spPr>
          <a:xfrm>
            <a:off x="6254496" y="3200400"/>
            <a:ext cx="544068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3383280"/>
            <a:ext cx="3977639" cy="320040"/>
          </a:xfrm>
          <a:prstGeom prst="rect">
            <a:avLst/>
          </a:prstGeom>
          <a:noFill/>
        </p:spPr>
        <p:txBody>
          <a:bodyPr wrap="square" anchor="t" lIns="0" rIns="0" tIns="0" bIns="0">
            <a:spAutoFit/>
          </a:bodyPr>
          <a:lstStyle/>
          <a:p>
            <a:pPr algn="l">
              <a:spcBef>
                <a:spcPts val="0"/>
              </a:spcBef>
              <a:spcAft>
                <a:spcPts val="200"/>
              </a:spcAft>
            </a:pPr>
            <a:r>
              <a:rPr sz="1350" b="1" i="0">
                <a:solidFill>
                  <a:srgbClr val="059669"/>
                </a:solidFill>
                <a:latin typeface="Calibri"/>
              </a:rPr>
              <a:t>Bi-LSTM ∥ Bi-GRU</a:t>
            </a:r>
          </a:p>
        </p:txBody>
      </p:sp>
      <p:sp>
        <p:nvSpPr>
          <p:cNvPr id="19" name="TextBox 18"/>
          <p:cNvSpPr txBox="1"/>
          <p:nvPr/>
        </p:nvSpPr>
        <p:spPr>
          <a:xfrm>
            <a:off x="6574536" y="3712464"/>
            <a:ext cx="4800600" cy="320040"/>
          </a:xfrm>
          <a:prstGeom prst="rect">
            <a:avLst/>
          </a:prstGeom>
          <a:noFill/>
        </p:spPr>
        <p:txBody>
          <a:bodyPr wrap="square" anchor="t" lIns="0" rIns="0" tIns="0" bIns="0">
            <a:spAutoFit/>
          </a:bodyPr>
          <a:lstStyle/>
          <a:p>
            <a:pPr algn="l">
              <a:spcBef>
                <a:spcPts val="0"/>
              </a:spcBef>
              <a:spcAft>
                <a:spcPts val="200"/>
              </a:spcAft>
            </a:pPr>
            <a:r>
              <a:rPr sz="1050" b="0" i="0">
                <a:solidFill>
                  <a:srgbClr val="2DD4BF"/>
                </a:solidFill>
                <a:latin typeface="Consolas"/>
              </a:rPr>
              <a:t>(B,60,256) → (B,256)</a:t>
            </a:r>
          </a:p>
        </p:txBody>
      </p:sp>
      <p:sp>
        <p:nvSpPr>
          <p:cNvPr id="20" name="TextBox 19"/>
          <p:cNvSpPr txBox="1"/>
          <p:nvPr/>
        </p:nvSpPr>
        <p:spPr>
          <a:xfrm>
            <a:off x="6574536" y="4023360"/>
            <a:ext cx="4800600" cy="50292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Parallel recurrent branches blended by a learned gate — the temporal backbone; attention-pooled to a context vector.</a:t>
            </a:r>
          </a:p>
        </p:txBody>
      </p:sp>
      <p:sp>
        <p:nvSpPr>
          <p:cNvPr id="21" name="Rounded Rectangle 20"/>
          <p:cNvSpPr/>
          <p:nvPr/>
        </p:nvSpPr>
        <p:spPr>
          <a:xfrm>
            <a:off x="566928" y="4754880"/>
            <a:ext cx="544068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937760"/>
            <a:ext cx="3977639" cy="320040"/>
          </a:xfrm>
          <a:prstGeom prst="rect">
            <a:avLst/>
          </a:prstGeom>
          <a:noFill/>
        </p:spPr>
        <p:txBody>
          <a:bodyPr wrap="square" anchor="t" lIns="0" rIns="0" tIns="0" bIns="0">
            <a:spAutoFit/>
          </a:bodyPr>
          <a:lstStyle/>
          <a:p>
            <a:pPr algn="l">
              <a:spcBef>
                <a:spcPts val="0"/>
              </a:spcBef>
              <a:spcAft>
                <a:spcPts val="200"/>
              </a:spcAft>
            </a:pPr>
            <a:r>
              <a:rPr sz="1350" b="1" i="0">
                <a:solidFill>
                  <a:srgbClr val="B45409"/>
                </a:solidFill>
                <a:latin typeface="Calibri"/>
              </a:rPr>
              <a:t>Regime-Aware Prob. Head</a:t>
            </a:r>
          </a:p>
        </p:txBody>
      </p:sp>
      <p:sp>
        <p:nvSpPr>
          <p:cNvPr id="23" name="TextBox 22"/>
          <p:cNvSpPr txBox="1"/>
          <p:nvPr/>
        </p:nvSpPr>
        <p:spPr>
          <a:xfrm>
            <a:off x="886968" y="5266944"/>
            <a:ext cx="4800600" cy="320040"/>
          </a:xfrm>
          <a:prstGeom prst="rect">
            <a:avLst/>
          </a:prstGeom>
          <a:noFill/>
        </p:spPr>
        <p:txBody>
          <a:bodyPr wrap="square" anchor="t" lIns="0" rIns="0" tIns="0" bIns="0">
            <a:spAutoFit/>
          </a:bodyPr>
          <a:lstStyle/>
          <a:p>
            <a:pPr algn="l">
              <a:spcBef>
                <a:spcPts val="0"/>
              </a:spcBef>
              <a:spcAft>
                <a:spcPts val="200"/>
              </a:spcAft>
            </a:pPr>
            <a:r>
              <a:rPr sz="1050" b="0" i="0">
                <a:solidFill>
                  <a:srgbClr val="2DD4BF"/>
                </a:solidFill>
                <a:latin typeface="Consolas"/>
              </a:rPr>
              <a:t>(B,256) → (μ, σ²)×10</a:t>
            </a:r>
          </a:p>
        </p:txBody>
      </p:sp>
      <p:sp>
        <p:nvSpPr>
          <p:cNvPr id="24" name="TextBox 23"/>
          <p:cNvSpPr txBox="1"/>
          <p:nvPr/>
        </p:nvSpPr>
        <p:spPr>
          <a:xfrm>
            <a:off x="886968" y="5577840"/>
            <a:ext cx="4800600" cy="50292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Vol-regime detector routes context to conditioned heads; Gaussian-NLL outputs give conviction = |μ|/σ.</a:t>
            </a:r>
          </a:p>
        </p:txBody>
      </p:sp>
      <p:sp>
        <p:nvSpPr>
          <p:cNvPr id="25" name="Rounded Rectangle 24"/>
          <p:cNvSpPr/>
          <p:nvPr/>
        </p:nvSpPr>
        <p:spPr>
          <a:xfrm>
            <a:off x="6254496" y="4754880"/>
            <a:ext cx="544068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74536" y="4937760"/>
            <a:ext cx="3977639" cy="320040"/>
          </a:xfrm>
          <a:prstGeom prst="rect">
            <a:avLst/>
          </a:prstGeom>
          <a:noFill/>
        </p:spPr>
        <p:txBody>
          <a:bodyPr wrap="square" anchor="t" lIns="0" rIns="0" tIns="0" bIns="0">
            <a:spAutoFit/>
          </a:bodyPr>
          <a:lstStyle/>
          <a:p>
            <a:pPr algn="l">
              <a:spcBef>
                <a:spcPts val="0"/>
              </a:spcBef>
              <a:spcAft>
                <a:spcPts val="200"/>
              </a:spcAft>
            </a:pPr>
            <a:r>
              <a:rPr sz="1350" b="1" i="0">
                <a:solidFill>
                  <a:srgbClr val="64748B"/>
                </a:solidFill>
                <a:latin typeface="Calibri"/>
              </a:rPr>
              <a:t>Fused XGBoost Expert</a:t>
            </a:r>
          </a:p>
        </p:txBody>
      </p:sp>
      <p:sp>
        <p:nvSpPr>
          <p:cNvPr id="27" name="TextBox 26"/>
          <p:cNvSpPr txBox="1"/>
          <p:nvPr/>
        </p:nvSpPr>
        <p:spPr>
          <a:xfrm>
            <a:off x="6574536" y="5266944"/>
            <a:ext cx="4800600" cy="320040"/>
          </a:xfrm>
          <a:prstGeom prst="rect">
            <a:avLst/>
          </a:prstGeom>
          <a:noFill/>
        </p:spPr>
        <p:txBody>
          <a:bodyPr wrap="square" anchor="t" lIns="0" rIns="0" tIns="0" bIns="0">
            <a:spAutoFit/>
          </a:bodyPr>
          <a:lstStyle/>
          <a:p>
            <a:pPr algn="l">
              <a:spcBef>
                <a:spcPts val="0"/>
              </a:spcBef>
              <a:spcAft>
                <a:spcPts val="200"/>
              </a:spcAft>
            </a:pPr>
            <a:r>
              <a:rPr sz="1050" b="0" i="0">
                <a:solidFill>
                  <a:srgbClr val="2DD4BF"/>
                </a:solidFill>
                <a:latin typeface="Consolas"/>
              </a:rPr>
              <a:t>forecast ⊕ deep</a:t>
            </a:r>
          </a:p>
        </p:txBody>
      </p:sp>
      <p:sp>
        <p:nvSpPr>
          <p:cNvPr id="28" name="TextBox 27"/>
          <p:cNvSpPr txBox="1"/>
          <p:nvPr/>
        </p:nvSpPr>
        <p:spPr>
          <a:xfrm>
            <a:off x="6574536" y="5577840"/>
            <a:ext cx="4800600" cy="50292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Frozen gradient-boosted expert blended via a regime trust gate — tabular strength complements the deep pathway.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End-to-End Layer Integration</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How each layer's output tensor becomes the next layer's input — one continuous forward pass</a:t>
            </a:r>
          </a:p>
        </p:txBody>
      </p:sp>
      <p:sp>
        <p:nvSpPr>
          <p:cNvPr id="5" name="Rounded Rectangle 4"/>
          <p:cNvSpPr/>
          <p:nvPr/>
        </p:nvSpPr>
        <p:spPr>
          <a:xfrm>
            <a:off x="566928" y="1554480"/>
            <a:ext cx="11064240"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54480"/>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554480"/>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0</a:t>
            </a:r>
          </a:p>
        </p:txBody>
      </p:sp>
      <p:sp>
        <p:nvSpPr>
          <p:cNvPr id="8" name="TextBox 7"/>
          <p:cNvSpPr txBox="1"/>
          <p:nvPr/>
        </p:nvSpPr>
        <p:spPr>
          <a:xfrm>
            <a:off x="2212848" y="1554480"/>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Raw streams</a:t>
            </a:r>
          </a:p>
        </p:txBody>
      </p:sp>
      <p:sp>
        <p:nvSpPr>
          <p:cNvPr id="9" name="TextBox 8"/>
          <p:cNvSpPr txBox="1"/>
          <p:nvPr/>
        </p:nvSpPr>
        <p:spPr>
          <a:xfrm>
            <a:off x="4681728" y="1554480"/>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Technical (B,60,12) + Macro (B,60,6) + Sentiment (B,60,12)</a:t>
            </a:r>
          </a:p>
        </p:txBody>
      </p:sp>
      <p:sp>
        <p:nvSpPr>
          <p:cNvPr id="10" name="Rounded Rectangle 9"/>
          <p:cNvSpPr/>
          <p:nvPr/>
        </p:nvSpPr>
        <p:spPr>
          <a:xfrm>
            <a:off x="566928" y="2281428"/>
            <a:ext cx="11064240" cy="603504"/>
          </a:xfrm>
          <a:prstGeom prst="roundRect">
            <a:avLst>
              <a:gd name="adj" fmla="val 8000"/>
            </a:avLst>
          </a:prstGeom>
          <a:solidFill>
            <a:srgbClr val="242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281428"/>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281428"/>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1</a:t>
            </a:r>
          </a:p>
        </p:txBody>
      </p:sp>
      <p:sp>
        <p:nvSpPr>
          <p:cNvPr id="13" name="TextBox 12"/>
          <p:cNvSpPr txBox="1"/>
          <p:nvPr/>
        </p:nvSpPr>
        <p:spPr>
          <a:xfrm>
            <a:off x="2212848" y="2281428"/>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Fusion / split</a:t>
            </a:r>
          </a:p>
        </p:txBody>
      </p:sp>
      <p:sp>
        <p:nvSpPr>
          <p:cNvPr id="14" name="TextBox 13"/>
          <p:cNvSpPr txBox="1"/>
          <p:nvPr/>
        </p:nvSpPr>
        <p:spPr>
          <a:xfrm>
            <a:off x="4681728" y="2281428"/>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Assembled to 30 features; routed to Tower A (18 quant) &amp; Tower B (12 text)</a:t>
            </a:r>
          </a:p>
        </p:txBody>
      </p:sp>
      <p:sp>
        <p:nvSpPr>
          <p:cNvPr id="15" name="Rounded Rectangle 14"/>
          <p:cNvSpPr/>
          <p:nvPr/>
        </p:nvSpPr>
        <p:spPr>
          <a:xfrm>
            <a:off x="566928" y="3008376"/>
            <a:ext cx="11064240"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008376"/>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08376"/>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2</a:t>
            </a:r>
          </a:p>
        </p:txBody>
      </p:sp>
      <p:sp>
        <p:nvSpPr>
          <p:cNvPr id="18" name="TextBox 17"/>
          <p:cNvSpPr txBox="1"/>
          <p:nvPr/>
        </p:nvSpPr>
        <p:spPr>
          <a:xfrm>
            <a:off x="2212848" y="3008376"/>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Encode</a:t>
            </a:r>
          </a:p>
        </p:txBody>
      </p:sp>
      <p:sp>
        <p:nvSpPr>
          <p:cNvPr id="19" name="TextBox 18"/>
          <p:cNvSpPr txBox="1"/>
          <p:nvPr/>
        </p:nvSpPr>
        <p:spPr>
          <a:xfrm>
            <a:off x="4681728" y="3008376"/>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Dilated CNN → (B,60,128)   ∥   Sentiment GRU → (B,60,128)</a:t>
            </a:r>
          </a:p>
        </p:txBody>
      </p:sp>
      <p:sp>
        <p:nvSpPr>
          <p:cNvPr id="20" name="Rounded Rectangle 19"/>
          <p:cNvSpPr/>
          <p:nvPr/>
        </p:nvSpPr>
        <p:spPr>
          <a:xfrm>
            <a:off x="566928" y="3735324"/>
            <a:ext cx="11064240" cy="603504"/>
          </a:xfrm>
          <a:prstGeom prst="roundRect">
            <a:avLst>
              <a:gd name="adj" fmla="val 8000"/>
            </a:avLst>
          </a:prstGeom>
          <a:solidFill>
            <a:srgbClr val="242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735324"/>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735324"/>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3</a:t>
            </a:r>
          </a:p>
        </p:txBody>
      </p:sp>
      <p:sp>
        <p:nvSpPr>
          <p:cNvPr id="23" name="TextBox 22"/>
          <p:cNvSpPr txBox="1"/>
          <p:nvPr/>
        </p:nvSpPr>
        <p:spPr>
          <a:xfrm>
            <a:off x="2212848" y="3735324"/>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Cross-attend</a:t>
            </a:r>
          </a:p>
        </p:txBody>
      </p:sp>
      <p:sp>
        <p:nvSpPr>
          <p:cNvPr id="24" name="TextBox 23"/>
          <p:cNvSpPr txBox="1"/>
          <p:nvPr/>
        </p:nvSpPr>
        <p:spPr>
          <a:xfrm>
            <a:off x="4681728" y="3735324"/>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Presence-gated cross-attention fuses news into price → (B,60,128)</a:t>
            </a:r>
          </a:p>
        </p:txBody>
      </p:sp>
      <p:sp>
        <p:nvSpPr>
          <p:cNvPr id="25" name="Rounded Rectangle 24"/>
          <p:cNvSpPr/>
          <p:nvPr/>
        </p:nvSpPr>
        <p:spPr>
          <a:xfrm>
            <a:off x="566928" y="4462272"/>
            <a:ext cx="11064240"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62272"/>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62272"/>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4</a:t>
            </a:r>
          </a:p>
        </p:txBody>
      </p:sp>
      <p:sp>
        <p:nvSpPr>
          <p:cNvPr id="28" name="TextBox 27"/>
          <p:cNvSpPr txBox="1"/>
          <p:nvPr/>
        </p:nvSpPr>
        <p:spPr>
          <a:xfrm>
            <a:off x="2212848" y="4462272"/>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Global mix</a:t>
            </a:r>
          </a:p>
        </p:txBody>
      </p:sp>
      <p:sp>
        <p:nvSpPr>
          <p:cNvPr id="29" name="TextBox 28"/>
          <p:cNvSpPr txBox="1"/>
          <p:nvPr/>
        </p:nvSpPr>
        <p:spPr>
          <a:xfrm>
            <a:off x="4681728" y="4462272"/>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Project to d-model &amp; Transformer encoder → (B,60,256)</a:t>
            </a:r>
          </a:p>
        </p:txBody>
      </p:sp>
      <p:sp>
        <p:nvSpPr>
          <p:cNvPr id="30" name="Rounded Rectangle 29"/>
          <p:cNvSpPr/>
          <p:nvPr/>
        </p:nvSpPr>
        <p:spPr>
          <a:xfrm>
            <a:off x="566928" y="5189220"/>
            <a:ext cx="11064240" cy="603504"/>
          </a:xfrm>
          <a:prstGeom prst="roundRect">
            <a:avLst>
              <a:gd name="adj" fmla="val 8000"/>
            </a:avLst>
          </a:prstGeom>
          <a:solidFill>
            <a:srgbClr val="242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189220"/>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189220"/>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5</a:t>
            </a:r>
          </a:p>
        </p:txBody>
      </p:sp>
      <p:sp>
        <p:nvSpPr>
          <p:cNvPr id="33" name="TextBox 32"/>
          <p:cNvSpPr txBox="1"/>
          <p:nvPr/>
        </p:nvSpPr>
        <p:spPr>
          <a:xfrm>
            <a:off x="2212848" y="5189220"/>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Temporal + pool</a:t>
            </a:r>
          </a:p>
        </p:txBody>
      </p:sp>
      <p:sp>
        <p:nvSpPr>
          <p:cNvPr id="34" name="TextBox 33"/>
          <p:cNvSpPr txBox="1"/>
          <p:nvPr/>
        </p:nvSpPr>
        <p:spPr>
          <a:xfrm>
            <a:off x="4681728" y="5189220"/>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Bi-LSTM ∥ Bi-GRU gated blend, attention pool → context (B,256)</a:t>
            </a:r>
          </a:p>
        </p:txBody>
      </p:sp>
      <p:sp>
        <p:nvSpPr>
          <p:cNvPr id="35" name="Rounded Rectangle 34"/>
          <p:cNvSpPr/>
          <p:nvPr/>
        </p:nvSpPr>
        <p:spPr>
          <a:xfrm>
            <a:off x="566928" y="5916168"/>
            <a:ext cx="11064240" cy="603504"/>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916168"/>
            <a:ext cx="1417320" cy="603504"/>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5916168"/>
            <a:ext cx="1417320" cy="603504"/>
          </a:xfrm>
          <a:prstGeom prst="rect">
            <a:avLst/>
          </a:prstGeom>
          <a:noFill/>
        </p:spPr>
        <p:txBody>
          <a:bodyPr wrap="square" anchor="ctr" lIns="0" rIns="0" tIns="0" bIns="0">
            <a:spAutoFit/>
          </a:bodyPr>
          <a:lstStyle/>
          <a:p>
            <a:pPr algn="ctr">
              <a:spcBef>
                <a:spcPts val="0"/>
              </a:spcBef>
              <a:spcAft>
                <a:spcPts val="200"/>
              </a:spcAft>
            </a:pPr>
            <a:r>
              <a:rPr sz="1250" b="1" i="0">
                <a:solidFill>
                  <a:srgbClr val="FFFFFF"/>
                </a:solidFill>
                <a:latin typeface="Calibri"/>
              </a:rPr>
              <a:t>Stage 6</a:t>
            </a:r>
          </a:p>
        </p:txBody>
      </p:sp>
      <p:sp>
        <p:nvSpPr>
          <p:cNvPr id="38" name="TextBox 37"/>
          <p:cNvSpPr txBox="1"/>
          <p:nvPr/>
        </p:nvSpPr>
        <p:spPr>
          <a:xfrm>
            <a:off x="2212848" y="5916168"/>
            <a:ext cx="2377440" cy="603504"/>
          </a:xfrm>
          <a:prstGeom prst="rect">
            <a:avLst/>
          </a:prstGeom>
          <a:noFill/>
        </p:spPr>
        <p:txBody>
          <a:bodyPr wrap="square" anchor="ctr" lIns="0" rIns="0" tIns="0" bIns="0">
            <a:spAutoFit/>
          </a:bodyPr>
          <a:lstStyle/>
          <a:p>
            <a:pPr algn="l">
              <a:spcBef>
                <a:spcPts val="0"/>
              </a:spcBef>
              <a:spcAft>
                <a:spcPts val="200"/>
              </a:spcAft>
            </a:pPr>
            <a:r>
              <a:rPr sz="1250" b="1" i="0">
                <a:solidFill>
                  <a:srgbClr val="2DD4BF"/>
                </a:solidFill>
                <a:latin typeface="Calibri"/>
              </a:rPr>
              <a:t>Regime output</a:t>
            </a:r>
          </a:p>
        </p:txBody>
      </p:sp>
      <p:sp>
        <p:nvSpPr>
          <p:cNvPr id="39" name="TextBox 38"/>
          <p:cNvSpPr txBox="1"/>
          <p:nvPr/>
        </p:nvSpPr>
        <p:spPr>
          <a:xfrm>
            <a:off x="4681728" y="5916168"/>
            <a:ext cx="6766559" cy="603504"/>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onsolas"/>
              </a:rPr>
              <a:t>Conditioned probabilistic heads → forecast (B,10) + (μ,σ²) band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System Design Overview</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Five layers, wired as two reproducible pipelines</a:t>
            </a:r>
          </a:p>
        </p:txBody>
      </p:sp>
      <p:sp>
        <p:nvSpPr>
          <p:cNvPr id="5" name="Rounded Rectangle 4"/>
          <p:cNvSpPr/>
          <p:nvPr/>
        </p:nvSpPr>
        <p:spPr>
          <a:xfrm>
            <a:off x="1280160" y="1691640"/>
            <a:ext cx="9601200" cy="7498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54480" y="1938528"/>
            <a:ext cx="256032" cy="256032"/>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0" y="1691640"/>
            <a:ext cx="2926080" cy="749808"/>
          </a:xfrm>
          <a:prstGeom prst="rect">
            <a:avLst/>
          </a:prstGeom>
          <a:noFill/>
        </p:spPr>
        <p:txBody>
          <a:bodyPr wrap="square" anchor="ctr" lIns="0" rIns="0" tIns="0" bIns="0">
            <a:spAutoFit/>
          </a:bodyPr>
          <a:lstStyle/>
          <a:p>
            <a:pPr algn="l">
              <a:spcBef>
                <a:spcPts val="0"/>
              </a:spcBef>
              <a:spcAft>
                <a:spcPts val="200"/>
              </a:spcAft>
            </a:pPr>
            <a:r>
              <a:rPr sz="1300" b="1" i="0">
                <a:solidFill>
                  <a:srgbClr val="2DD4BF"/>
                </a:solidFill>
                <a:latin typeface="Calibri"/>
              </a:rPr>
              <a:t>DATA LAYER</a:t>
            </a:r>
          </a:p>
        </p:txBody>
      </p:sp>
      <p:sp>
        <p:nvSpPr>
          <p:cNvPr id="8" name="TextBox 7"/>
          <p:cNvSpPr txBox="1"/>
          <p:nvPr/>
        </p:nvSpPr>
        <p:spPr>
          <a:xfrm>
            <a:off x="5029200" y="1691640"/>
            <a:ext cx="5669280" cy="749808"/>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alibri"/>
              </a:rPr>
              <a:t>yfinance (GC=F) · GDELT news API · Yahoo rates/DXY · BLS CPI API</a:t>
            </a:r>
          </a:p>
        </p:txBody>
      </p:sp>
      <p:sp>
        <p:nvSpPr>
          <p:cNvPr id="9" name="Down Arrow 8"/>
          <p:cNvSpPr/>
          <p:nvPr/>
        </p:nvSpPr>
        <p:spPr>
          <a:xfrm>
            <a:off x="5980176" y="2450591"/>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280160" y="2642616"/>
            <a:ext cx="9601200" cy="7498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54480" y="2889504"/>
            <a:ext cx="256032" cy="256032"/>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0" y="2642616"/>
            <a:ext cx="2926080" cy="749808"/>
          </a:xfrm>
          <a:prstGeom prst="rect">
            <a:avLst/>
          </a:prstGeom>
          <a:noFill/>
        </p:spPr>
        <p:txBody>
          <a:bodyPr wrap="square" anchor="ctr" lIns="0" rIns="0" tIns="0" bIns="0">
            <a:spAutoFit/>
          </a:bodyPr>
          <a:lstStyle/>
          <a:p>
            <a:pPr algn="l">
              <a:spcBef>
                <a:spcPts val="0"/>
              </a:spcBef>
              <a:spcAft>
                <a:spcPts val="200"/>
              </a:spcAft>
            </a:pPr>
            <a:r>
              <a:rPr sz="1300" b="1" i="0">
                <a:solidFill>
                  <a:srgbClr val="0891B2"/>
                </a:solidFill>
                <a:latin typeface="Calibri"/>
              </a:rPr>
              <a:t>PROCESSING LAYER</a:t>
            </a:r>
          </a:p>
        </p:txBody>
      </p:sp>
      <p:sp>
        <p:nvSpPr>
          <p:cNvPr id="13" name="TextBox 12"/>
          <p:cNvSpPr txBox="1"/>
          <p:nvPr/>
        </p:nvSpPr>
        <p:spPr>
          <a:xfrm>
            <a:off x="5029200" y="2642616"/>
            <a:ext cx="5669280" cy="749808"/>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alibri"/>
              </a:rPr>
              <a:t>Cleaning · technical indicators · stationary macro · FinBERT sentiment scoring · 60-bar windowing</a:t>
            </a:r>
          </a:p>
        </p:txBody>
      </p:sp>
      <p:sp>
        <p:nvSpPr>
          <p:cNvPr id="14" name="Down Arrow 13"/>
          <p:cNvSpPr/>
          <p:nvPr/>
        </p:nvSpPr>
        <p:spPr>
          <a:xfrm>
            <a:off x="5980176" y="3401568"/>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80160" y="3593592"/>
            <a:ext cx="9601200" cy="7498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54480" y="3840480"/>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3593592"/>
            <a:ext cx="2926080" cy="749808"/>
          </a:xfrm>
          <a:prstGeom prst="rect">
            <a:avLst/>
          </a:prstGeom>
          <a:noFill/>
        </p:spPr>
        <p:txBody>
          <a:bodyPr wrap="square" anchor="ctr" lIns="0" rIns="0" tIns="0" bIns="0">
            <a:spAutoFit/>
          </a:bodyPr>
          <a:lstStyle/>
          <a:p>
            <a:pPr algn="l">
              <a:spcBef>
                <a:spcPts val="0"/>
              </a:spcBef>
              <a:spcAft>
                <a:spcPts val="200"/>
              </a:spcAft>
            </a:pPr>
            <a:r>
              <a:rPr sz="1300" b="1" i="0">
                <a:solidFill>
                  <a:srgbClr val="2563EB"/>
                </a:solidFill>
                <a:latin typeface="Calibri"/>
              </a:rPr>
              <a:t>MODELLING LAYER</a:t>
            </a:r>
          </a:p>
        </p:txBody>
      </p:sp>
      <p:sp>
        <p:nvSpPr>
          <p:cNvPr id="18" name="TextBox 17"/>
          <p:cNvSpPr txBox="1"/>
          <p:nvPr/>
        </p:nvSpPr>
        <p:spPr>
          <a:xfrm>
            <a:off x="5029200" y="3593592"/>
            <a:ext cx="5669280" cy="749808"/>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alibri"/>
              </a:rPr>
              <a:t>Hybrid CNN–LSTM–Transformer, dual-tower + cross-attention + regime-aware probabilistic heads + fused XGBoost</a:t>
            </a:r>
          </a:p>
        </p:txBody>
      </p:sp>
      <p:sp>
        <p:nvSpPr>
          <p:cNvPr id="19" name="Down Arrow 18"/>
          <p:cNvSpPr/>
          <p:nvPr/>
        </p:nvSpPr>
        <p:spPr>
          <a:xfrm>
            <a:off x="5980176" y="4352544"/>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280160" y="4544568"/>
            <a:ext cx="9601200" cy="7498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54480" y="4791456"/>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94560" y="4544568"/>
            <a:ext cx="2926080" cy="749808"/>
          </a:xfrm>
          <a:prstGeom prst="rect">
            <a:avLst/>
          </a:prstGeom>
          <a:noFill/>
        </p:spPr>
        <p:txBody>
          <a:bodyPr wrap="square" anchor="ctr" lIns="0" rIns="0" tIns="0" bIns="0">
            <a:spAutoFit/>
          </a:bodyPr>
          <a:lstStyle/>
          <a:p>
            <a:pPr algn="l">
              <a:spcBef>
                <a:spcPts val="0"/>
              </a:spcBef>
              <a:spcAft>
                <a:spcPts val="200"/>
              </a:spcAft>
            </a:pPr>
            <a:r>
              <a:rPr sz="1300" b="1" i="0">
                <a:solidFill>
                  <a:srgbClr val="059669"/>
                </a:solidFill>
                <a:latin typeface="Calibri"/>
              </a:rPr>
              <a:t>EVALUATION LAYER</a:t>
            </a:r>
          </a:p>
        </p:txBody>
      </p:sp>
      <p:sp>
        <p:nvSpPr>
          <p:cNvPr id="23" name="TextBox 22"/>
          <p:cNvSpPr txBox="1"/>
          <p:nvPr/>
        </p:nvSpPr>
        <p:spPr>
          <a:xfrm>
            <a:off x="5029200" y="4544568"/>
            <a:ext cx="5669280" cy="749808"/>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alibri"/>
              </a:rPr>
              <a:t>ARIMA &amp; GARCH baselines · regime-segmented metrics · consensus filter · costed backtest · multi-seed</a:t>
            </a:r>
          </a:p>
        </p:txBody>
      </p:sp>
      <p:sp>
        <p:nvSpPr>
          <p:cNvPr id="24" name="Down Arrow 23"/>
          <p:cNvSpPr/>
          <p:nvPr/>
        </p:nvSpPr>
        <p:spPr>
          <a:xfrm>
            <a:off x="5980176" y="5303520"/>
            <a:ext cx="201168" cy="173736"/>
          </a:xfrm>
          <a:prstGeom prst="down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280160" y="5495544"/>
            <a:ext cx="9601200" cy="7498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54480" y="5742432"/>
            <a:ext cx="256032" cy="256032"/>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94560" y="5495544"/>
            <a:ext cx="2926080" cy="749808"/>
          </a:xfrm>
          <a:prstGeom prst="rect">
            <a:avLst/>
          </a:prstGeom>
          <a:noFill/>
        </p:spPr>
        <p:txBody>
          <a:bodyPr wrap="square" anchor="ctr" lIns="0" rIns="0" tIns="0" bIns="0">
            <a:spAutoFit/>
          </a:bodyPr>
          <a:lstStyle/>
          <a:p>
            <a:pPr algn="l">
              <a:spcBef>
                <a:spcPts val="0"/>
              </a:spcBef>
              <a:spcAft>
                <a:spcPts val="200"/>
              </a:spcAft>
            </a:pPr>
            <a:r>
              <a:rPr sz="1300" b="1" i="0">
                <a:solidFill>
                  <a:srgbClr val="B45409"/>
                </a:solidFill>
                <a:latin typeface="Calibri"/>
              </a:rPr>
              <a:t>OUTPUT LAYER</a:t>
            </a:r>
          </a:p>
        </p:txBody>
      </p:sp>
      <p:sp>
        <p:nvSpPr>
          <p:cNvPr id="28" name="TextBox 27"/>
          <p:cNvSpPr txBox="1"/>
          <p:nvPr/>
        </p:nvSpPr>
        <p:spPr>
          <a:xfrm>
            <a:off x="5029200" y="5495544"/>
            <a:ext cx="5669280" cy="749808"/>
          </a:xfrm>
          <a:prstGeom prst="rect">
            <a:avLst/>
          </a:prstGeom>
          <a:noFill/>
        </p:spPr>
        <p:txBody>
          <a:bodyPr wrap="square" anchor="ctr" lIns="0" rIns="0" tIns="0" bIns="0">
            <a:spAutoFit/>
          </a:bodyPr>
          <a:lstStyle/>
          <a:p>
            <a:pPr algn="l">
              <a:spcBef>
                <a:spcPts val="0"/>
              </a:spcBef>
              <a:spcAft>
                <a:spcPts val="200"/>
              </a:spcAft>
            </a:pPr>
            <a:r>
              <a:rPr sz="1150" b="0" i="0">
                <a:solidFill>
                  <a:srgbClr val="CBD5E1"/>
                </a:solidFill>
                <a:latin typeface="Calibri"/>
              </a:rPr>
              <a:t>10-step forecast + volatility band + conviction; HTML report &amp; CSV artifacts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Tools &amp; Platforms</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An open-source, Python-centric, reproducible deep-learning stack</a:t>
            </a:r>
          </a:p>
        </p:txBody>
      </p:sp>
      <p:sp>
        <p:nvSpPr>
          <p:cNvPr id="5" name="Rounded Rectangle 4"/>
          <p:cNvSpPr/>
          <p:nvPr/>
        </p:nvSpPr>
        <p:spPr>
          <a:xfrm>
            <a:off x="566928" y="1691640"/>
            <a:ext cx="3566160" cy="2011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9536" y="2002536"/>
            <a:ext cx="82296" cy="3657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1965960"/>
            <a:ext cx="2834639" cy="365760"/>
          </a:xfrm>
          <a:prstGeom prst="rect">
            <a:avLst/>
          </a:prstGeom>
          <a:noFill/>
        </p:spPr>
        <p:txBody>
          <a:bodyPr wrap="square" anchor="t" lIns="0" rIns="0" tIns="0" bIns="0">
            <a:spAutoFit/>
          </a:bodyPr>
          <a:lstStyle/>
          <a:p>
            <a:pPr algn="l">
              <a:spcBef>
                <a:spcPts val="0"/>
              </a:spcBef>
              <a:spcAft>
                <a:spcPts val="200"/>
              </a:spcAft>
            </a:pPr>
            <a:r>
              <a:rPr sz="1350" b="1" i="0">
                <a:solidFill>
                  <a:srgbClr val="2DD4BF"/>
                </a:solidFill>
                <a:latin typeface="Calibri"/>
              </a:rPr>
              <a:t>Core &amp; Deep Learning</a:t>
            </a:r>
          </a:p>
        </p:txBody>
      </p:sp>
      <p:sp>
        <p:nvSpPr>
          <p:cNvPr id="8" name="TextBox 7"/>
          <p:cNvSpPr txBox="1"/>
          <p:nvPr/>
        </p:nvSpPr>
        <p:spPr>
          <a:xfrm>
            <a:off x="886968" y="2514600"/>
            <a:ext cx="3017520" cy="1097280"/>
          </a:xfrm>
          <a:prstGeom prst="rect">
            <a:avLst/>
          </a:prstGeom>
          <a:noFill/>
        </p:spPr>
        <p:txBody>
          <a:bodyPr wrap="square" anchor="t" lIns="0" rIns="0" tIns="0" bIns="0">
            <a:spAutoFit/>
          </a:bodyPr>
          <a:lstStyle/>
          <a:p>
            <a:pPr algn="l">
              <a:spcBef>
                <a:spcPts val="0"/>
              </a:spcBef>
              <a:spcAft>
                <a:spcPts val="600"/>
              </a:spcAft>
            </a:pPr>
            <a:r>
              <a:rPr sz="1200" b="0" i="0">
                <a:solidFill>
                  <a:srgbClr val="CBD5E1"/>
                </a:solidFill>
                <a:latin typeface="Calibri"/>
              </a:rPr>
              <a:t>• Python 3.13</a:t>
            </a:r>
          </a:p>
          <a:p>
            <a:pPr algn="l">
              <a:spcBef>
                <a:spcPts val="0"/>
              </a:spcBef>
              <a:spcAft>
                <a:spcPts val="600"/>
              </a:spcAft>
            </a:pPr>
            <a:r>
              <a:rPr sz="1200" b="0" i="0">
                <a:solidFill>
                  <a:srgbClr val="CBD5E1"/>
                </a:solidFill>
                <a:latin typeface="Calibri"/>
              </a:rPr>
              <a:t>• PyTorch</a:t>
            </a:r>
          </a:p>
          <a:p>
            <a:pPr algn="l">
              <a:spcBef>
                <a:spcPts val="0"/>
              </a:spcBef>
              <a:spcAft>
                <a:spcPts val="600"/>
              </a:spcAft>
            </a:pPr>
            <a:r>
              <a:rPr sz="1200" b="0" i="0">
                <a:solidFill>
                  <a:srgbClr val="CBD5E1"/>
                </a:solidFill>
                <a:latin typeface="Calibri"/>
              </a:rPr>
              <a:t>• NumPy</a:t>
            </a:r>
          </a:p>
          <a:p>
            <a:pPr algn="l">
              <a:spcBef>
                <a:spcPts val="0"/>
              </a:spcBef>
              <a:spcAft>
                <a:spcPts val="600"/>
              </a:spcAft>
            </a:pPr>
            <a:r>
              <a:rPr sz="1200" b="0" i="0">
                <a:solidFill>
                  <a:srgbClr val="CBD5E1"/>
                </a:solidFill>
                <a:latin typeface="Calibri"/>
              </a:rPr>
              <a:t>• pandas</a:t>
            </a:r>
          </a:p>
          <a:p>
            <a:pPr algn="l">
              <a:spcBef>
                <a:spcPts val="0"/>
              </a:spcBef>
              <a:spcAft>
                <a:spcPts val="600"/>
              </a:spcAft>
            </a:pPr>
            <a:r>
              <a:rPr sz="1200" b="0" i="0">
                <a:solidFill>
                  <a:srgbClr val="CBD5E1"/>
                </a:solidFill>
                <a:latin typeface="Calibri"/>
              </a:rPr>
              <a:t>• scikit-learn</a:t>
            </a:r>
          </a:p>
        </p:txBody>
      </p:sp>
      <p:sp>
        <p:nvSpPr>
          <p:cNvPr id="9" name="Rounded Rectangle 8"/>
          <p:cNvSpPr/>
          <p:nvPr/>
        </p:nvSpPr>
        <p:spPr>
          <a:xfrm>
            <a:off x="4379976" y="1691640"/>
            <a:ext cx="3566160" cy="2011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72584" y="2002536"/>
            <a:ext cx="82296" cy="36576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82896" y="1965960"/>
            <a:ext cx="2834639" cy="365760"/>
          </a:xfrm>
          <a:prstGeom prst="rect">
            <a:avLst/>
          </a:prstGeom>
          <a:noFill/>
        </p:spPr>
        <p:txBody>
          <a:bodyPr wrap="square" anchor="t" lIns="0" rIns="0" tIns="0" bIns="0">
            <a:spAutoFit/>
          </a:bodyPr>
          <a:lstStyle/>
          <a:p>
            <a:pPr algn="l">
              <a:spcBef>
                <a:spcPts val="0"/>
              </a:spcBef>
              <a:spcAft>
                <a:spcPts val="200"/>
              </a:spcAft>
            </a:pPr>
            <a:r>
              <a:rPr sz="1350" b="1" i="0">
                <a:solidFill>
                  <a:srgbClr val="0891B2"/>
                </a:solidFill>
                <a:latin typeface="Calibri"/>
              </a:rPr>
              <a:t>NLP &amp; Sentiment</a:t>
            </a:r>
          </a:p>
        </p:txBody>
      </p:sp>
      <p:sp>
        <p:nvSpPr>
          <p:cNvPr id="12" name="TextBox 11"/>
          <p:cNvSpPr txBox="1"/>
          <p:nvPr/>
        </p:nvSpPr>
        <p:spPr>
          <a:xfrm>
            <a:off x="4700016" y="2514600"/>
            <a:ext cx="3017520" cy="1097280"/>
          </a:xfrm>
          <a:prstGeom prst="rect">
            <a:avLst/>
          </a:prstGeom>
          <a:noFill/>
        </p:spPr>
        <p:txBody>
          <a:bodyPr wrap="square" anchor="t" lIns="0" rIns="0" tIns="0" bIns="0">
            <a:spAutoFit/>
          </a:bodyPr>
          <a:lstStyle/>
          <a:p>
            <a:pPr algn="l">
              <a:spcBef>
                <a:spcPts val="0"/>
              </a:spcBef>
              <a:spcAft>
                <a:spcPts val="600"/>
              </a:spcAft>
            </a:pPr>
            <a:r>
              <a:rPr sz="1200" b="0" i="0">
                <a:solidFill>
                  <a:srgbClr val="CBD5E1"/>
                </a:solidFill>
                <a:latin typeface="Calibri"/>
              </a:rPr>
              <a:t>• Hugging Face Transformers</a:t>
            </a:r>
          </a:p>
          <a:p>
            <a:pPr algn="l">
              <a:spcBef>
                <a:spcPts val="0"/>
              </a:spcBef>
              <a:spcAft>
                <a:spcPts val="600"/>
              </a:spcAft>
            </a:pPr>
            <a:r>
              <a:rPr sz="1200" b="0" i="0">
                <a:solidFill>
                  <a:srgbClr val="CBD5E1"/>
                </a:solidFill>
                <a:latin typeface="Calibri"/>
              </a:rPr>
              <a:t>• FinBERT (ProsusAI)</a:t>
            </a:r>
          </a:p>
          <a:p>
            <a:pPr algn="l">
              <a:spcBef>
                <a:spcPts val="0"/>
              </a:spcBef>
              <a:spcAft>
                <a:spcPts val="600"/>
              </a:spcAft>
            </a:pPr>
            <a:r>
              <a:rPr sz="1200" b="0" i="0">
                <a:solidFill>
                  <a:srgbClr val="CBD5E1"/>
                </a:solidFill>
                <a:latin typeface="Calibri"/>
              </a:rPr>
              <a:t>• tokenizers</a:t>
            </a:r>
          </a:p>
        </p:txBody>
      </p:sp>
      <p:sp>
        <p:nvSpPr>
          <p:cNvPr id="13" name="Rounded Rectangle 12"/>
          <p:cNvSpPr/>
          <p:nvPr/>
        </p:nvSpPr>
        <p:spPr>
          <a:xfrm>
            <a:off x="8193023" y="1691640"/>
            <a:ext cx="3566160" cy="2011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85632" y="2002536"/>
            <a:ext cx="82296" cy="365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5944" y="1965960"/>
            <a:ext cx="2834639" cy="365760"/>
          </a:xfrm>
          <a:prstGeom prst="rect">
            <a:avLst/>
          </a:prstGeom>
          <a:noFill/>
        </p:spPr>
        <p:txBody>
          <a:bodyPr wrap="square" anchor="t" lIns="0" rIns="0" tIns="0" bIns="0">
            <a:spAutoFit/>
          </a:bodyPr>
          <a:lstStyle/>
          <a:p>
            <a:pPr algn="l">
              <a:spcBef>
                <a:spcPts val="0"/>
              </a:spcBef>
              <a:spcAft>
                <a:spcPts val="200"/>
              </a:spcAft>
            </a:pPr>
            <a:r>
              <a:rPr sz="1350" b="1" i="0">
                <a:solidFill>
                  <a:srgbClr val="2563EB"/>
                </a:solidFill>
                <a:latin typeface="Calibri"/>
              </a:rPr>
              <a:t>Econometric Baselines</a:t>
            </a:r>
          </a:p>
        </p:txBody>
      </p:sp>
      <p:sp>
        <p:nvSpPr>
          <p:cNvPr id="16" name="TextBox 15"/>
          <p:cNvSpPr txBox="1"/>
          <p:nvPr/>
        </p:nvSpPr>
        <p:spPr>
          <a:xfrm>
            <a:off x="8513063" y="2514600"/>
            <a:ext cx="3017520" cy="1097280"/>
          </a:xfrm>
          <a:prstGeom prst="rect">
            <a:avLst/>
          </a:prstGeom>
          <a:noFill/>
        </p:spPr>
        <p:txBody>
          <a:bodyPr wrap="square" anchor="t" lIns="0" rIns="0" tIns="0" bIns="0">
            <a:spAutoFit/>
          </a:bodyPr>
          <a:lstStyle/>
          <a:p>
            <a:pPr algn="l">
              <a:spcBef>
                <a:spcPts val="0"/>
              </a:spcBef>
              <a:spcAft>
                <a:spcPts val="600"/>
              </a:spcAft>
            </a:pPr>
            <a:r>
              <a:rPr sz="1200" b="0" i="0">
                <a:solidFill>
                  <a:srgbClr val="CBD5E1"/>
                </a:solidFill>
                <a:latin typeface="Calibri"/>
              </a:rPr>
              <a:t>• arch (GARCH)</a:t>
            </a:r>
          </a:p>
          <a:p>
            <a:pPr algn="l">
              <a:spcBef>
                <a:spcPts val="0"/>
              </a:spcBef>
              <a:spcAft>
                <a:spcPts val="600"/>
              </a:spcAft>
            </a:pPr>
            <a:r>
              <a:rPr sz="1200" b="0" i="0">
                <a:solidFill>
                  <a:srgbClr val="CBD5E1"/>
                </a:solidFill>
                <a:latin typeface="Calibri"/>
              </a:rPr>
              <a:t>• statsmodels (ARIMA)</a:t>
            </a:r>
          </a:p>
          <a:p>
            <a:pPr algn="l">
              <a:spcBef>
                <a:spcPts val="0"/>
              </a:spcBef>
              <a:spcAft>
                <a:spcPts val="600"/>
              </a:spcAft>
            </a:pPr>
            <a:r>
              <a:rPr sz="1200" b="0" i="0">
                <a:solidFill>
                  <a:srgbClr val="CBD5E1"/>
                </a:solidFill>
                <a:latin typeface="Calibri"/>
              </a:rPr>
              <a:t>• XGBoost expert</a:t>
            </a:r>
          </a:p>
        </p:txBody>
      </p:sp>
      <p:sp>
        <p:nvSpPr>
          <p:cNvPr id="17" name="Rounded Rectangle 16"/>
          <p:cNvSpPr/>
          <p:nvPr/>
        </p:nvSpPr>
        <p:spPr>
          <a:xfrm>
            <a:off x="566928" y="3977639"/>
            <a:ext cx="3566160" cy="2011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9536" y="4288536"/>
            <a:ext cx="82296" cy="36576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4251959"/>
            <a:ext cx="2834639" cy="365760"/>
          </a:xfrm>
          <a:prstGeom prst="rect">
            <a:avLst/>
          </a:prstGeom>
          <a:noFill/>
        </p:spPr>
        <p:txBody>
          <a:bodyPr wrap="square" anchor="t" lIns="0" rIns="0" tIns="0" bIns="0">
            <a:spAutoFit/>
          </a:bodyPr>
          <a:lstStyle/>
          <a:p>
            <a:pPr algn="l">
              <a:spcBef>
                <a:spcPts val="0"/>
              </a:spcBef>
              <a:spcAft>
                <a:spcPts val="200"/>
              </a:spcAft>
            </a:pPr>
            <a:r>
              <a:rPr sz="1350" b="1" i="0">
                <a:solidFill>
                  <a:srgbClr val="059669"/>
                </a:solidFill>
                <a:latin typeface="Calibri"/>
              </a:rPr>
              <a:t>Data Feeds</a:t>
            </a:r>
          </a:p>
        </p:txBody>
      </p:sp>
      <p:sp>
        <p:nvSpPr>
          <p:cNvPr id="20" name="TextBox 19"/>
          <p:cNvSpPr txBox="1"/>
          <p:nvPr/>
        </p:nvSpPr>
        <p:spPr>
          <a:xfrm>
            <a:off x="886968" y="4800600"/>
            <a:ext cx="3017520" cy="1097280"/>
          </a:xfrm>
          <a:prstGeom prst="rect">
            <a:avLst/>
          </a:prstGeom>
          <a:noFill/>
        </p:spPr>
        <p:txBody>
          <a:bodyPr wrap="square" anchor="t" lIns="0" rIns="0" tIns="0" bIns="0">
            <a:spAutoFit/>
          </a:bodyPr>
          <a:lstStyle/>
          <a:p>
            <a:pPr algn="l">
              <a:spcBef>
                <a:spcPts val="0"/>
              </a:spcBef>
              <a:spcAft>
                <a:spcPts val="600"/>
              </a:spcAft>
            </a:pPr>
            <a:r>
              <a:rPr sz="1200" b="0" i="0">
                <a:solidFill>
                  <a:srgbClr val="CBD5E1"/>
                </a:solidFill>
                <a:latin typeface="Calibri"/>
              </a:rPr>
              <a:t>• yfinance</a:t>
            </a:r>
          </a:p>
          <a:p>
            <a:pPr algn="l">
              <a:spcBef>
                <a:spcPts val="0"/>
              </a:spcBef>
              <a:spcAft>
                <a:spcPts val="600"/>
              </a:spcAft>
            </a:pPr>
            <a:r>
              <a:rPr sz="1200" b="0" i="0">
                <a:solidFill>
                  <a:srgbClr val="CBD5E1"/>
                </a:solidFill>
                <a:latin typeface="Calibri"/>
              </a:rPr>
              <a:t>• GDELT DOC 2.0 API</a:t>
            </a:r>
          </a:p>
          <a:p>
            <a:pPr algn="l">
              <a:spcBef>
                <a:spcPts val="0"/>
              </a:spcBef>
              <a:spcAft>
                <a:spcPts val="600"/>
              </a:spcAft>
            </a:pPr>
            <a:r>
              <a:rPr sz="1200" b="0" i="0">
                <a:solidFill>
                  <a:srgbClr val="CBD5E1"/>
                </a:solidFill>
                <a:latin typeface="Calibri"/>
              </a:rPr>
              <a:t>• BLS public API</a:t>
            </a:r>
          </a:p>
        </p:txBody>
      </p:sp>
      <p:sp>
        <p:nvSpPr>
          <p:cNvPr id="21" name="Rounded Rectangle 20"/>
          <p:cNvSpPr/>
          <p:nvPr/>
        </p:nvSpPr>
        <p:spPr>
          <a:xfrm>
            <a:off x="4379976" y="3977639"/>
            <a:ext cx="3566160" cy="2011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72584" y="4288536"/>
            <a:ext cx="82296" cy="365760"/>
          </a:xfrm>
          <a:prstGeom prst="rect">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2896" y="4251959"/>
            <a:ext cx="2834639" cy="365760"/>
          </a:xfrm>
          <a:prstGeom prst="rect">
            <a:avLst/>
          </a:prstGeom>
          <a:noFill/>
        </p:spPr>
        <p:txBody>
          <a:bodyPr wrap="square" anchor="t" lIns="0" rIns="0" tIns="0" bIns="0">
            <a:spAutoFit/>
          </a:bodyPr>
          <a:lstStyle/>
          <a:p>
            <a:pPr algn="l">
              <a:spcBef>
                <a:spcPts val="0"/>
              </a:spcBef>
              <a:spcAft>
                <a:spcPts val="200"/>
              </a:spcAft>
            </a:pPr>
            <a:r>
              <a:rPr sz="1350" b="1" i="0">
                <a:solidFill>
                  <a:srgbClr val="B45409"/>
                </a:solidFill>
                <a:latin typeface="Calibri"/>
              </a:rPr>
              <a:t>Tooling &amp; Runtime</a:t>
            </a:r>
          </a:p>
        </p:txBody>
      </p:sp>
      <p:sp>
        <p:nvSpPr>
          <p:cNvPr id="24" name="TextBox 23"/>
          <p:cNvSpPr txBox="1"/>
          <p:nvPr/>
        </p:nvSpPr>
        <p:spPr>
          <a:xfrm>
            <a:off x="4700016" y="4800600"/>
            <a:ext cx="3017520" cy="1097280"/>
          </a:xfrm>
          <a:prstGeom prst="rect">
            <a:avLst/>
          </a:prstGeom>
          <a:noFill/>
        </p:spPr>
        <p:txBody>
          <a:bodyPr wrap="square" anchor="t" lIns="0" rIns="0" tIns="0" bIns="0">
            <a:spAutoFit/>
          </a:bodyPr>
          <a:lstStyle/>
          <a:p>
            <a:pPr algn="l">
              <a:spcBef>
                <a:spcPts val="0"/>
              </a:spcBef>
              <a:spcAft>
                <a:spcPts val="600"/>
              </a:spcAft>
            </a:pPr>
            <a:r>
              <a:rPr sz="1200" b="0" i="0">
                <a:solidFill>
                  <a:srgbClr val="CBD5E1"/>
                </a:solidFill>
                <a:latin typeface="Calibri"/>
              </a:rPr>
              <a:t>• matplotlib</a:t>
            </a:r>
          </a:p>
          <a:p>
            <a:pPr algn="l">
              <a:spcBef>
                <a:spcPts val="0"/>
              </a:spcBef>
              <a:spcAft>
                <a:spcPts val="600"/>
              </a:spcAft>
            </a:pPr>
            <a:r>
              <a:rPr sz="1200" b="0" i="0">
                <a:solidFill>
                  <a:srgbClr val="CBD5E1"/>
                </a:solidFill>
                <a:latin typeface="Calibri"/>
              </a:rPr>
              <a:t>• macOS / conda</a:t>
            </a:r>
          </a:p>
          <a:p>
            <a:pPr algn="l">
              <a:spcBef>
                <a:spcPts val="0"/>
              </a:spcBef>
              <a:spcAft>
                <a:spcPts val="600"/>
              </a:spcAft>
            </a:pPr>
            <a:r>
              <a:rPr sz="1200" b="0" i="0">
                <a:solidFill>
                  <a:srgbClr val="CBD5E1"/>
                </a:solidFill>
                <a:latin typeface="Calibri"/>
              </a:rPr>
              <a:t>• Git version control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Results, Discussion &amp; Benchmarks</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Daily XAU/USD, 962 test windows, 3 seeds — honest walk-forward comparison</a:t>
            </a:r>
          </a:p>
        </p:txBody>
      </p:sp>
      <p:sp>
        <p:nvSpPr>
          <p:cNvPr id="5" name="Rectangle 4"/>
          <p:cNvSpPr/>
          <p:nvPr/>
        </p:nvSpPr>
        <p:spPr>
          <a:xfrm>
            <a:off x="566928" y="1645920"/>
            <a:ext cx="6766560" cy="566928"/>
          </a:xfrm>
          <a:prstGeom prst="rect">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645920"/>
            <a:ext cx="2560320" cy="566928"/>
          </a:xfrm>
          <a:prstGeom prst="rect">
            <a:avLst/>
          </a:prstGeom>
          <a:noFill/>
        </p:spPr>
        <p:txBody>
          <a:bodyPr wrap="square" anchor="ctr" lIns="0" rIns="0" tIns="0" bIns="0">
            <a:spAutoFit/>
          </a:bodyPr>
          <a:lstStyle/>
          <a:p>
            <a:pPr algn="l">
              <a:spcBef>
                <a:spcPts val="0"/>
              </a:spcBef>
              <a:spcAft>
                <a:spcPts val="200"/>
              </a:spcAft>
            </a:pPr>
            <a:r>
              <a:rPr sz="1150" b="1" i="0">
                <a:solidFill>
                  <a:srgbClr val="FFFFFF"/>
                </a:solidFill>
                <a:latin typeface="Calibri"/>
              </a:rPr>
              <a:t>Model</a:t>
            </a:r>
          </a:p>
        </p:txBody>
      </p:sp>
      <p:sp>
        <p:nvSpPr>
          <p:cNvPr id="7" name="TextBox 6"/>
          <p:cNvSpPr txBox="1"/>
          <p:nvPr/>
        </p:nvSpPr>
        <p:spPr>
          <a:xfrm>
            <a:off x="3447288" y="1645920"/>
            <a:ext cx="822960" cy="566928"/>
          </a:xfrm>
          <a:prstGeom prst="rect">
            <a:avLst/>
          </a:prstGeom>
          <a:noFill/>
        </p:spPr>
        <p:txBody>
          <a:bodyPr wrap="square" anchor="ctr" lIns="0" rIns="0" tIns="0" bIns="0">
            <a:spAutoFit/>
          </a:bodyPr>
          <a:lstStyle/>
          <a:p>
            <a:pPr algn="ctr">
              <a:spcBef>
                <a:spcPts val="0"/>
              </a:spcBef>
              <a:spcAft>
                <a:spcPts val="200"/>
              </a:spcAft>
            </a:pPr>
            <a:r>
              <a:rPr sz="1150" b="1" i="0">
                <a:solidFill>
                  <a:srgbClr val="FFFFFF"/>
                </a:solidFill>
                <a:latin typeface="Calibri"/>
              </a:rPr>
              <a:t>MAE ↓</a:t>
            </a:r>
          </a:p>
        </p:txBody>
      </p:sp>
      <p:sp>
        <p:nvSpPr>
          <p:cNvPr id="8" name="TextBox 7"/>
          <p:cNvSpPr txBox="1"/>
          <p:nvPr/>
        </p:nvSpPr>
        <p:spPr>
          <a:xfrm>
            <a:off x="4453128" y="1645920"/>
            <a:ext cx="1554480" cy="566928"/>
          </a:xfrm>
          <a:prstGeom prst="rect">
            <a:avLst/>
          </a:prstGeom>
          <a:noFill/>
        </p:spPr>
        <p:txBody>
          <a:bodyPr wrap="square" anchor="ctr" lIns="0" rIns="0" tIns="0" bIns="0">
            <a:spAutoFit/>
          </a:bodyPr>
          <a:lstStyle/>
          <a:p>
            <a:pPr algn="ctr">
              <a:spcBef>
                <a:spcPts val="0"/>
              </a:spcBef>
              <a:spcAft>
                <a:spcPts val="200"/>
              </a:spcAft>
            </a:pPr>
            <a:r>
              <a:rPr sz="1150" b="1" i="0">
                <a:solidFill>
                  <a:srgbClr val="FFFFFF"/>
                </a:solidFill>
                <a:latin typeface="Calibri"/>
              </a:rPr>
              <a:t>Directional Acc. ↑</a:t>
            </a:r>
          </a:p>
        </p:txBody>
      </p:sp>
      <p:sp>
        <p:nvSpPr>
          <p:cNvPr id="9" name="TextBox 8"/>
          <p:cNvSpPr txBox="1"/>
          <p:nvPr/>
        </p:nvSpPr>
        <p:spPr>
          <a:xfrm>
            <a:off x="6190488" y="1645920"/>
            <a:ext cx="1645920" cy="566928"/>
          </a:xfrm>
          <a:prstGeom prst="rect">
            <a:avLst/>
          </a:prstGeom>
          <a:noFill/>
        </p:spPr>
        <p:txBody>
          <a:bodyPr wrap="square" anchor="ctr" lIns="0" rIns="0" tIns="0" bIns="0">
            <a:spAutoFit/>
          </a:bodyPr>
          <a:lstStyle/>
          <a:p>
            <a:pPr algn="l">
              <a:spcBef>
                <a:spcPts val="0"/>
              </a:spcBef>
              <a:spcAft>
                <a:spcPts val="200"/>
              </a:spcAft>
            </a:pPr>
            <a:r>
              <a:rPr sz="1150" b="1" i="0">
                <a:solidFill>
                  <a:srgbClr val="FFFFFF"/>
                </a:solidFill>
                <a:latin typeface="Calibri"/>
              </a:rPr>
              <a:t>Role</a:t>
            </a:r>
          </a:p>
        </p:txBody>
      </p:sp>
      <p:sp>
        <p:nvSpPr>
          <p:cNvPr id="10" name="Rectangle 9"/>
          <p:cNvSpPr/>
          <p:nvPr/>
        </p:nvSpPr>
        <p:spPr>
          <a:xfrm>
            <a:off x="566928" y="2212848"/>
            <a:ext cx="6766560" cy="56692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212848"/>
            <a:ext cx="2560320" cy="566928"/>
          </a:xfrm>
          <a:prstGeom prst="rect">
            <a:avLst/>
          </a:prstGeom>
          <a:noFill/>
        </p:spPr>
        <p:txBody>
          <a:bodyPr wrap="square" anchor="ctr" lIns="0" rIns="0" tIns="0" bIns="0">
            <a:spAutoFit/>
          </a:bodyPr>
          <a:lstStyle/>
          <a:p>
            <a:pPr algn="l">
              <a:spcBef>
                <a:spcPts val="0"/>
              </a:spcBef>
              <a:spcAft>
                <a:spcPts val="200"/>
              </a:spcAft>
            </a:pPr>
            <a:r>
              <a:rPr sz="1150" b="1" i="0">
                <a:solidFill>
                  <a:srgbClr val="1F3759"/>
                </a:solidFill>
                <a:latin typeface="Calibri"/>
              </a:rPr>
              <a:t>GARCH  (AR1-GARCH1,1)</a:t>
            </a:r>
          </a:p>
        </p:txBody>
      </p:sp>
      <p:sp>
        <p:nvSpPr>
          <p:cNvPr id="12" name="TextBox 11"/>
          <p:cNvSpPr txBox="1"/>
          <p:nvPr/>
        </p:nvSpPr>
        <p:spPr>
          <a:xfrm>
            <a:off x="3447288" y="2212848"/>
            <a:ext cx="822960" cy="566928"/>
          </a:xfrm>
          <a:prstGeom prst="rect">
            <a:avLst/>
          </a:prstGeom>
          <a:noFill/>
        </p:spPr>
        <p:txBody>
          <a:bodyPr wrap="square" anchor="ctr" lIns="0" rIns="0" tIns="0" bIns="0">
            <a:spAutoFit/>
          </a:bodyPr>
          <a:lstStyle/>
          <a:p>
            <a:pPr algn="ctr">
              <a:spcBef>
                <a:spcPts val="0"/>
              </a:spcBef>
              <a:spcAft>
                <a:spcPts val="200"/>
              </a:spcAft>
            </a:pPr>
            <a:r>
              <a:rPr sz="1150" b="0" i="0">
                <a:solidFill>
                  <a:srgbClr val="334155"/>
                </a:solidFill>
                <a:latin typeface="Calibri"/>
              </a:rPr>
              <a:t>0.0196</a:t>
            </a:r>
          </a:p>
        </p:txBody>
      </p:sp>
      <p:sp>
        <p:nvSpPr>
          <p:cNvPr id="13" name="TextBox 12"/>
          <p:cNvSpPr txBox="1"/>
          <p:nvPr/>
        </p:nvSpPr>
        <p:spPr>
          <a:xfrm>
            <a:off x="4453128" y="2212848"/>
            <a:ext cx="1554480" cy="566928"/>
          </a:xfrm>
          <a:prstGeom prst="rect">
            <a:avLst/>
          </a:prstGeom>
          <a:noFill/>
        </p:spPr>
        <p:txBody>
          <a:bodyPr wrap="square" anchor="ctr" lIns="0" rIns="0" tIns="0" bIns="0">
            <a:spAutoFit/>
          </a:bodyPr>
          <a:lstStyle/>
          <a:p>
            <a:pPr algn="ctr">
              <a:spcBef>
                <a:spcPts val="0"/>
              </a:spcBef>
              <a:spcAft>
                <a:spcPts val="200"/>
              </a:spcAft>
            </a:pPr>
            <a:r>
              <a:rPr sz="1150" b="0" i="0">
                <a:solidFill>
                  <a:srgbClr val="334155"/>
                </a:solidFill>
                <a:latin typeface="Calibri"/>
              </a:rPr>
              <a:t>0.576</a:t>
            </a:r>
          </a:p>
        </p:txBody>
      </p:sp>
      <p:sp>
        <p:nvSpPr>
          <p:cNvPr id="14" name="TextBox 13"/>
          <p:cNvSpPr txBox="1"/>
          <p:nvPr/>
        </p:nvSpPr>
        <p:spPr>
          <a:xfrm>
            <a:off x="6190488" y="2212848"/>
            <a:ext cx="1645920" cy="566928"/>
          </a:xfrm>
          <a:prstGeom prst="rect">
            <a:avLst/>
          </a:prstGeom>
          <a:noFill/>
        </p:spPr>
        <p:txBody>
          <a:bodyPr wrap="square" anchor="ctr" lIns="0" rIns="0" tIns="0" bIns="0">
            <a:spAutoFit/>
          </a:bodyPr>
          <a:lstStyle/>
          <a:p>
            <a:pPr algn="l">
              <a:spcBef>
                <a:spcPts val="0"/>
              </a:spcBef>
              <a:spcAft>
                <a:spcPts val="200"/>
              </a:spcAft>
            </a:pPr>
            <a:r>
              <a:rPr sz="1150" b="0" i="0">
                <a:solidFill>
                  <a:srgbClr val="334155"/>
                </a:solidFill>
                <a:latin typeface="Calibri"/>
              </a:rPr>
              <a:t>Econometric baseline</a:t>
            </a:r>
          </a:p>
        </p:txBody>
      </p:sp>
      <p:sp>
        <p:nvSpPr>
          <p:cNvPr id="15" name="Rectangle 14"/>
          <p:cNvSpPr/>
          <p:nvPr/>
        </p:nvSpPr>
        <p:spPr>
          <a:xfrm>
            <a:off x="566928" y="2779776"/>
            <a:ext cx="6766560" cy="566928"/>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2779776"/>
            <a:ext cx="2560320" cy="566928"/>
          </a:xfrm>
          <a:prstGeom prst="rect">
            <a:avLst/>
          </a:prstGeom>
          <a:noFill/>
        </p:spPr>
        <p:txBody>
          <a:bodyPr wrap="square" anchor="ctr" lIns="0" rIns="0" tIns="0" bIns="0">
            <a:spAutoFit/>
          </a:bodyPr>
          <a:lstStyle/>
          <a:p>
            <a:pPr algn="l">
              <a:spcBef>
                <a:spcPts val="0"/>
              </a:spcBef>
              <a:spcAft>
                <a:spcPts val="200"/>
              </a:spcAft>
            </a:pPr>
            <a:r>
              <a:rPr sz="1150" b="1" i="0">
                <a:solidFill>
                  <a:srgbClr val="1F3759"/>
                </a:solidFill>
                <a:latin typeface="Calibri"/>
              </a:rPr>
              <a:t>ARIMA  (walk-forward)</a:t>
            </a:r>
          </a:p>
        </p:txBody>
      </p:sp>
      <p:sp>
        <p:nvSpPr>
          <p:cNvPr id="17" name="TextBox 16"/>
          <p:cNvSpPr txBox="1"/>
          <p:nvPr/>
        </p:nvSpPr>
        <p:spPr>
          <a:xfrm>
            <a:off x="3447288" y="2779776"/>
            <a:ext cx="822960" cy="566928"/>
          </a:xfrm>
          <a:prstGeom prst="rect">
            <a:avLst/>
          </a:prstGeom>
          <a:noFill/>
        </p:spPr>
        <p:txBody>
          <a:bodyPr wrap="square" anchor="ctr" lIns="0" rIns="0" tIns="0" bIns="0">
            <a:spAutoFit/>
          </a:bodyPr>
          <a:lstStyle/>
          <a:p>
            <a:pPr algn="ctr">
              <a:spcBef>
                <a:spcPts val="0"/>
              </a:spcBef>
              <a:spcAft>
                <a:spcPts val="200"/>
              </a:spcAft>
            </a:pPr>
            <a:r>
              <a:rPr sz="1150" b="0" i="0">
                <a:solidFill>
                  <a:srgbClr val="334155"/>
                </a:solidFill>
                <a:latin typeface="Calibri"/>
              </a:rPr>
              <a:t>0.0199</a:t>
            </a:r>
          </a:p>
        </p:txBody>
      </p:sp>
      <p:sp>
        <p:nvSpPr>
          <p:cNvPr id="18" name="TextBox 17"/>
          <p:cNvSpPr txBox="1"/>
          <p:nvPr/>
        </p:nvSpPr>
        <p:spPr>
          <a:xfrm>
            <a:off x="4453128" y="2779776"/>
            <a:ext cx="1554480" cy="566928"/>
          </a:xfrm>
          <a:prstGeom prst="rect">
            <a:avLst/>
          </a:prstGeom>
          <a:noFill/>
        </p:spPr>
        <p:txBody>
          <a:bodyPr wrap="square" anchor="ctr" lIns="0" rIns="0" tIns="0" bIns="0">
            <a:spAutoFit/>
          </a:bodyPr>
          <a:lstStyle/>
          <a:p>
            <a:pPr algn="ctr">
              <a:spcBef>
                <a:spcPts val="0"/>
              </a:spcBef>
              <a:spcAft>
                <a:spcPts val="200"/>
              </a:spcAft>
            </a:pPr>
            <a:r>
              <a:rPr sz="1150" b="0" i="0">
                <a:solidFill>
                  <a:srgbClr val="334155"/>
                </a:solidFill>
                <a:latin typeface="Calibri"/>
              </a:rPr>
              <a:t>0.485</a:t>
            </a:r>
          </a:p>
        </p:txBody>
      </p:sp>
      <p:sp>
        <p:nvSpPr>
          <p:cNvPr id="19" name="TextBox 18"/>
          <p:cNvSpPr txBox="1"/>
          <p:nvPr/>
        </p:nvSpPr>
        <p:spPr>
          <a:xfrm>
            <a:off x="6190488" y="2779776"/>
            <a:ext cx="1645920" cy="566928"/>
          </a:xfrm>
          <a:prstGeom prst="rect">
            <a:avLst/>
          </a:prstGeom>
          <a:noFill/>
        </p:spPr>
        <p:txBody>
          <a:bodyPr wrap="square" anchor="ctr" lIns="0" rIns="0" tIns="0" bIns="0">
            <a:spAutoFit/>
          </a:bodyPr>
          <a:lstStyle/>
          <a:p>
            <a:pPr algn="l">
              <a:spcBef>
                <a:spcPts val="0"/>
              </a:spcBef>
              <a:spcAft>
                <a:spcPts val="200"/>
              </a:spcAft>
            </a:pPr>
            <a:r>
              <a:rPr sz="1150" b="0" i="0">
                <a:solidFill>
                  <a:srgbClr val="334155"/>
                </a:solidFill>
                <a:latin typeface="Calibri"/>
              </a:rPr>
              <a:t>Econometric baseline</a:t>
            </a:r>
          </a:p>
        </p:txBody>
      </p:sp>
      <p:sp>
        <p:nvSpPr>
          <p:cNvPr id="20" name="Rectangle 19"/>
          <p:cNvSpPr/>
          <p:nvPr/>
        </p:nvSpPr>
        <p:spPr>
          <a:xfrm>
            <a:off x="566928" y="3346704"/>
            <a:ext cx="6766560" cy="56692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346704"/>
            <a:ext cx="2560320" cy="566928"/>
          </a:xfrm>
          <a:prstGeom prst="rect">
            <a:avLst/>
          </a:prstGeom>
          <a:noFill/>
        </p:spPr>
        <p:txBody>
          <a:bodyPr wrap="square" anchor="ctr" lIns="0" rIns="0" tIns="0" bIns="0">
            <a:spAutoFit/>
          </a:bodyPr>
          <a:lstStyle/>
          <a:p>
            <a:pPr algn="l">
              <a:spcBef>
                <a:spcPts val="0"/>
              </a:spcBef>
              <a:spcAft>
                <a:spcPts val="200"/>
              </a:spcAft>
            </a:pPr>
            <a:r>
              <a:rPr sz="1150" b="1" i="0">
                <a:solidFill>
                  <a:srgbClr val="1F3759"/>
                </a:solidFill>
                <a:latin typeface="Calibri"/>
              </a:rPr>
              <a:t>Hybrid CNN-LSTM-Transformer</a:t>
            </a:r>
          </a:p>
        </p:txBody>
      </p:sp>
      <p:sp>
        <p:nvSpPr>
          <p:cNvPr id="22" name="TextBox 21"/>
          <p:cNvSpPr txBox="1"/>
          <p:nvPr/>
        </p:nvSpPr>
        <p:spPr>
          <a:xfrm>
            <a:off x="3447288" y="3346704"/>
            <a:ext cx="822960" cy="566928"/>
          </a:xfrm>
          <a:prstGeom prst="rect">
            <a:avLst/>
          </a:prstGeom>
          <a:noFill/>
        </p:spPr>
        <p:txBody>
          <a:bodyPr wrap="square" anchor="ctr" lIns="0" rIns="0" tIns="0" bIns="0">
            <a:spAutoFit/>
          </a:bodyPr>
          <a:lstStyle/>
          <a:p>
            <a:pPr algn="ctr">
              <a:spcBef>
                <a:spcPts val="0"/>
              </a:spcBef>
              <a:spcAft>
                <a:spcPts val="200"/>
              </a:spcAft>
            </a:pPr>
            <a:r>
              <a:rPr sz="1150" b="0" i="0">
                <a:solidFill>
                  <a:srgbClr val="334155"/>
                </a:solidFill>
                <a:latin typeface="Calibri"/>
              </a:rPr>
              <a:t>0.023</a:t>
            </a:r>
          </a:p>
        </p:txBody>
      </p:sp>
      <p:sp>
        <p:nvSpPr>
          <p:cNvPr id="23" name="TextBox 22"/>
          <p:cNvSpPr txBox="1"/>
          <p:nvPr/>
        </p:nvSpPr>
        <p:spPr>
          <a:xfrm>
            <a:off x="4453128" y="3346704"/>
            <a:ext cx="1554480" cy="566928"/>
          </a:xfrm>
          <a:prstGeom prst="rect">
            <a:avLst/>
          </a:prstGeom>
          <a:noFill/>
        </p:spPr>
        <p:txBody>
          <a:bodyPr wrap="square" anchor="ctr" lIns="0" rIns="0" tIns="0" bIns="0">
            <a:spAutoFit/>
          </a:bodyPr>
          <a:lstStyle/>
          <a:p>
            <a:pPr algn="ctr">
              <a:spcBef>
                <a:spcPts val="0"/>
              </a:spcBef>
              <a:spcAft>
                <a:spcPts val="200"/>
              </a:spcAft>
            </a:pPr>
            <a:r>
              <a:rPr sz="1150" b="0" i="0">
                <a:solidFill>
                  <a:srgbClr val="334155"/>
                </a:solidFill>
                <a:latin typeface="Calibri"/>
              </a:rPr>
              <a:t>0.50</a:t>
            </a:r>
          </a:p>
        </p:txBody>
      </p:sp>
      <p:sp>
        <p:nvSpPr>
          <p:cNvPr id="24" name="TextBox 23"/>
          <p:cNvSpPr txBox="1"/>
          <p:nvPr/>
        </p:nvSpPr>
        <p:spPr>
          <a:xfrm>
            <a:off x="6190488" y="3346704"/>
            <a:ext cx="1645920" cy="566928"/>
          </a:xfrm>
          <a:prstGeom prst="rect">
            <a:avLst/>
          </a:prstGeom>
          <a:noFill/>
        </p:spPr>
        <p:txBody>
          <a:bodyPr wrap="square" anchor="ctr" lIns="0" rIns="0" tIns="0" bIns="0">
            <a:spAutoFit/>
          </a:bodyPr>
          <a:lstStyle/>
          <a:p>
            <a:pPr algn="l">
              <a:spcBef>
                <a:spcPts val="0"/>
              </a:spcBef>
              <a:spcAft>
                <a:spcPts val="200"/>
              </a:spcAft>
            </a:pPr>
            <a:r>
              <a:rPr sz="1150" b="0" i="0">
                <a:solidFill>
                  <a:srgbClr val="334155"/>
                </a:solidFill>
                <a:latin typeface="Calibri"/>
              </a:rPr>
              <a:t>Proposed multi-modal model</a:t>
            </a:r>
          </a:p>
        </p:txBody>
      </p:sp>
      <p:sp>
        <p:nvSpPr>
          <p:cNvPr id="25" name="TextBox 24"/>
          <p:cNvSpPr txBox="1"/>
          <p:nvPr/>
        </p:nvSpPr>
        <p:spPr>
          <a:xfrm>
            <a:off x="566928" y="4160520"/>
            <a:ext cx="6766560" cy="457200"/>
          </a:xfrm>
          <a:prstGeom prst="rect">
            <a:avLst/>
          </a:prstGeom>
          <a:noFill/>
        </p:spPr>
        <p:txBody>
          <a:bodyPr wrap="square" anchor="t" lIns="0" rIns="0" tIns="0" bIns="0">
            <a:spAutoFit/>
          </a:bodyPr>
          <a:lstStyle/>
          <a:p>
            <a:pPr algn="l">
              <a:spcBef>
                <a:spcPts val="0"/>
              </a:spcBef>
              <a:spcAft>
                <a:spcPts val="200"/>
              </a:spcAft>
            </a:pPr>
            <a:r>
              <a:rPr sz="1050" b="0" i="1">
                <a:solidFill>
                  <a:srgbClr val="64748B"/>
                </a:solidFill>
                <a:latin typeface="Calibri"/>
              </a:rPr>
              <a:t>Note: literature's 93–96% figures are single-step / leakage-prone; honest multi-step DirAcc sits at 0.50–0.58.</a:t>
            </a:r>
          </a:p>
        </p:txBody>
      </p:sp>
      <p:sp>
        <p:nvSpPr>
          <p:cNvPr id="26" name="Rounded Rectangle 25"/>
          <p:cNvSpPr/>
          <p:nvPr/>
        </p:nvSpPr>
        <p:spPr>
          <a:xfrm>
            <a:off x="7680960" y="1645920"/>
            <a:ext cx="3931920" cy="12070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1810512"/>
            <a:ext cx="3291840" cy="640080"/>
          </a:xfrm>
          <a:prstGeom prst="rect">
            <a:avLst/>
          </a:prstGeom>
          <a:noFill/>
        </p:spPr>
        <p:txBody>
          <a:bodyPr wrap="square" anchor="t" lIns="0" rIns="0" tIns="0" bIns="0">
            <a:spAutoFit/>
          </a:bodyPr>
          <a:lstStyle/>
          <a:p>
            <a:pPr algn="l">
              <a:spcBef>
                <a:spcPts val="0"/>
              </a:spcBef>
              <a:spcAft>
                <a:spcPts val="200"/>
              </a:spcAft>
            </a:pPr>
            <a:r>
              <a:rPr sz="3000" b="1" i="0">
                <a:solidFill>
                  <a:srgbClr val="059669"/>
                </a:solidFill>
                <a:latin typeface="Calibri"/>
              </a:rPr>
              <a:t>+35%</a:t>
            </a:r>
          </a:p>
        </p:txBody>
      </p:sp>
      <p:sp>
        <p:nvSpPr>
          <p:cNvPr id="28" name="TextBox 27"/>
          <p:cNvSpPr txBox="1"/>
          <p:nvPr/>
        </p:nvSpPr>
        <p:spPr>
          <a:xfrm>
            <a:off x="8001000" y="2432304"/>
            <a:ext cx="3383280" cy="36576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costed conviction backtest (net, after 2bps fees)</a:t>
            </a:r>
          </a:p>
        </p:txBody>
      </p:sp>
      <p:sp>
        <p:nvSpPr>
          <p:cNvPr id="29" name="Rounded Rectangle 28"/>
          <p:cNvSpPr/>
          <p:nvPr/>
        </p:nvSpPr>
        <p:spPr>
          <a:xfrm>
            <a:off x="7680960" y="3017520"/>
            <a:ext cx="3931920" cy="12070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0" y="3182112"/>
            <a:ext cx="3291840" cy="640080"/>
          </a:xfrm>
          <a:prstGeom prst="rect">
            <a:avLst/>
          </a:prstGeom>
          <a:noFill/>
        </p:spPr>
        <p:txBody>
          <a:bodyPr wrap="square" anchor="t" lIns="0" rIns="0" tIns="0" bIns="0">
            <a:spAutoFit/>
          </a:bodyPr>
          <a:lstStyle/>
          <a:p>
            <a:pPr algn="l">
              <a:spcBef>
                <a:spcPts val="0"/>
              </a:spcBef>
              <a:spcAft>
                <a:spcPts val="200"/>
              </a:spcAft>
            </a:pPr>
            <a:r>
              <a:rPr sz="3000" b="1" i="0">
                <a:solidFill>
                  <a:srgbClr val="0891B2"/>
                </a:solidFill>
                <a:latin typeface="Calibri"/>
              </a:rPr>
              <a:t>10-step</a:t>
            </a:r>
          </a:p>
        </p:txBody>
      </p:sp>
      <p:sp>
        <p:nvSpPr>
          <p:cNvPr id="31" name="TextBox 30"/>
          <p:cNvSpPr txBox="1"/>
          <p:nvPr/>
        </p:nvSpPr>
        <p:spPr>
          <a:xfrm>
            <a:off x="8001000" y="3803904"/>
            <a:ext cx="3383280" cy="36576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probabilistic forecast with a (μ, σ²) band per horizon</a:t>
            </a:r>
          </a:p>
        </p:txBody>
      </p:sp>
      <p:sp>
        <p:nvSpPr>
          <p:cNvPr id="32" name="Rounded Rectangle 31"/>
          <p:cNvSpPr/>
          <p:nvPr/>
        </p:nvSpPr>
        <p:spPr>
          <a:xfrm>
            <a:off x="7680960" y="4389120"/>
            <a:ext cx="3931920" cy="1207008"/>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01000" y="4553712"/>
            <a:ext cx="3291840" cy="640080"/>
          </a:xfrm>
          <a:prstGeom prst="rect">
            <a:avLst/>
          </a:prstGeom>
          <a:noFill/>
        </p:spPr>
        <p:txBody>
          <a:bodyPr wrap="square" anchor="t" lIns="0" rIns="0" tIns="0" bIns="0">
            <a:spAutoFit/>
          </a:bodyPr>
          <a:lstStyle/>
          <a:p>
            <a:pPr algn="l">
              <a:spcBef>
                <a:spcPts val="0"/>
              </a:spcBef>
              <a:spcAft>
                <a:spcPts val="200"/>
              </a:spcAft>
            </a:pPr>
            <a:r>
              <a:rPr sz="3000" b="1" i="0">
                <a:solidFill>
                  <a:srgbClr val="2563EB"/>
                </a:solidFill>
                <a:latin typeface="Calibri"/>
              </a:rPr>
              <a:t>30 feat.</a:t>
            </a:r>
          </a:p>
        </p:txBody>
      </p:sp>
      <p:sp>
        <p:nvSpPr>
          <p:cNvPr id="34" name="TextBox 33"/>
          <p:cNvSpPr txBox="1"/>
          <p:nvPr/>
        </p:nvSpPr>
        <p:spPr>
          <a:xfrm>
            <a:off x="8001000" y="5175504"/>
            <a:ext cx="3383280" cy="36576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price + macro + FinBERT sentiment, multi-modal</a:t>
            </a:r>
          </a:p>
        </p:txBody>
      </p:sp>
      <p:sp>
        <p:nvSpPr>
          <p:cNvPr id="35" name="TextBox 34"/>
          <p:cNvSpPr txBox="1"/>
          <p:nvPr/>
        </p:nvSpPr>
        <p:spPr>
          <a:xfrm>
            <a:off x="566928" y="4800600"/>
            <a:ext cx="6766560" cy="1097280"/>
          </a:xfrm>
          <a:prstGeom prst="rect">
            <a:avLst/>
          </a:prstGeom>
          <a:noFill/>
        </p:spPr>
        <p:txBody>
          <a:bodyPr wrap="square" anchor="t" lIns="0" rIns="0" tIns="0" bIns="0">
            <a:spAutoFit/>
          </a:bodyPr>
          <a:lstStyle/>
          <a:p>
            <a:pPr algn="l">
              <a:spcBef>
                <a:spcPts val="0"/>
              </a:spcBef>
              <a:spcAft>
                <a:spcPts val="200"/>
              </a:spcAft>
            </a:pPr>
            <a:r>
              <a:rPr sz="1200" b="1" i="0">
                <a:solidFill>
                  <a:srgbClr val="1F3759"/>
                </a:solidFill>
                <a:latin typeface="Calibri"/>
              </a:rPr>
              <a:t>Discussion:  </a:t>
            </a:r>
            <a:r>
              <a:rPr sz="1150" b="0" i="0">
                <a:solidFill>
                  <a:srgbClr val="334155"/>
                </a:solidFill>
                <a:latin typeface="Calibri"/>
              </a:rPr>
              <a:t>GARCH's AR(1) momentum drift is a strong directional baseline on trending gold.</a:t>
            </a:r>
          </a:p>
          <a:p>
            <a:pPr algn="l">
              <a:spcBef>
                <a:spcPts val="400"/>
              </a:spcBef>
              <a:spcAft>
                <a:spcPts val="200"/>
              </a:spcAft>
            </a:pPr>
            <a:r>
              <a:rPr sz="1150" b="0" i="0">
                <a:solidFill>
                  <a:srgbClr val="334155"/>
                </a:solidFill>
                <a:latin typeface="Calibri"/>
              </a:rPr>
              <a:t>The Hybrid's genuine edge is its conviction machinery — a positive costed backtest and a regime-aware volatility band — plus multi-modal interpretability, rather than unfiltered directional accuracy.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Interpretation &amp; Current Limitations</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What the results mean — and where the honest boundaries are</a:t>
            </a:r>
          </a:p>
        </p:txBody>
      </p:sp>
      <p:sp>
        <p:nvSpPr>
          <p:cNvPr id="5" name="Rounded Rectangle 4"/>
          <p:cNvSpPr/>
          <p:nvPr/>
        </p:nvSpPr>
        <p:spPr>
          <a:xfrm>
            <a:off x="566928" y="1645920"/>
            <a:ext cx="5440680" cy="42062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874519"/>
            <a:ext cx="4572000" cy="365760"/>
          </a:xfrm>
          <a:prstGeom prst="rect">
            <a:avLst/>
          </a:prstGeom>
          <a:noFill/>
        </p:spPr>
        <p:txBody>
          <a:bodyPr wrap="square" anchor="t" lIns="0" rIns="0" tIns="0" bIns="0">
            <a:spAutoFit/>
          </a:bodyPr>
          <a:lstStyle/>
          <a:p>
            <a:pPr algn="l">
              <a:spcBef>
                <a:spcPts val="0"/>
              </a:spcBef>
              <a:spcAft>
                <a:spcPts val="200"/>
              </a:spcAft>
            </a:pPr>
            <a:r>
              <a:rPr sz="1400" b="1" i="0">
                <a:solidFill>
                  <a:srgbClr val="2DD4BF"/>
                </a:solidFill>
                <a:latin typeface="Calibri"/>
              </a:rPr>
              <a:t>INTERPRETATION</a:t>
            </a:r>
          </a:p>
        </p:txBody>
      </p:sp>
      <p:sp>
        <p:nvSpPr>
          <p:cNvPr id="7" name="TextBox 6"/>
          <p:cNvSpPr txBox="1"/>
          <p:nvPr/>
        </p:nvSpPr>
        <p:spPr>
          <a:xfrm>
            <a:off x="932688" y="2468880"/>
            <a:ext cx="4754880" cy="3200400"/>
          </a:xfrm>
          <a:prstGeom prst="rect">
            <a:avLst/>
          </a:prstGeom>
          <a:noFill/>
        </p:spPr>
        <p:txBody>
          <a:bodyPr wrap="square" anchor="t" lIns="0" rIns="0" tIns="0" bIns="0">
            <a:spAutoFit/>
          </a:bodyPr>
          <a:lstStyle/>
          <a:p>
            <a:pPr algn="l">
              <a:spcBef>
                <a:spcPts val="0"/>
              </a:spcBef>
              <a:spcAft>
                <a:spcPts val="1100"/>
              </a:spcAft>
            </a:pPr>
            <a:r>
              <a:rPr sz="1200" b="0" i="0">
                <a:solidFill>
                  <a:srgbClr val="CBD5E1"/>
                </a:solidFill>
                <a:latin typeface="Calibri"/>
              </a:rPr>
              <a:t>• GARCH's conditional-mean drift dominates direction on a strongly trending, volatility-clustered gold series.</a:t>
            </a:r>
          </a:p>
          <a:p>
            <a:pPr algn="l">
              <a:spcBef>
                <a:spcPts val="0"/>
              </a:spcBef>
              <a:spcAft>
                <a:spcPts val="1100"/>
              </a:spcAft>
            </a:pPr>
            <a:r>
              <a:rPr sz="1200" b="0" i="0">
                <a:solidFill>
                  <a:srgbClr val="CBD5E1"/>
                </a:solidFill>
                <a:latin typeface="Calibri"/>
              </a:rPr>
              <a:t>• Sentiment currently has low marginal importance — news coverage is sparse, not that sentiment is irrelevant.</a:t>
            </a:r>
          </a:p>
          <a:p>
            <a:pPr algn="l">
              <a:spcBef>
                <a:spcPts val="0"/>
              </a:spcBef>
              <a:spcAft>
                <a:spcPts val="1100"/>
              </a:spcAft>
            </a:pPr>
            <a:r>
              <a:rPr sz="1200" b="0" i="0">
                <a:solidFill>
                  <a:srgbClr val="CBD5E1"/>
                </a:solidFill>
                <a:latin typeface="Calibri"/>
              </a:rPr>
              <a:t>• The Hybrid stabilises multi-step forecasts and adds value through conviction filtering &amp; regime awareness.</a:t>
            </a:r>
          </a:p>
          <a:p>
            <a:pPr algn="l">
              <a:spcBef>
                <a:spcPts val="0"/>
              </a:spcBef>
              <a:spcAft>
                <a:spcPts val="1100"/>
              </a:spcAft>
            </a:pPr>
            <a:r>
              <a:rPr sz="1200" b="0" i="0">
                <a:solidFill>
                  <a:srgbClr val="CBD5E1"/>
                </a:solidFill>
                <a:latin typeface="Calibri"/>
              </a:rPr>
              <a:t>• Probabilistic heads give a usable risk signal (|μ|/σ) that powers the backtest and abstention.</a:t>
            </a:r>
          </a:p>
        </p:txBody>
      </p:sp>
      <p:sp>
        <p:nvSpPr>
          <p:cNvPr id="8" name="Rounded Rectangle 7"/>
          <p:cNvSpPr/>
          <p:nvPr/>
        </p:nvSpPr>
        <p:spPr>
          <a:xfrm>
            <a:off x="6172200" y="1645920"/>
            <a:ext cx="5440680" cy="420624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74519"/>
            <a:ext cx="4572000" cy="365760"/>
          </a:xfrm>
          <a:prstGeom prst="rect">
            <a:avLst/>
          </a:prstGeom>
          <a:noFill/>
        </p:spPr>
        <p:txBody>
          <a:bodyPr wrap="square" anchor="t" lIns="0" rIns="0" tIns="0" bIns="0">
            <a:spAutoFit/>
          </a:bodyPr>
          <a:lstStyle/>
          <a:p>
            <a:pPr algn="l">
              <a:spcBef>
                <a:spcPts val="0"/>
              </a:spcBef>
              <a:spcAft>
                <a:spcPts val="200"/>
              </a:spcAft>
            </a:pPr>
            <a:r>
              <a:rPr sz="1400" b="1" i="0">
                <a:solidFill>
                  <a:srgbClr val="B45409"/>
                </a:solidFill>
                <a:latin typeface="Calibri"/>
              </a:rPr>
              <a:t>LIMITATIONS</a:t>
            </a:r>
          </a:p>
        </p:txBody>
      </p:sp>
      <p:sp>
        <p:nvSpPr>
          <p:cNvPr id="10" name="TextBox 9"/>
          <p:cNvSpPr txBox="1"/>
          <p:nvPr/>
        </p:nvSpPr>
        <p:spPr>
          <a:xfrm>
            <a:off x="6537960" y="2468880"/>
            <a:ext cx="4754880" cy="3200400"/>
          </a:xfrm>
          <a:prstGeom prst="rect">
            <a:avLst/>
          </a:prstGeom>
          <a:noFill/>
        </p:spPr>
        <p:txBody>
          <a:bodyPr wrap="square" anchor="t" lIns="0" rIns="0" tIns="0" bIns="0">
            <a:spAutoFit/>
          </a:bodyPr>
          <a:lstStyle/>
          <a:p>
            <a:pPr algn="l">
              <a:spcBef>
                <a:spcPts val="0"/>
              </a:spcBef>
              <a:spcAft>
                <a:spcPts val="1100"/>
              </a:spcAft>
            </a:pPr>
            <a:r>
              <a:rPr sz="1200" b="0" i="0">
                <a:solidFill>
                  <a:srgbClr val="CBD5E1"/>
                </a:solidFill>
                <a:latin typeface="Calibri"/>
              </a:rPr>
              <a:t>• News coverage ≈ 18% (GDELT free-tier); pre-2020 bars are news-less.</a:t>
            </a:r>
          </a:p>
          <a:p>
            <a:pPr algn="l">
              <a:spcBef>
                <a:spcPts val="0"/>
              </a:spcBef>
              <a:spcAft>
                <a:spcPts val="1100"/>
              </a:spcAft>
            </a:pPr>
            <a:r>
              <a:rPr sz="1200" b="0" i="0">
                <a:solidFill>
                  <a:srgbClr val="CBD5E1"/>
                </a:solidFill>
                <a:latin typeface="Calibri"/>
              </a:rPr>
              <a:t>• &gt; 0.85 directional accuracy is not achievable without look-ahead leakage — reported honestly.</a:t>
            </a:r>
          </a:p>
          <a:p>
            <a:pPr algn="l">
              <a:spcBef>
                <a:spcPts val="0"/>
              </a:spcBef>
              <a:spcAft>
                <a:spcPts val="1100"/>
              </a:spcAft>
            </a:pPr>
            <a:r>
              <a:rPr sz="1200" b="0" i="0">
                <a:solidFill>
                  <a:srgbClr val="CBD5E1"/>
                </a:solidFill>
                <a:latin typeface="Calibri"/>
              </a:rPr>
              <a:t>• Single instrument (XAU/USD) and daily cadence so far.</a:t>
            </a:r>
          </a:p>
          <a:p>
            <a:pPr algn="l">
              <a:spcBef>
                <a:spcPts val="0"/>
              </a:spcBef>
              <a:spcAft>
                <a:spcPts val="1100"/>
              </a:spcAft>
            </a:pPr>
            <a:r>
              <a:rPr sz="1200" b="0" i="0">
                <a:solidFill>
                  <a:srgbClr val="CBD5E1"/>
                </a:solidFill>
                <a:latin typeface="Calibri"/>
              </a:rPr>
              <a:t>• Sentiment is not yet a strong standalone directional driver at this coverage.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Future Plans (Post Mid-Semester)</a:t>
            </a:r>
          </a:p>
        </p:txBody>
      </p:sp>
      <p:sp>
        <p:nvSpPr>
          <p:cNvPr id="4" name="Rounded Rectangle 3"/>
          <p:cNvSpPr/>
          <p:nvPr/>
        </p:nvSpPr>
        <p:spPr>
          <a:xfrm>
            <a:off x="566928" y="1600200"/>
            <a:ext cx="5440680" cy="20574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828800"/>
            <a:ext cx="914400" cy="640080"/>
          </a:xfrm>
          <a:prstGeom prst="rect">
            <a:avLst/>
          </a:prstGeom>
          <a:noFill/>
        </p:spPr>
        <p:txBody>
          <a:bodyPr wrap="square" anchor="t" lIns="0" rIns="0" tIns="0" bIns="0">
            <a:spAutoFit/>
          </a:bodyPr>
          <a:lstStyle/>
          <a:p>
            <a:pPr algn="l">
              <a:spcBef>
                <a:spcPts val="0"/>
              </a:spcBef>
              <a:spcAft>
                <a:spcPts val="200"/>
              </a:spcAft>
            </a:pPr>
            <a:r>
              <a:rPr sz="3400" b="1" i="0">
                <a:solidFill>
                  <a:srgbClr val="2563EB"/>
                </a:solidFill>
                <a:latin typeface="Calibri"/>
              </a:rPr>
              <a:t>1</a:t>
            </a:r>
          </a:p>
        </p:txBody>
      </p:sp>
      <p:sp>
        <p:nvSpPr>
          <p:cNvPr id="6" name="TextBox 5"/>
          <p:cNvSpPr txBox="1"/>
          <p:nvPr/>
        </p:nvSpPr>
        <p:spPr>
          <a:xfrm>
            <a:off x="1755648" y="1892807"/>
            <a:ext cx="3977639" cy="548640"/>
          </a:xfrm>
          <a:prstGeom prst="rect">
            <a:avLst/>
          </a:prstGeom>
          <a:noFill/>
        </p:spPr>
        <p:txBody>
          <a:bodyPr wrap="square" anchor="t" lIns="0" rIns="0" tIns="0" bIns="0">
            <a:spAutoFit/>
          </a:bodyPr>
          <a:lstStyle/>
          <a:p>
            <a:pPr algn="l">
              <a:spcBef>
                <a:spcPts val="0"/>
              </a:spcBef>
              <a:spcAft>
                <a:spcPts val="200"/>
              </a:spcAft>
            </a:pPr>
            <a:r>
              <a:rPr sz="1500" b="1" i="0">
                <a:solidFill>
                  <a:srgbClr val="1F3759"/>
                </a:solidFill>
                <a:latin typeface="Calibri"/>
              </a:rPr>
              <a:t>Explainable AI (XAI)</a:t>
            </a:r>
          </a:p>
        </p:txBody>
      </p:sp>
      <p:sp>
        <p:nvSpPr>
          <p:cNvPr id="7" name="TextBox 6"/>
          <p:cNvSpPr txBox="1"/>
          <p:nvPr/>
        </p:nvSpPr>
        <p:spPr>
          <a:xfrm>
            <a:off x="932688" y="2651760"/>
            <a:ext cx="4709160" cy="914400"/>
          </a:xfrm>
          <a:prstGeom prst="rect">
            <a:avLst/>
          </a:prstGeom>
          <a:noFill/>
        </p:spPr>
        <p:txBody>
          <a:bodyPr wrap="square" anchor="t" lIns="0" rIns="0" tIns="0" bIns="0">
            <a:spAutoFit/>
          </a:bodyPr>
          <a:lstStyle/>
          <a:p>
            <a:pPr algn="l">
              <a:spcBef>
                <a:spcPts val="0"/>
              </a:spcBef>
              <a:spcAft>
                <a:spcPts val="200"/>
              </a:spcAft>
            </a:pPr>
            <a:r>
              <a:rPr sz="1200" b="0" i="0">
                <a:solidFill>
                  <a:srgbClr val="334155"/>
                </a:solidFill>
                <a:latin typeface="Calibri"/>
              </a:rPr>
              <a:t>SHAP values and attention-weight visualisation to map which technical / sentiment features drive each multi-step forecast.</a:t>
            </a:r>
          </a:p>
        </p:txBody>
      </p:sp>
      <p:sp>
        <p:nvSpPr>
          <p:cNvPr id="8" name="Rounded Rectangle 7"/>
          <p:cNvSpPr/>
          <p:nvPr/>
        </p:nvSpPr>
        <p:spPr>
          <a:xfrm>
            <a:off x="6254496" y="1600200"/>
            <a:ext cx="5440680" cy="20574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1828800"/>
            <a:ext cx="914400" cy="640080"/>
          </a:xfrm>
          <a:prstGeom prst="rect">
            <a:avLst/>
          </a:prstGeom>
          <a:noFill/>
        </p:spPr>
        <p:txBody>
          <a:bodyPr wrap="square" anchor="t" lIns="0" rIns="0" tIns="0" bIns="0">
            <a:spAutoFit/>
          </a:bodyPr>
          <a:lstStyle/>
          <a:p>
            <a:pPr algn="l">
              <a:spcBef>
                <a:spcPts val="0"/>
              </a:spcBef>
              <a:spcAft>
                <a:spcPts val="200"/>
              </a:spcAft>
            </a:pPr>
            <a:r>
              <a:rPr sz="3400" b="1" i="0">
                <a:solidFill>
                  <a:srgbClr val="0891B2"/>
                </a:solidFill>
                <a:latin typeface="Calibri"/>
              </a:rPr>
              <a:t>2</a:t>
            </a:r>
          </a:p>
        </p:txBody>
      </p:sp>
      <p:sp>
        <p:nvSpPr>
          <p:cNvPr id="10" name="TextBox 9"/>
          <p:cNvSpPr txBox="1"/>
          <p:nvPr/>
        </p:nvSpPr>
        <p:spPr>
          <a:xfrm>
            <a:off x="7443216" y="1892807"/>
            <a:ext cx="3977639" cy="548640"/>
          </a:xfrm>
          <a:prstGeom prst="rect">
            <a:avLst/>
          </a:prstGeom>
          <a:noFill/>
        </p:spPr>
        <p:txBody>
          <a:bodyPr wrap="square" anchor="t" lIns="0" rIns="0" tIns="0" bIns="0">
            <a:spAutoFit/>
          </a:bodyPr>
          <a:lstStyle/>
          <a:p>
            <a:pPr algn="l">
              <a:spcBef>
                <a:spcPts val="0"/>
              </a:spcBef>
              <a:spcAft>
                <a:spcPts val="200"/>
              </a:spcAft>
            </a:pPr>
            <a:r>
              <a:rPr sz="1500" b="1" i="0">
                <a:solidFill>
                  <a:srgbClr val="1F3759"/>
                </a:solidFill>
                <a:latin typeface="Calibri"/>
              </a:rPr>
              <a:t>Denser &amp; richer sentiment</a:t>
            </a:r>
          </a:p>
        </p:txBody>
      </p:sp>
      <p:sp>
        <p:nvSpPr>
          <p:cNvPr id="11" name="TextBox 10"/>
          <p:cNvSpPr txBox="1"/>
          <p:nvPr/>
        </p:nvSpPr>
        <p:spPr>
          <a:xfrm>
            <a:off x="6620256" y="2651760"/>
            <a:ext cx="4709160" cy="914400"/>
          </a:xfrm>
          <a:prstGeom prst="rect">
            <a:avLst/>
          </a:prstGeom>
          <a:noFill/>
        </p:spPr>
        <p:txBody>
          <a:bodyPr wrap="square" anchor="t" lIns="0" rIns="0" tIns="0" bIns="0">
            <a:spAutoFit/>
          </a:bodyPr>
          <a:lstStyle/>
          <a:p>
            <a:pPr algn="l">
              <a:spcBef>
                <a:spcPts val="0"/>
              </a:spcBef>
              <a:spcAft>
                <a:spcPts val="200"/>
              </a:spcAft>
            </a:pPr>
            <a:r>
              <a:rPr sz="1200" b="0" i="0">
                <a:solidFill>
                  <a:srgbClr val="334155"/>
                </a:solidFill>
                <a:latin typeface="Calibri"/>
              </a:rPr>
              <a:t>Add a keyed news API (NewsAPI / Marketaux) and financial LLMs to lift coverage and capture deeper context than headlines.</a:t>
            </a:r>
          </a:p>
        </p:txBody>
      </p:sp>
      <p:sp>
        <p:nvSpPr>
          <p:cNvPr id="12" name="Rounded Rectangle 11"/>
          <p:cNvSpPr/>
          <p:nvPr/>
        </p:nvSpPr>
        <p:spPr>
          <a:xfrm>
            <a:off x="566928" y="3886200"/>
            <a:ext cx="5440680" cy="20574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14800"/>
            <a:ext cx="914400" cy="640080"/>
          </a:xfrm>
          <a:prstGeom prst="rect">
            <a:avLst/>
          </a:prstGeom>
          <a:noFill/>
        </p:spPr>
        <p:txBody>
          <a:bodyPr wrap="square" anchor="t" lIns="0" rIns="0" tIns="0" bIns="0">
            <a:spAutoFit/>
          </a:bodyPr>
          <a:lstStyle/>
          <a:p>
            <a:pPr algn="l">
              <a:spcBef>
                <a:spcPts val="0"/>
              </a:spcBef>
              <a:spcAft>
                <a:spcPts val="200"/>
              </a:spcAft>
            </a:pPr>
            <a:r>
              <a:rPr sz="3400" b="1" i="0">
                <a:solidFill>
                  <a:srgbClr val="059669"/>
                </a:solidFill>
                <a:latin typeface="Calibri"/>
              </a:rPr>
              <a:t>3</a:t>
            </a:r>
          </a:p>
        </p:txBody>
      </p:sp>
      <p:sp>
        <p:nvSpPr>
          <p:cNvPr id="14" name="TextBox 13"/>
          <p:cNvSpPr txBox="1"/>
          <p:nvPr/>
        </p:nvSpPr>
        <p:spPr>
          <a:xfrm>
            <a:off x="1755648" y="4178808"/>
            <a:ext cx="3977639" cy="548640"/>
          </a:xfrm>
          <a:prstGeom prst="rect">
            <a:avLst/>
          </a:prstGeom>
          <a:noFill/>
        </p:spPr>
        <p:txBody>
          <a:bodyPr wrap="square" anchor="t" lIns="0" rIns="0" tIns="0" bIns="0">
            <a:spAutoFit/>
          </a:bodyPr>
          <a:lstStyle/>
          <a:p>
            <a:pPr algn="l">
              <a:spcBef>
                <a:spcPts val="0"/>
              </a:spcBef>
              <a:spcAft>
                <a:spcPts val="200"/>
              </a:spcAft>
            </a:pPr>
            <a:r>
              <a:rPr sz="1500" b="1" i="0">
                <a:solidFill>
                  <a:srgbClr val="1F3759"/>
                </a:solidFill>
                <a:latin typeface="Calibri"/>
              </a:rPr>
              <a:t>Ablation &amp; generalisation</a:t>
            </a:r>
          </a:p>
        </p:txBody>
      </p:sp>
      <p:sp>
        <p:nvSpPr>
          <p:cNvPr id="15" name="TextBox 14"/>
          <p:cNvSpPr txBox="1"/>
          <p:nvPr/>
        </p:nvSpPr>
        <p:spPr>
          <a:xfrm>
            <a:off x="932688" y="4937760"/>
            <a:ext cx="4709160" cy="914400"/>
          </a:xfrm>
          <a:prstGeom prst="rect">
            <a:avLst/>
          </a:prstGeom>
          <a:noFill/>
        </p:spPr>
        <p:txBody>
          <a:bodyPr wrap="square" anchor="t" lIns="0" rIns="0" tIns="0" bIns="0">
            <a:spAutoFit/>
          </a:bodyPr>
          <a:lstStyle/>
          <a:p>
            <a:pPr algn="l">
              <a:spcBef>
                <a:spcPts val="0"/>
              </a:spcBef>
              <a:spcAft>
                <a:spcPts val="200"/>
              </a:spcAft>
            </a:pPr>
            <a:r>
              <a:rPr sz="1200" b="0" i="0">
                <a:solidFill>
                  <a:srgbClr val="334155"/>
                </a:solidFill>
                <a:latin typeface="Calibri"/>
              </a:rPr>
              <a:t>Systematic ablation of each component; extend beyond XAU/USD to more pairs and horizons.</a:t>
            </a:r>
          </a:p>
        </p:txBody>
      </p:sp>
      <p:sp>
        <p:nvSpPr>
          <p:cNvPr id="16" name="Rounded Rectangle 15"/>
          <p:cNvSpPr/>
          <p:nvPr/>
        </p:nvSpPr>
        <p:spPr>
          <a:xfrm>
            <a:off x="6254496" y="3886200"/>
            <a:ext cx="5440680" cy="20574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4114800"/>
            <a:ext cx="914400" cy="640080"/>
          </a:xfrm>
          <a:prstGeom prst="rect">
            <a:avLst/>
          </a:prstGeom>
          <a:noFill/>
        </p:spPr>
        <p:txBody>
          <a:bodyPr wrap="square" anchor="t" lIns="0" rIns="0" tIns="0" bIns="0">
            <a:spAutoFit/>
          </a:bodyPr>
          <a:lstStyle/>
          <a:p>
            <a:pPr algn="l">
              <a:spcBef>
                <a:spcPts val="0"/>
              </a:spcBef>
              <a:spcAft>
                <a:spcPts val="200"/>
              </a:spcAft>
            </a:pPr>
            <a:r>
              <a:rPr sz="3400" b="1" i="0">
                <a:solidFill>
                  <a:srgbClr val="B45409"/>
                </a:solidFill>
                <a:latin typeface="Calibri"/>
              </a:rPr>
              <a:t>4</a:t>
            </a:r>
          </a:p>
        </p:txBody>
      </p:sp>
      <p:sp>
        <p:nvSpPr>
          <p:cNvPr id="18" name="TextBox 17"/>
          <p:cNvSpPr txBox="1"/>
          <p:nvPr/>
        </p:nvSpPr>
        <p:spPr>
          <a:xfrm>
            <a:off x="7443216" y="4178808"/>
            <a:ext cx="3977639" cy="548640"/>
          </a:xfrm>
          <a:prstGeom prst="rect">
            <a:avLst/>
          </a:prstGeom>
          <a:noFill/>
        </p:spPr>
        <p:txBody>
          <a:bodyPr wrap="square" anchor="t" lIns="0" rIns="0" tIns="0" bIns="0">
            <a:spAutoFit/>
          </a:bodyPr>
          <a:lstStyle/>
          <a:p>
            <a:pPr algn="l">
              <a:spcBef>
                <a:spcPts val="0"/>
              </a:spcBef>
              <a:spcAft>
                <a:spcPts val="200"/>
              </a:spcAft>
            </a:pPr>
            <a:r>
              <a:rPr sz="1500" b="1" i="0">
                <a:solidFill>
                  <a:srgbClr val="1F3759"/>
                </a:solidFill>
                <a:latin typeface="Calibri"/>
              </a:rPr>
              <a:t>Reinforcement-learning execution</a:t>
            </a:r>
          </a:p>
        </p:txBody>
      </p:sp>
      <p:sp>
        <p:nvSpPr>
          <p:cNvPr id="19" name="TextBox 18"/>
          <p:cNvSpPr txBox="1"/>
          <p:nvPr/>
        </p:nvSpPr>
        <p:spPr>
          <a:xfrm>
            <a:off x="6620256" y="4937760"/>
            <a:ext cx="4709160" cy="914400"/>
          </a:xfrm>
          <a:prstGeom prst="rect">
            <a:avLst/>
          </a:prstGeom>
          <a:noFill/>
        </p:spPr>
        <p:txBody>
          <a:bodyPr wrap="square" anchor="t" lIns="0" rIns="0" tIns="0" bIns="0">
            <a:spAutoFit/>
          </a:bodyPr>
          <a:lstStyle/>
          <a:p>
            <a:pPr algn="l">
              <a:spcBef>
                <a:spcPts val="0"/>
              </a:spcBef>
              <a:spcAft>
                <a:spcPts val="200"/>
              </a:spcAft>
            </a:pPr>
            <a:r>
              <a:rPr sz="1200" b="0" i="0">
                <a:solidFill>
                  <a:srgbClr val="334155"/>
                </a:solidFill>
                <a:latin typeface="Calibri"/>
              </a:rPr>
              <a:t>Wrap the Hybrid in a DRL agent to learn position sizing &amp; stop-loss from its volatility forecasts.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Project Timeline</a:t>
            </a:r>
          </a:p>
        </p:txBody>
      </p:sp>
      <p:sp>
        <p:nvSpPr>
          <p:cNvPr id="4" name="TextBox 3"/>
          <p:cNvSpPr txBox="1"/>
          <p:nvPr/>
        </p:nvSpPr>
        <p:spPr>
          <a:xfrm>
            <a:off x="777240" y="1170432"/>
            <a:ext cx="10607040" cy="365760"/>
          </a:xfrm>
          <a:prstGeom prst="rect">
            <a:avLst/>
          </a:prstGeom>
          <a:noFill/>
        </p:spPr>
        <p:txBody>
          <a:bodyPr wrap="square" anchor="t" lIns="0" rIns="0" tIns="0" bIns="0">
            <a:spAutoFit/>
          </a:bodyPr>
          <a:lstStyle/>
          <a:p>
            <a:pPr algn="l">
              <a:spcBef>
                <a:spcPts val="0"/>
              </a:spcBef>
              <a:spcAft>
                <a:spcPts val="200"/>
              </a:spcAft>
            </a:pPr>
            <a:r>
              <a:rPr sz="1300" b="0" i="1">
                <a:solidFill>
                  <a:srgbClr val="64748B"/>
                </a:solidFill>
                <a:latin typeface="Calibri"/>
              </a:rPr>
              <a:t>From data pipeline to mid-term, and the road to final submission</a:t>
            </a:r>
          </a:p>
        </p:txBody>
      </p:sp>
      <p:sp>
        <p:nvSpPr>
          <p:cNvPr id="5" name="Rectangle 4"/>
          <p:cNvSpPr/>
          <p:nvPr/>
        </p:nvSpPr>
        <p:spPr>
          <a:xfrm>
            <a:off x="822960" y="3218688"/>
            <a:ext cx="10424160" cy="4572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97964" y="3099816"/>
            <a:ext cx="274320" cy="27432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97964" y="3081528"/>
            <a:ext cx="274320" cy="274320"/>
          </a:xfrm>
          <a:prstGeom prst="rect">
            <a:avLst/>
          </a:prstGeom>
          <a:noFill/>
        </p:spPr>
        <p:txBody>
          <a:bodyPr wrap="square" anchor="ctr" lIns="0" rIns="0" tIns="0" bIns="0">
            <a:spAutoFit/>
          </a:bodyPr>
          <a:lstStyle/>
          <a:p>
            <a:pPr algn="ctr">
              <a:spcBef>
                <a:spcPts val="0"/>
              </a:spcBef>
              <a:spcAft>
                <a:spcPts val="200"/>
              </a:spcAft>
            </a:pPr>
            <a:r>
              <a:rPr sz="1300" b="1" i="0">
                <a:solidFill>
                  <a:srgbClr val="FFFFFF"/>
                </a:solidFill>
                <a:latin typeface="Calibri"/>
              </a:rPr>
              <a:t>✓</a:t>
            </a:r>
          </a:p>
        </p:txBody>
      </p:sp>
      <p:sp>
        <p:nvSpPr>
          <p:cNvPr id="8" name="Rounded Rectangle 7"/>
          <p:cNvSpPr/>
          <p:nvPr/>
        </p:nvSpPr>
        <p:spPr>
          <a:xfrm>
            <a:off x="1005840" y="1645919"/>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810511"/>
            <a:ext cx="1965960" cy="274320"/>
          </a:xfrm>
          <a:prstGeom prst="rect">
            <a:avLst/>
          </a:prstGeom>
          <a:noFill/>
        </p:spPr>
        <p:txBody>
          <a:bodyPr wrap="square" anchor="t" lIns="0" rIns="0" tIns="0" bIns="0">
            <a:spAutoFit/>
          </a:bodyPr>
          <a:lstStyle/>
          <a:p>
            <a:pPr algn="l">
              <a:spcBef>
                <a:spcPts val="0"/>
              </a:spcBef>
              <a:spcAft>
                <a:spcPts val="200"/>
              </a:spcAft>
            </a:pPr>
            <a:r>
              <a:rPr sz="1150" b="1" i="0">
                <a:solidFill>
                  <a:srgbClr val="2DD4BF"/>
                </a:solidFill>
                <a:latin typeface="Calibri"/>
              </a:rPr>
              <a:t>May – Jun 2026</a:t>
            </a:r>
          </a:p>
        </p:txBody>
      </p:sp>
      <p:sp>
        <p:nvSpPr>
          <p:cNvPr id="10" name="TextBox 9"/>
          <p:cNvSpPr txBox="1"/>
          <p:nvPr/>
        </p:nvSpPr>
        <p:spPr>
          <a:xfrm>
            <a:off x="1188720" y="2103120"/>
            <a:ext cx="1965960" cy="27432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Data &amp; baselines</a:t>
            </a:r>
          </a:p>
        </p:txBody>
      </p:sp>
      <p:sp>
        <p:nvSpPr>
          <p:cNvPr id="11" name="TextBox 10"/>
          <p:cNvSpPr txBox="1"/>
          <p:nvPr/>
        </p:nvSpPr>
        <p:spPr>
          <a:xfrm>
            <a:off x="1188720" y="2395727"/>
            <a:ext cx="1965960" cy="54864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Two-pipeline data, FinBERT scoring, initial Hybrid.</a:t>
            </a:r>
          </a:p>
        </p:txBody>
      </p:sp>
      <p:sp>
        <p:nvSpPr>
          <p:cNvPr id="12" name="Oval 11"/>
          <p:cNvSpPr/>
          <p:nvPr/>
        </p:nvSpPr>
        <p:spPr>
          <a:xfrm>
            <a:off x="4604004" y="3099816"/>
            <a:ext cx="274320" cy="274320"/>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4004" y="3081528"/>
            <a:ext cx="274320" cy="274320"/>
          </a:xfrm>
          <a:prstGeom prst="rect">
            <a:avLst/>
          </a:prstGeom>
          <a:noFill/>
        </p:spPr>
        <p:txBody>
          <a:bodyPr wrap="square" anchor="ctr" lIns="0" rIns="0" tIns="0" bIns="0">
            <a:spAutoFit/>
          </a:bodyPr>
          <a:lstStyle/>
          <a:p>
            <a:pPr algn="ctr">
              <a:spcBef>
                <a:spcPts val="0"/>
              </a:spcBef>
              <a:spcAft>
                <a:spcPts val="200"/>
              </a:spcAft>
            </a:pPr>
            <a:r>
              <a:rPr sz="1300" b="1" i="0">
                <a:solidFill>
                  <a:srgbClr val="FFFFFF"/>
                </a:solidFill>
                <a:latin typeface="Calibri"/>
              </a:rPr>
              <a:t>✓</a:t>
            </a:r>
          </a:p>
        </p:txBody>
      </p:sp>
      <p:sp>
        <p:nvSpPr>
          <p:cNvPr id="14" name="Rounded Rectangle 13"/>
          <p:cNvSpPr/>
          <p:nvPr/>
        </p:nvSpPr>
        <p:spPr>
          <a:xfrm>
            <a:off x="3611880" y="3703320"/>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60" y="3867911"/>
            <a:ext cx="1965960" cy="274320"/>
          </a:xfrm>
          <a:prstGeom prst="rect">
            <a:avLst/>
          </a:prstGeom>
          <a:noFill/>
        </p:spPr>
        <p:txBody>
          <a:bodyPr wrap="square" anchor="t" lIns="0" rIns="0" tIns="0" bIns="0">
            <a:spAutoFit/>
          </a:bodyPr>
          <a:lstStyle/>
          <a:p>
            <a:pPr algn="l">
              <a:spcBef>
                <a:spcPts val="0"/>
              </a:spcBef>
              <a:spcAft>
                <a:spcPts val="200"/>
              </a:spcAft>
            </a:pPr>
            <a:r>
              <a:rPr sz="1150" b="1" i="0">
                <a:solidFill>
                  <a:srgbClr val="0891B2"/>
                </a:solidFill>
                <a:latin typeface="Calibri"/>
              </a:rPr>
              <a:t>Jul 2026</a:t>
            </a:r>
          </a:p>
        </p:txBody>
      </p:sp>
      <p:sp>
        <p:nvSpPr>
          <p:cNvPr id="16" name="TextBox 15"/>
          <p:cNvSpPr txBox="1"/>
          <p:nvPr/>
        </p:nvSpPr>
        <p:spPr>
          <a:xfrm>
            <a:off x="3794760" y="4160520"/>
            <a:ext cx="1965960" cy="27432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Mid-term (now)</a:t>
            </a:r>
          </a:p>
        </p:txBody>
      </p:sp>
      <p:sp>
        <p:nvSpPr>
          <p:cNvPr id="17" name="TextBox 16"/>
          <p:cNvSpPr txBox="1"/>
          <p:nvPr/>
        </p:nvSpPr>
        <p:spPr>
          <a:xfrm>
            <a:off x="3794760" y="4453128"/>
            <a:ext cx="1965960" cy="54864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Full Hybrid, ARIMA/GARCH baselines, honest results.</a:t>
            </a:r>
          </a:p>
        </p:txBody>
      </p:sp>
      <p:sp>
        <p:nvSpPr>
          <p:cNvPr id="18" name="Oval 17"/>
          <p:cNvSpPr/>
          <p:nvPr/>
        </p:nvSpPr>
        <p:spPr>
          <a:xfrm>
            <a:off x="7210044" y="309981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1645919"/>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810511"/>
            <a:ext cx="1965960" cy="274320"/>
          </a:xfrm>
          <a:prstGeom prst="rect">
            <a:avLst/>
          </a:prstGeom>
          <a:noFill/>
        </p:spPr>
        <p:txBody>
          <a:bodyPr wrap="square" anchor="t" lIns="0" rIns="0" tIns="0" bIns="0">
            <a:spAutoFit/>
          </a:bodyPr>
          <a:lstStyle/>
          <a:p>
            <a:pPr algn="l">
              <a:spcBef>
                <a:spcPts val="0"/>
              </a:spcBef>
              <a:spcAft>
                <a:spcPts val="200"/>
              </a:spcAft>
            </a:pPr>
            <a:r>
              <a:rPr sz="1150" b="1" i="0">
                <a:solidFill>
                  <a:srgbClr val="2563EB"/>
                </a:solidFill>
                <a:latin typeface="Calibri"/>
              </a:rPr>
              <a:t>Aug – Sep 2026</a:t>
            </a:r>
          </a:p>
        </p:txBody>
      </p:sp>
      <p:sp>
        <p:nvSpPr>
          <p:cNvPr id="21" name="TextBox 20"/>
          <p:cNvSpPr txBox="1"/>
          <p:nvPr/>
        </p:nvSpPr>
        <p:spPr>
          <a:xfrm>
            <a:off x="6400800" y="2103120"/>
            <a:ext cx="1965960" cy="27432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Deepening</a:t>
            </a:r>
          </a:p>
        </p:txBody>
      </p:sp>
      <p:sp>
        <p:nvSpPr>
          <p:cNvPr id="22" name="TextBox 21"/>
          <p:cNvSpPr txBox="1"/>
          <p:nvPr/>
        </p:nvSpPr>
        <p:spPr>
          <a:xfrm>
            <a:off x="6400800" y="2395727"/>
            <a:ext cx="1965960" cy="54864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XAI, LLM sentiment, ablations, multi-pair.</a:t>
            </a:r>
          </a:p>
        </p:txBody>
      </p:sp>
      <p:sp>
        <p:nvSpPr>
          <p:cNvPr id="23" name="Oval 22"/>
          <p:cNvSpPr/>
          <p:nvPr/>
        </p:nvSpPr>
        <p:spPr>
          <a:xfrm>
            <a:off x="9816084" y="3099816"/>
            <a:ext cx="274320" cy="274320"/>
          </a:xfrm>
          <a:prstGeom prst="ellipse">
            <a:avLst/>
          </a:prstGeom>
          <a:solidFill>
            <a:srgbClr val="B45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823960" y="3703320"/>
            <a:ext cx="2286000" cy="137160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3867911"/>
            <a:ext cx="1965960" cy="274320"/>
          </a:xfrm>
          <a:prstGeom prst="rect">
            <a:avLst/>
          </a:prstGeom>
          <a:noFill/>
        </p:spPr>
        <p:txBody>
          <a:bodyPr wrap="square" anchor="t" lIns="0" rIns="0" tIns="0" bIns="0">
            <a:spAutoFit/>
          </a:bodyPr>
          <a:lstStyle/>
          <a:p>
            <a:pPr algn="l">
              <a:spcBef>
                <a:spcPts val="0"/>
              </a:spcBef>
              <a:spcAft>
                <a:spcPts val="200"/>
              </a:spcAft>
            </a:pPr>
            <a:r>
              <a:rPr sz="1150" b="1" i="0">
                <a:solidFill>
                  <a:srgbClr val="B45409"/>
                </a:solidFill>
                <a:latin typeface="Calibri"/>
              </a:rPr>
              <a:t>Oct – Nov 2026</a:t>
            </a:r>
          </a:p>
        </p:txBody>
      </p:sp>
      <p:sp>
        <p:nvSpPr>
          <p:cNvPr id="26" name="TextBox 25"/>
          <p:cNvSpPr txBox="1"/>
          <p:nvPr/>
        </p:nvSpPr>
        <p:spPr>
          <a:xfrm>
            <a:off x="9006840" y="4160520"/>
            <a:ext cx="1965960" cy="274320"/>
          </a:xfrm>
          <a:prstGeom prst="rect">
            <a:avLst/>
          </a:prstGeom>
          <a:noFill/>
        </p:spPr>
        <p:txBody>
          <a:bodyPr wrap="square" anchor="t" lIns="0" rIns="0" tIns="0" bIns="0">
            <a:spAutoFit/>
          </a:bodyPr>
          <a:lstStyle/>
          <a:p>
            <a:pPr algn="l">
              <a:spcBef>
                <a:spcPts val="0"/>
              </a:spcBef>
              <a:spcAft>
                <a:spcPts val="200"/>
              </a:spcAft>
            </a:pPr>
            <a:r>
              <a:rPr sz="1250" b="1" i="0">
                <a:solidFill>
                  <a:srgbClr val="FFFFFF"/>
                </a:solidFill>
                <a:latin typeface="Calibri"/>
              </a:rPr>
              <a:t>Final submission</a:t>
            </a:r>
          </a:p>
        </p:txBody>
      </p:sp>
      <p:sp>
        <p:nvSpPr>
          <p:cNvPr id="27" name="TextBox 26"/>
          <p:cNvSpPr txBox="1"/>
          <p:nvPr/>
        </p:nvSpPr>
        <p:spPr>
          <a:xfrm>
            <a:off x="9006840" y="4453128"/>
            <a:ext cx="1965960" cy="548640"/>
          </a:xfrm>
          <a:prstGeom prst="rect">
            <a:avLst/>
          </a:prstGeom>
          <a:noFill/>
        </p:spPr>
        <p:txBody>
          <a:bodyPr wrap="square" anchor="t" lIns="0" rIns="0" tIns="0" bIns="0">
            <a:spAutoFit/>
          </a:bodyPr>
          <a:lstStyle/>
          <a:p>
            <a:pPr algn="l">
              <a:spcBef>
                <a:spcPts val="0"/>
              </a:spcBef>
              <a:spcAft>
                <a:spcPts val="200"/>
              </a:spcAft>
            </a:pPr>
            <a:r>
              <a:rPr sz="1100" b="0" i="0">
                <a:solidFill>
                  <a:srgbClr val="CBD5E1"/>
                </a:solidFill>
                <a:latin typeface="Calibri"/>
              </a:rPr>
              <a:t>RL execution, full evaluation, dissertation.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bg>
    <p:bgPr>
      <a:solidFill>
        <a:srgbClr val="D0D0D0"/>
      </a:solidFill>
      <a:effectLst/>
    </p:bgPr>
  </p:bg>
  <p:cSld>
    <p:spTree>
      <p:nvGrpSpPr>
        <p:cNvPr id="1" name=""/>
        <p:cNvGrpSpPr/>
        <p:nvPr/>
      </p:nvGrpSpPr>
      <p:grpSpPr/>
      <p:sp>
        <p:nvSpPr>
          <p:cNvPr id="2" name="Rectangle 1"/>
          <p:cNvSpPr/>
          <p:nvPr/>
        </p:nvSpPr>
        <p:spPr>
          <a:xfrm>
            <a:off x="566928" y="548640"/>
            <a:ext cx="82296" cy="50292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515600" cy="731520"/>
          </a:xfrm>
          <a:prstGeom prst="rect">
            <a:avLst/>
          </a:prstGeom>
          <a:noFill/>
        </p:spPr>
        <p:txBody>
          <a:bodyPr wrap="square" anchor="t" lIns="0" rIns="0" tIns="0" bIns="0">
            <a:spAutoFit/>
          </a:bodyPr>
          <a:lstStyle/>
          <a:p>
            <a:pPr algn="l">
              <a:spcBef>
                <a:spcPts val="0"/>
              </a:spcBef>
              <a:spcAft>
                <a:spcPts val="200"/>
              </a:spcAft>
            </a:pPr>
            <a:r>
              <a:rPr sz="3200" b="1" i="0">
                <a:solidFill>
                  <a:srgbClr val="1F3759"/>
                </a:solidFill>
                <a:latin typeface="Calibri"/>
              </a:rPr>
              <a:t>Conclusion</a:t>
            </a:r>
          </a:p>
        </p:txBody>
      </p:sp>
      <p:sp>
        <p:nvSpPr>
          <p:cNvPr id="4" name="Rounded Rectangle 3"/>
          <p:cNvSpPr/>
          <p:nvPr/>
        </p:nvSpPr>
        <p:spPr>
          <a:xfrm>
            <a:off x="566928" y="1600200"/>
            <a:ext cx="11064240" cy="4297680"/>
          </a:xfrm>
          <a:prstGeom prst="roundRect">
            <a:avLst>
              <a:gd name="adj" fmla="val 8000"/>
            </a:avLst>
          </a:prstGeom>
          <a:solidFill>
            <a:srgbClr val="1E2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993391"/>
            <a:ext cx="310896" cy="310896"/>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84248"/>
            <a:ext cx="310896" cy="310896"/>
          </a:xfrm>
          <a:prstGeom prst="rect">
            <a:avLst/>
          </a:prstGeom>
          <a:noFill/>
        </p:spPr>
        <p:txBody>
          <a:bodyPr wrap="square" anchor="ctr" lIns="0" rIns="0" tIns="0" bIns="0">
            <a:spAutoFit/>
          </a:bodyPr>
          <a:lstStyle/>
          <a:p>
            <a:pPr algn="ctr">
              <a:spcBef>
                <a:spcPts val="0"/>
              </a:spcBef>
              <a:spcAft>
                <a:spcPts val="200"/>
              </a:spcAft>
            </a:pPr>
            <a:r>
              <a:rPr sz="1500" b="1" i="0">
                <a:solidFill>
                  <a:srgbClr val="FFFFFF"/>
                </a:solidFill>
                <a:latin typeface="Calibri"/>
              </a:rPr>
              <a:t>1</a:t>
            </a:r>
          </a:p>
        </p:txBody>
      </p:sp>
      <p:sp>
        <p:nvSpPr>
          <p:cNvPr id="7" name="TextBox 6"/>
          <p:cNvSpPr txBox="1"/>
          <p:nvPr/>
        </p:nvSpPr>
        <p:spPr>
          <a:xfrm>
            <a:off x="1463040" y="1920240"/>
            <a:ext cx="9784080" cy="36576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Built an end-to-end multi-modal FX forecaster</a:t>
            </a:r>
          </a:p>
        </p:txBody>
      </p:sp>
      <p:sp>
        <p:nvSpPr>
          <p:cNvPr id="8" name="TextBox 7"/>
          <p:cNvSpPr txBox="1"/>
          <p:nvPr/>
        </p:nvSpPr>
        <p:spPr>
          <a:xfrm>
            <a:off x="1463040" y="2276856"/>
            <a:ext cx="9784080" cy="548640"/>
          </a:xfrm>
          <a:prstGeom prst="rect">
            <a:avLst/>
          </a:prstGeom>
          <a:noFill/>
        </p:spPr>
        <p:txBody>
          <a:bodyPr wrap="square" anchor="t" lIns="0" rIns="0" tIns="0" bIns="0">
            <a:spAutoFit/>
          </a:bodyPr>
          <a:lstStyle/>
          <a:p>
            <a:pPr algn="l">
              <a:spcBef>
                <a:spcPts val="0"/>
              </a:spcBef>
              <a:spcAft>
                <a:spcPts val="200"/>
              </a:spcAft>
            </a:pPr>
            <a:r>
              <a:rPr sz="1200" b="0" i="0">
                <a:solidFill>
                  <a:srgbClr val="CBD5E1"/>
                </a:solidFill>
                <a:latin typeface="Calibri"/>
              </a:rPr>
              <a:t>Real price, macro and FinBERT-sentiment streams feed a dual-tower Hybrid CNN-LSTM-Transformer with regime-aware probabilistic outputs.</a:t>
            </a:r>
          </a:p>
        </p:txBody>
      </p:sp>
      <p:sp>
        <p:nvSpPr>
          <p:cNvPr id="9" name="Oval 8"/>
          <p:cNvSpPr/>
          <p:nvPr/>
        </p:nvSpPr>
        <p:spPr>
          <a:xfrm>
            <a:off x="914400" y="2953512"/>
            <a:ext cx="310896" cy="310896"/>
          </a:xfrm>
          <a:prstGeom prst="ellipse">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44368"/>
            <a:ext cx="310896" cy="310896"/>
          </a:xfrm>
          <a:prstGeom prst="rect">
            <a:avLst/>
          </a:prstGeom>
          <a:noFill/>
        </p:spPr>
        <p:txBody>
          <a:bodyPr wrap="square" anchor="ctr" lIns="0" rIns="0" tIns="0" bIns="0">
            <a:spAutoFit/>
          </a:bodyPr>
          <a:lstStyle/>
          <a:p>
            <a:pPr algn="ctr">
              <a:spcBef>
                <a:spcPts val="0"/>
              </a:spcBef>
              <a:spcAft>
                <a:spcPts val="200"/>
              </a:spcAft>
            </a:pPr>
            <a:r>
              <a:rPr sz="1500" b="1" i="0">
                <a:solidFill>
                  <a:srgbClr val="FFFFFF"/>
                </a:solidFill>
                <a:latin typeface="Calibri"/>
              </a:rPr>
              <a:t>2</a:t>
            </a:r>
          </a:p>
        </p:txBody>
      </p:sp>
      <p:sp>
        <p:nvSpPr>
          <p:cNvPr id="11" name="TextBox 10"/>
          <p:cNvSpPr txBox="1"/>
          <p:nvPr/>
        </p:nvSpPr>
        <p:spPr>
          <a:xfrm>
            <a:off x="1463040" y="2880360"/>
            <a:ext cx="9784080" cy="36576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Closed the three literature-survey gaps</a:t>
            </a:r>
          </a:p>
        </p:txBody>
      </p:sp>
      <p:sp>
        <p:nvSpPr>
          <p:cNvPr id="12" name="TextBox 11"/>
          <p:cNvSpPr txBox="1"/>
          <p:nvPr/>
        </p:nvSpPr>
        <p:spPr>
          <a:xfrm>
            <a:off x="1463040" y="3236976"/>
            <a:ext cx="9784080" cy="548640"/>
          </a:xfrm>
          <a:prstGeom prst="rect">
            <a:avLst/>
          </a:prstGeom>
          <a:noFill/>
        </p:spPr>
        <p:txBody>
          <a:bodyPr wrap="square" anchor="t" lIns="0" rIns="0" tIns="0" bIns="0">
            <a:spAutoFit/>
          </a:bodyPr>
          <a:lstStyle/>
          <a:p>
            <a:pPr algn="l">
              <a:spcBef>
                <a:spcPts val="0"/>
              </a:spcBef>
              <a:spcAft>
                <a:spcPts val="200"/>
              </a:spcAft>
            </a:pPr>
            <a:r>
              <a:rPr sz="1200" b="0" i="0">
                <a:solidFill>
                  <a:srgbClr val="CBD5E1"/>
                </a:solidFill>
                <a:latin typeface="Calibri"/>
              </a:rPr>
              <a:t>One unified hybrid (not separate pipelines), explicit multi-step forecasting, and a regime-aware evaluation lens.</a:t>
            </a:r>
          </a:p>
        </p:txBody>
      </p:sp>
      <p:sp>
        <p:nvSpPr>
          <p:cNvPr id="13" name="Oval 12"/>
          <p:cNvSpPr/>
          <p:nvPr/>
        </p:nvSpPr>
        <p:spPr>
          <a:xfrm>
            <a:off x="914400" y="3913632"/>
            <a:ext cx="310896" cy="31089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04487"/>
            <a:ext cx="310896" cy="310896"/>
          </a:xfrm>
          <a:prstGeom prst="rect">
            <a:avLst/>
          </a:prstGeom>
          <a:noFill/>
        </p:spPr>
        <p:txBody>
          <a:bodyPr wrap="square" anchor="ctr" lIns="0" rIns="0" tIns="0" bIns="0">
            <a:spAutoFit/>
          </a:bodyPr>
          <a:lstStyle/>
          <a:p>
            <a:pPr algn="ctr">
              <a:spcBef>
                <a:spcPts val="0"/>
              </a:spcBef>
              <a:spcAft>
                <a:spcPts val="200"/>
              </a:spcAft>
            </a:pPr>
            <a:r>
              <a:rPr sz="1500" b="1" i="0">
                <a:solidFill>
                  <a:srgbClr val="FFFFFF"/>
                </a:solidFill>
                <a:latin typeface="Calibri"/>
              </a:rPr>
              <a:t>3</a:t>
            </a:r>
          </a:p>
        </p:txBody>
      </p:sp>
      <p:sp>
        <p:nvSpPr>
          <p:cNvPr id="15" name="TextBox 14"/>
          <p:cNvSpPr txBox="1"/>
          <p:nvPr/>
        </p:nvSpPr>
        <p:spPr>
          <a:xfrm>
            <a:off x="1463040" y="3840480"/>
            <a:ext cx="9784080" cy="36576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Honest, leakage-free benchmarking</a:t>
            </a:r>
          </a:p>
        </p:txBody>
      </p:sp>
      <p:sp>
        <p:nvSpPr>
          <p:cNvPr id="16" name="TextBox 15"/>
          <p:cNvSpPr txBox="1"/>
          <p:nvPr/>
        </p:nvSpPr>
        <p:spPr>
          <a:xfrm>
            <a:off x="1463040" y="4197096"/>
            <a:ext cx="9784080" cy="548640"/>
          </a:xfrm>
          <a:prstGeom prst="rect">
            <a:avLst/>
          </a:prstGeom>
          <a:noFill/>
        </p:spPr>
        <p:txBody>
          <a:bodyPr wrap="square" anchor="t" lIns="0" rIns="0" tIns="0" bIns="0">
            <a:spAutoFit/>
          </a:bodyPr>
          <a:lstStyle/>
          <a:p>
            <a:pPr algn="l">
              <a:spcBef>
                <a:spcPts val="0"/>
              </a:spcBef>
              <a:spcAft>
                <a:spcPts val="200"/>
              </a:spcAft>
            </a:pPr>
            <a:r>
              <a:rPr sz="1200" b="0" i="0">
                <a:solidFill>
                  <a:srgbClr val="CBD5E1"/>
                </a:solidFill>
                <a:latin typeface="Calibri"/>
              </a:rPr>
              <a:t>GARCH leads raw direction on trending gold; the Hybrid's edge is its conviction machinery and a positive costed backtest.</a:t>
            </a:r>
          </a:p>
        </p:txBody>
      </p:sp>
      <p:sp>
        <p:nvSpPr>
          <p:cNvPr id="17" name="Oval 16"/>
          <p:cNvSpPr/>
          <p:nvPr/>
        </p:nvSpPr>
        <p:spPr>
          <a:xfrm>
            <a:off x="914400" y="4873752"/>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64608"/>
            <a:ext cx="310896" cy="310896"/>
          </a:xfrm>
          <a:prstGeom prst="rect">
            <a:avLst/>
          </a:prstGeom>
          <a:noFill/>
        </p:spPr>
        <p:txBody>
          <a:bodyPr wrap="square" anchor="ctr" lIns="0" rIns="0" tIns="0" bIns="0">
            <a:spAutoFit/>
          </a:bodyPr>
          <a:lstStyle/>
          <a:p>
            <a:pPr algn="ctr">
              <a:spcBef>
                <a:spcPts val="0"/>
              </a:spcBef>
              <a:spcAft>
                <a:spcPts val="200"/>
              </a:spcAft>
            </a:pPr>
            <a:r>
              <a:rPr sz="1500" b="1" i="0">
                <a:solidFill>
                  <a:srgbClr val="FFFFFF"/>
                </a:solidFill>
                <a:latin typeface="Calibri"/>
              </a:rPr>
              <a:t>4</a:t>
            </a:r>
          </a:p>
        </p:txBody>
      </p:sp>
      <p:sp>
        <p:nvSpPr>
          <p:cNvPr id="19" name="TextBox 18"/>
          <p:cNvSpPr txBox="1"/>
          <p:nvPr/>
        </p:nvSpPr>
        <p:spPr>
          <a:xfrm>
            <a:off x="1463040" y="4800600"/>
            <a:ext cx="9784080" cy="365760"/>
          </a:xfrm>
          <a:prstGeom prst="rect">
            <a:avLst/>
          </a:prstGeom>
          <a:noFill/>
        </p:spPr>
        <p:txBody>
          <a:bodyPr wrap="square" anchor="t" lIns="0" rIns="0" tIns="0" bIns="0">
            <a:spAutoFit/>
          </a:bodyPr>
          <a:lstStyle/>
          <a:p>
            <a:pPr algn="l">
              <a:spcBef>
                <a:spcPts val="0"/>
              </a:spcBef>
              <a:spcAft>
                <a:spcPts val="200"/>
              </a:spcAft>
            </a:pPr>
            <a:r>
              <a:rPr sz="1500" b="1" i="0">
                <a:solidFill>
                  <a:srgbClr val="2DD4BF"/>
                </a:solidFill>
                <a:latin typeface="Calibri"/>
              </a:rPr>
              <a:t>Clear path forward</a:t>
            </a:r>
          </a:p>
        </p:txBody>
      </p:sp>
      <p:sp>
        <p:nvSpPr>
          <p:cNvPr id="20" name="TextBox 19"/>
          <p:cNvSpPr txBox="1"/>
          <p:nvPr/>
        </p:nvSpPr>
        <p:spPr>
          <a:xfrm>
            <a:off x="1463040" y="5157216"/>
            <a:ext cx="9784080" cy="548640"/>
          </a:xfrm>
          <a:prstGeom prst="rect">
            <a:avLst/>
          </a:prstGeom>
          <a:noFill/>
        </p:spPr>
        <p:txBody>
          <a:bodyPr wrap="square" anchor="t" lIns="0" rIns="0" tIns="0" bIns="0">
            <a:spAutoFit/>
          </a:bodyPr>
          <a:lstStyle/>
          <a:p>
            <a:pPr algn="l">
              <a:spcBef>
                <a:spcPts val="0"/>
              </a:spcBef>
              <a:spcAft>
                <a:spcPts val="200"/>
              </a:spcAft>
            </a:pPr>
            <a:r>
              <a:rPr sz="1200" b="0" i="0">
                <a:solidFill>
                  <a:srgbClr val="CBD5E1"/>
                </a:solidFill>
                <a:latin typeface="Calibri"/>
              </a:rPr>
              <a:t>XAI, denser sentiment via keyed APIs &amp; LLMs, ablation studies and an RL execution layer toward final submission.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1613</TotalTime>
  <Words>690</Words>
  <Application>Microsoft Macintosh PowerPoint</Application>
  <PresentationFormat>Widescreen</PresentationFormat>
  <Paragraphs>55</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Calibri</vt:lpstr>
      <vt:lpstr>Urbanist</vt:lpstr>
      <vt:lpstr>Inter</vt:lpstr>
      <vt:lpstr>Trebuchet MS</vt:lpstr>
      <vt:lpstr>Apple Symbols</vt:lpstr>
      <vt:lpstr>Arial</vt:lpstr>
      <vt:lpstr>Office Theme</vt:lpstr>
      <vt:lpstr>Decoding Currency Dynamics</vt:lpstr>
      <vt:lpstr>PowerPoint Presentation</vt:lpstr>
      <vt:lpstr>Objectives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Sudhakar Puppala</cp:lastModifiedBy>
  <cp:revision>9</cp:revision>
  <dcterms:modified xsi:type="dcterms:W3CDTF">2026-05-25T13:47:38Z</dcterms:modified>
</cp:coreProperties>
</file>